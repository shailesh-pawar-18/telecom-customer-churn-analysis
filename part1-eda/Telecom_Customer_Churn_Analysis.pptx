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900" r:id="rId5"/>
    <p:sldId id="262" r:id="rId6"/>
    <p:sldId id="261" r:id="rId7"/>
    <p:sldId id="263" r:id="rId8"/>
    <p:sldId id="265" r:id="rId9"/>
    <p:sldId id="267" r:id="rId10"/>
    <p:sldId id="271" r:id="rId11"/>
    <p:sldId id="268" r:id="rId12"/>
    <p:sldId id="269" r:id="rId13"/>
    <p:sldId id="272" r:id="rId14"/>
    <p:sldId id="274" r:id="rId15"/>
    <p:sldId id="90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1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082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haileshpawar-cse" TargetMode="Externa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github.com/Shailesh-Pawar-18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slide" Target="slide13.xml"/><Relationship Id="rId2" Type="http://schemas.openxmlformats.org/officeDocument/2006/relationships/hyperlink" Target="https://www.linkedin.com/in/shaileshpawar-cse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5" Type="http://schemas.openxmlformats.org/officeDocument/2006/relationships/image" Target="../media/image2.png"/><Relationship Id="rId4" Type="http://schemas.openxmlformats.org/officeDocument/2006/relationships/hyperlink" Target="https://github.com/Shailesh-Pawar-1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ecor 1"/>
          <p:cNvSpPr/>
          <p:nvPr/>
        </p:nvSpPr>
        <p:spPr>
          <a:xfrm>
            <a:off x="8900000" y="-1500000"/>
            <a:ext cx="5000000" cy="5000000"/>
          </a:xfrm>
          <a:prstGeom prst="ellipse">
            <a:avLst/>
          </a:prstGeom>
          <a:solidFill>
            <a:srgbClr val="10244A"/>
          </a:solidFill>
          <a:ln>
            <a:noFill/>
          </a:ln>
        </p:spPr>
      </p:sp>
      <p:sp>
        <p:nvSpPr>
          <p:cNvPr id="12" name="Decor 2"/>
          <p:cNvSpPr/>
          <p:nvPr/>
        </p:nvSpPr>
        <p:spPr>
          <a:xfrm>
            <a:off x="-1000000" y="5300000"/>
            <a:ext cx="2600000" cy="2600000"/>
          </a:xfrm>
          <a:prstGeom prst="ellipse">
            <a:avLst/>
          </a:prstGeom>
          <a:solidFill>
            <a:srgbClr val="0A4A5C"/>
          </a:solidFill>
          <a:ln>
            <a:noFill/>
          </a:ln>
        </p:spPr>
      </p:sp>
      <p:sp>
        <p:nvSpPr>
          <p:cNvPr id="13" name="Label"/>
          <p:cNvSpPr txBox="1"/>
          <p:nvPr/>
        </p:nvSpPr>
        <p:spPr>
          <a:xfrm>
            <a:off x="822960" y="800000"/>
            <a:ext cx="6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0" spc="300" dirty="0">
                <a:solidFill>
                  <a:srgbClr val="00909E"/>
                </a:solidFill>
                <a:latin typeface="Calibri"/>
                <a:ea typeface="Calibri"/>
                <a:cs typeface="Calibri"/>
              </a:rPr>
              <a:t>PROJECT ON</a:t>
            </a:r>
          </a:p>
        </p:txBody>
      </p:sp>
      <p:sp>
        <p:nvSpPr>
          <p:cNvPr id="14" name="Title"/>
          <p:cNvSpPr txBox="1"/>
          <p:nvPr/>
        </p:nvSpPr>
        <p:spPr>
          <a:xfrm>
            <a:off x="822960" y="1200000"/>
            <a:ext cx="7400000" cy="1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0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Telecom Customer</a:t>
            </a:r>
          </a:p>
          <a:p>
            <a:pPr marL="0" indent="0" algn="l">
              <a:buNone/>
            </a:pPr>
            <a:r>
              <a:rPr lang="en-US" sz="5000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Churn Analysis</a:t>
            </a:r>
          </a:p>
        </p:txBody>
      </p:sp>
      <p:sp>
        <p:nvSpPr>
          <p:cNvPr id="15" name="Accent"/>
          <p:cNvSpPr/>
          <p:nvPr/>
        </p:nvSpPr>
        <p:spPr>
          <a:xfrm>
            <a:off x="822960" y="3300000"/>
            <a:ext cx="1000000" cy="55000"/>
          </a:xfrm>
          <a:prstGeom prst="rect">
            <a:avLst/>
          </a:prstGeom>
          <a:solidFill>
            <a:srgbClr val="00909E"/>
          </a:solidFill>
          <a:ln>
            <a:noFill/>
          </a:ln>
        </p:spPr>
      </p:sp>
      <p:sp>
        <p:nvSpPr>
          <p:cNvPr id="16" name="Subtitle"/>
          <p:cNvSpPr txBox="1"/>
          <p:nvPr/>
        </p:nvSpPr>
        <p:spPr>
          <a:xfrm>
            <a:off x="822960" y="3480000"/>
            <a:ext cx="72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0" i="1" dirty="0">
                <a:solidFill>
                  <a:srgbClr val="C9D6E8"/>
                </a:solidFill>
                <a:latin typeface="Calibri"/>
                <a:ea typeface="Calibri"/>
                <a:cs typeface="Calibri"/>
              </a:rPr>
              <a:t>From Dirty Data to Business Insight - A Full EDA Journey</a:t>
            </a:r>
          </a:p>
        </p:txBody>
      </p:sp>
      <p:sp>
        <p:nvSpPr>
          <p:cNvPr id="17" name="Presented by"/>
          <p:cNvSpPr txBox="1"/>
          <p:nvPr/>
        </p:nvSpPr>
        <p:spPr>
          <a:xfrm>
            <a:off x="822960" y="4130000"/>
            <a:ext cx="17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0" i="1" dirty="0">
                <a:solidFill>
                  <a:srgbClr val="C9D6E8"/>
                </a:solidFill>
                <a:latin typeface="Calibri"/>
                <a:ea typeface="Calibri"/>
                <a:cs typeface="Calibri"/>
              </a:rPr>
              <a:t>Presented by:</a:t>
            </a:r>
          </a:p>
        </p:txBody>
      </p:sp>
      <p:sp>
        <p:nvSpPr>
          <p:cNvPr id="18" name="Author Pill"/>
          <p:cNvSpPr/>
          <p:nvPr/>
        </p:nvSpPr>
        <p:spPr>
          <a:xfrm>
            <a:off x="2560000" y="4130000"/>
            <a:ext cx="2900000" cy="420000"/>
          </a:xfrm>
          <a:prstGeom prst="roundRect">
            <a:avLst>
              <a:gd name="adj" fmla="val 30000"/>
            </a:avLst>
          </a:prstGeom>
          <a:solidFill>
            <a:srgbClr val="00909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0" spc="1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SHAILESH PAWAR</a:t>
            </a:r>
          </a:p>
        </p:txBody>
      </p:sp>
      <p:sp>
        <p:nvSpPr>
          <p:cNvPr id="19" name="Start Button">
            <a:hlinkClick r:id="rId2" action="ppaction://hlinksldjump" tooltip="Go to next slide"/>
          </p:cNvPr>
          <p:cNvSpPr/>
          <p:nvPr/>
        </p:nvSpPr>
        <p:spPr>
          <a:xfrm>
            <a:off x="822960" y="4800000"/>
            <a:ext cx="2900000" cy="44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909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Start Presentation  →</a:t>
            </a:r>
          </a:p>
        </p:txBody>
      </p:sp>
      <p:pic>
        <p:nvPicPr>
          <p:cNvPr id="20" name="LinkedIn">
            <a:hlinkClick r:id="rId3" tooltip="Open LinkedIn profil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000" y="4800000"/>
            <a:ext cx="440000" cy="440000"/>
          </a:xfrm>
          <a:prstGeom prst="rect">
            <a:avLst/>
          </a:prstGeom>
        </p:spPr>
      </p:pic>
      <p:sp>
        <p:nvSpPr>
          <p:cNvPr id="21" name="LinkedIn Label"/>
          <p:cNvSpPr txBox="1"/>
          <p:nvPr/>
        </p:nvSpPr>
        <p:spPr>
          <a:xfrm>
            <a:off x="4520000" y="4800000"/>
            <a:ext cx="10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ea typeface="Calibri"/>
                <a:cs typeface="Calibri"/>
                <a:hlinkClick r:id="rId3"/>
              </a:rPr>
              <a:t>LinkedIn</a:t>
            </a:r>
          </a:p>
        </p:txBody>
      </p:sp>
      <p:pic>
        <p:nvPicPr>
          <p:cNvPr id="22" name="GitHub">
            <a:hlinkClick r:id="rId5" tooltip="Open GitHub profile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0000" y="4800000"/>
            <a:ext cx="440000" cy="440000"/>
          </a:xfrm>
          <a:prstGeom prst="rect">
            <a:avLst/>
          </a:prstGeom>
        </p:spPr>
      </p:pic>
      <p:sp>
        <p:nvSpPr>
          <p:cNvPr id="23" name="GitHub Label"/>
          <p:cNvSpPr txBox="1"/>
          <p:nvPr/>
        </p:nvSpPr>
        <p:spPr>
          <a:xfrm>
            <a:off x="6120000" y="4800000"/>
            <a:ext cx="9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ea typeface="Calibri"/>
                <a:cs typeface="Calibri"/>
                <a:hlinkClick r:id="rId5"/>
              </a:rPr>
              <a:t>GitHub</a:t>
            </a:r>
          </a:p>
        </p:txBody>
      </p:sp>
      <p:sp>
        <p:nvSpPr>
          <p:cNvPr id="24" name="Ring Base"/>
          <p:cNvSpPr/>
          <p:nvPr/>
        </p:nvSpPr>
        <p:spPr>
          <a:xfrm>
            <a:off x="8250000" y="1500000"/>
            <a:ext cx="3300000" cy="3300000"/>
          </a:xfrm>
          <a:prstGeom prst="donut">
            <a:avLst>
              <a:gd name="adj" fmla="val 12000"/>
            </a:avLst>
          </a:prstGeom>
          <a:solidFill>
            <a:srgbClr val="1C3360"/>
          </a:solidFill>
          <a:ln>
            <a:noFill/>
          </a:ln>
        </p:spPr>
      </p:sp>
      <p:sp>
        <p:nvSpPr>
          <p:cNvPr id="25" name="Ring Churn"/>
          <p:cNvSpPr/>
          <p:nvPr/>
        </p:nvSpPr>
        <p:spPr>
          <a:xfrm>
            <a:off x="8250000" y="1500000"/>
            <a:ext cx="3300000" cy="3300000"/>
          </a:xfrm>
          <a:prstGeom prst="blockArc">
            <a:avLst>
              <a:gd name="adj1" fmla="val 16200000"/>
              <a:gd name="adj2" fmla="val 21081600"/>
              <a:gd name="adj3" fmla="val 12000"/>
            </a:avLst>
          </a:prstGeom>
          <a:solidFill>
            <a:srgbClr val="E84545"/>
          </a:solidFill>
          <a:ln>
            <a:noFill/>
          </a:ln>
        </p:spPr>
      </p:sp>
      <p:sp>
        <p:nvSpPr>
          <p:cNvPr id="26" name="Ring Text"/>
          <p:cNvSpPr txBox="1"/>
          <p:nvPr/>
        </p:nvSpPr>
        <p:spPr>
          <a:xfrm>
            <a:off x="8700000" y="2550000"/>
            <a:ext cx="24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22.6%</a:t>
            </a:r>
          </a:p>
          <a:p>
            <a:pPr marL="0" indent="0" algn="ctr">
              <a:buNone/>
            </a:pPr>
            <a:r>
              <a:rPr lang="en-US" sz="1400" b="0" i="0" dirty="0">
                <a:solidFill>
                  <a:srgbClr val="C9D6E8"/>
                </a:solidFill>
                <a:latin typeface="Calibri"/>
                <a:ea typeface="Calibri"/>
                <a:cs typeface="Calibri"/>
              </a:rPr>
              <a:t>of customers churn</a:t>
            </a:r>
          </a:p>
        </p:txBody>
      </p:sp>
      <p:sp>
        <p:nvSpPr>
          <p:cNvPr id="27" name="Icon T"/>
          <p:cNvSpPr/>
          <p:nvPr/>
        </p:nvSpPr>
        <p:spPr>
          <a:xfrm>
            <a:off x="8000000" y="1250000"/>
            <a:ext cx="480000" cy="480000"/>
          </a:xfrm>
          <a:prstGeom prst="ellipse">
            <a:avLst/>
          </a:prstGeom>
          <a:solidFill>
            <a:srgbClr val="1C336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</a:t>
            </a:r>
          </a:p>
        </p:txBody>
      </p:sp>
      <p:sp>
        <p:nvSpPr>
          <p:cNvPr id="28" name="Icon %"/>
          <p:cNvSpPr/>
          <p:nvPr/>
        </p:nvSpPr>
        <p:spPr>
          <a:xfrm>
            <a:off x="11500000" y="1250000"/>
            <a:ext cx="480000" cy="480000"/>
          </a:xfrm>
          <a:prstGeom prst="ellipse">
            <a:avLst/>
          </a:prstGeom>
          <a:solidFill>
            <a:srgbClr val="00909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%</a:t>
            </a:r>
          </a:p>
        </p:txBody>
      </p:sp>
      <p:sp>
        <p:nvSpPr>
          <p:cNvPr id="29" name="Icon !"/>
          <p:cNvSpPr/>
          <p:nvPr/>
        </p:nvSpPr>
        <p:spPr>
          <a:xfrm>
            <a:off x="11500000" y="4650000"/>
            <a:ext cx="480000" cy="480000"/>
          </a:xfrm>
          <a:prstGeom prst="ellipse">
            <a:avLst/>
          </a:prstGeom>
          <a:solidFill>
            <a:srgbClr val="E8454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!</a:t>
            </a:r>
          </a:p>
        </p:txBody>
      </p:sp>
      <p:sp>
        <p:nvSpPr>
          <p:cNvPr id="30" name="Stat 0"/>
          <p:cNvSpPr/>
          <p:nvPr/>
        </p:nvSpPr>
        <p:spPr>
          <a:xfrm>
            <a:off x="822960" y="5550000"/>
            <a:ext cx="1750000" cy="850000"/>
          </a:xfrm>
          <a:prstGeom prst="roundRect">
            <a:avLst>
              <a:gd name="adj" fmla="val 8000"/>
            </a:avLst>
          </a:prstGeom>
          <a:solidFill>
            <a:srgbClr val="142850"/>
          </a:solidFill>
          <a:ln w="12700">
            <a:solidFill>
              <a:srgbClr val="2A3F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0" dirty="0">
                <a:solidFill>
                  <a:srgbClr val="00909E"/>
                </a:solidFill>
                <a:latin typeface="Cambria"/>
                <a:ea typeface="Cambria"/>
                <a:cs typeface="Cambria"/>
              </a:rPr>
              <a:t>5,500</a:t>
            </a:r>
          </a:p>
          <a:p>
            <a:pPr marL="0" indent="0" algn="ctr">
              <a:buNone/>
            </a:pPr>
            <a:r>
              <a:rPr lang="en-US" sz="1200" b="0" i="0" dirty="0">
                <a:solidFill>
                  <a:srgbClr val="C9D6E8"/>
                </a:solidFill>
                <a:latin typeface="Calibri"/>
                <a:ea typeface="Calibri"/>
                <a:cs typeface="Calibri"/>
              </a:rPr>
              <a:t>Raw Records</a:t>
            </a:r>
          </a:p>
        </p:txBody>
      </p:sp>
      <p:sp>
        <p:nvSpPr>
          <p:cNvPr id="31" name="Stat 1"/>
          <p:cNvSpPr/>
          <p:nvPr/>
        </p:nvSpPr>
        <p:spPr>
          <a:xfrm>
            <a:off x="2722960" y="5550000"/>
            <a:ext cx="1750000" cy="850000"/>
          </a:xfrm>
          <a:prstGeom prst="roundRect">
            <a:avLst>
              <a:gd name="adj" fmla="val 8000"/>
            </a:avLst>
          </a:prstGeom>
          <a:solidFill>
            <a:srgbClr val="142850"/>
          </a:solidFill>
          <a:ln w="12700">
            <a:solidFill>
              <a:srgbClr val="2A3F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0" dirty="0">
                <a:solidFill>
                  <a:srgbClr val="00909E"/>
                </a:solidFill>
                <a:latin typeface="Cambria"/>
                <a:ea typeface="Cambria"/>
                <a:cs typeface="Cambria"/>
              </a:rPr>
              <a:t>12</a:t>
            </a:r>
          </a:p>
          <a:p>
            <a:pPr marL="0" indent="0" algn="ctr">
              <a:buNone/>
            </a:pPr>
            <a:r>
              <a:rPr lang="en-US" sz="1200" b="0" i="0" dirty="0">
                <a:solidFill>
                  <a:srgbClr val="C9D6E8"/>
                </a:solidFill>
                <a:latin typeface="Calibri"/>
                <a:ea typeface="Calibri"/>
                <a:cs typeface="Calibri"/>
              </a:rPr>
              <a:t>Columns</a:t>
            </a:r>
          </a:p>
        </p:txBody>
      </p:sp>
      <p:sp>
        <p:nvSpPr>
          <p:cNvPr id="32" name="Stat 2"/>
          <p:cNvSpPr/>
          <p:nvPr/>
        </p:nvSpPr>
        <p:spPr>
          <a:xfrm>
            <a:off x="4622960" y="5550000"/>
            <a:ext cx="1750000" cy="850000"/>
          </a:xfrm>
          <a:prstGeom prst="roundRect">
            <a:avLst>
              <a:gd name="adj" fmla="val 8000"/>
            </a:avLst>
          </a:prstGeom>
          <a:solidFill>
            <a:srgbClr val="142850"/>
          </a:solidFill>
          <a:ln w="12700">
            <a:solidFill>
              <a:srgbClr val="2A3F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0" dirty="0">
                <a:solidFill>
                  <a:srgbClr val="00909E"/>
                </a:solidFill>
                <a:latin typeface="Cambria"/>
                <a:ea typeface="Cambria"/>
                <a:cs typeface="Cambria"/>
              </a:rPr>
              <a:t>10+</a:t>
            </a:r>
          </a:p>
          <a:p>
            <a:pPr marL="0" indent="0" algn="ctr">
              <a:buNone/>
            </a:pPr>
            <a:r>
              <a:rPr lang="en-US" sz="1200" b="0" i="0" dirty="0">
                <a:solidFill>
                  <a:srgbClr val="C9D6E8"/>
                </a:solidFill>
                <a:latin typeface="Calibri"/>
                <a:ea typeface="Calibri"/>
                <a:cs typeface="Calibri"/>
              </a:rPr>
              <a:t>Issues Cleaned</a:t>
            </a:r>
          </a:p>
        </p:txBody>
      </p:sp>
      <p:sp>
        <p:nvSpPr>
          <p:cNvPr id="33" name="Stat 3"/>
          <p:cNvSpPr/>
          <p:nvPr/>
        </p:nvSpPr>
        <p:spPr>
          <a:xfrm>
            <a:off x="6522960" y="5550000"/>
            <a:ext cx="1750000" cy="850000"/>
          </a:xfrm>
          <a:prstGeom prst="roundRect">
            <a:avLst>
              <a:gd name="adj" fmla="val 8000"/>
            </a:avLst>
          </a:prstGeom>
          <a:solidFill>
            <a:srgbClr val="142850"/>
          </a:solidFill>
          <a:ln w="12700">
            <a:solidFill>
              <a:srgbClr val="2A3F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0" dirty="0">
                <a:solidFill>
                  <a:srgbClr val="00909E"/>
                </a:solidFill>
                <a:latin typeface="Cambria"/>
                <a:ea typeface="Cambria"/>
                <a:cs typeface="Cambria"/>
              </a:rPr>
              <a:t>22.6%</a:t>
            </a:r>
          </a:p>
          <a:p>
            <a:pPr marL="0" indent="0" algn="ctr">
              <a:buNone/>
            </a:pPr>
            <a:r>
              <a:rPr lang="en-US" sz="1200" b="0" i="0" dirty="0">
                <a:solidFill>
                  <a:srgbClr val="C9D6E8"/>
                </a:solidFill>
                <a:latin typeface="Calibri"/>
                <a:ea typeface="Calibri"/>
                <a:cs typeface="Calibri"/>
              </a:rPr>
              <a:t>Churn Rate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37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41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9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02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E84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202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providers lose significant recurring revenue when customers churn - but raw customer data is rarely clean enough to model directly.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Nulls, outliers, inconsistent formatting, and duplicate records obscure the real signals driving customer attrition.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02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00909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9202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60604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 genuinely messy telecom customer dataset end-to-end and perform exploratory analysis to uncover churn drivers.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high-risk customer segments and translate findings into revenue-at-risk figures that support retention decisions.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9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 Customer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Dataset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90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5,500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 collected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90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34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+ 1 target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8920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8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5,463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440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 cleaning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090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Columns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4297680" y="2203704"/>
            <a:ext cx="73152" cy="365760"/>
          </a:xfrm>
          <a:prstGeom prst="rect">
            <a:avLst/>
          </a:prstGeom>
          <a:solidFill>
            <a:srgbClr val="00909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8056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TenureMonths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40487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as an active customer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297680" y="2862072"/>
            <a:ext cx="73152" cy="365760"/>
          </a:xfrm>
          <a:prstGeom prst="rect">
            <a:avLst/>
          </a:prstGeom>
          <a:solidFill>
            <a:srgbClr val="00909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80560" y="2807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06324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monthly billing amount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297680" y="3520440"/>
            <a:ext cx="73152" cy="365760"/>
          </a:xfrm>
          <a:prstGeom prst="rect">
            <a:avLst/>
          </a:prstGeom>
          <a:solidFill>
            <a:srgbClr val="00909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480560" y="34655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372160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amount billed to date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297680" y="4178808"/>
            <a:ext cx="73152" cy="365760"/>
          </a:xfrm>
          <a:prstGeom prst="rect">
            <a:avLst/>
          </a:prstGeom>
          <a:solidFill>
            <a:srgbClr val="00909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480560" y="41239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SeniorCitizen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437997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flag (0/1)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Columns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8138160" y="2203704"/>
            <a:ext cx="73152" cy="365760"/>
          </a:xfrm>
          <a:prstGeom prst="rect">
            <a:avLst/>
          </a:prstGeom>
          <a:solidFill>
            <a:srgbClr val="E8454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2104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ContractType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240487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 &amp; plan type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138160" y="2862072"/>
            <a:ext cx="73152" cy="365760"/>
          </a:xfrm>
          <a:prstGeom prst="rect">
            <a:avLst/>
          </a:prstGeom>
          <a:solidFill>
            <a:srgbClr val="E8454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21040" y="2807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InternetService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306324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DSL / Fiber Optic / No Internet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138160" y="3520440"/>
            <a:ext cx="73152" cy="365760"/>
          </a:xfrm>
          <a:prstGeom prst="rect">
            <a:avLst/>
          </a:prstGeom>
          <a:solidFill>
            <a:srgbClr val="E8454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321040" y="34655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TechSupport, PaperlessBilling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372160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subscription flags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138160" y="4178808"/>
            <a:ext cx="73152" cy="365760"/>
          </a:xfrm>
          <a:prstGeom prst="rect">
            <a:avLst/>
          </a:prstGeom>
          <a:solidFill>
            <a:srgbClr val="E8454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321040" y="41239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PaymentMethod, Churn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321040" y="437997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method &amp; target label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4297680" y="4892040"/>
            <a:ext cx="7223760" cy="1051560"/>
          </a:xfrm>
          <a:prstGeom prst="roundRect">
            <a:avLst>
              <a:gd name="adj" fmla="val 6957"/>
            </a:avLst>
          </a:prstGeom>
          <a:solidFill>
            <a:srgbClr val="FFF0EE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72000" y="501091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Column: Churn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0" y="5285232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label (Yes / No) - indicates whether the customer discontinued service. Used to drive every downstream cleaning, EDA, and modeling decision.</a:t>
            </a:r>
            <a:endParaRPr lang="en-US" sz="145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9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Records Found &amp; Removed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duplicate is an exact copy of another row: same CustomerID and same value in every column. Sample pairs from the raw data: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0" name="Card 0"/>
          <p:cNvSpPr/>
          <p:nvPr/>
        </p:nvSpPr>
        <p:spPr>
          <a:xfrm>
            <a:off x="548640" y="1750000"/>
            <a:ext cx="2600000" cy="850000"/>
          </a:xfrm>
          <a:prstGeom prst="roundRect">
            <a:avLst>
              <a:gd name="adj" fmla="val 8000"/>
            </a:avLst>
          </a:prstGeom>
          <a:solidFill>
            <a:srgbClr val="142850"/>
          </a:solidFill>
          <a:ln w="12700">
            <a:solidFill>
              <a:srgbClr val="2A3F63"/>
            </a:solidFill>
          </a:ln>
        </p:spPr>
      </p:sp>
      <p:sp>
        <p:nvSpPr>
          <p:cNvPr id="220" name="CardText 0"/>
          <p:cNvSpPr txBox="1"/>
          <p:nvPr/>
        </p:nvSpPr>
        <p:spPr>
          <a:xfrm>
            <a:off x="548640" y="1750000"/>
            <a:ext cx="2600000" cy="8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2800" b="1">
                <a:solidFill>
                  <a:srgbClr val="E84545"/>
                </a:solidFill>
                <a:latin typeface="Cambria"/>
              </a:rPr>
              <a:t>37</a:t>
            </a:r>
          </a:p>
          <a:p>
            <a:pPr algn="ctr"/>
            <a:r>
              <a:rPr lang="en-US" sz="1200">
                <a:solidFill>
                  <a:srgbClr val="C9D6E8"/>
                </a:solidFill>
                <a:latin typeface="Calibri"/>
              </a:rPr>
              <a:t>Exact duplicate rows</a:t>
            </a:r>
          </a:p>
        </p:txBody>
      </p:sp>
      <p:sp>
        <p:nvSpPr>
          <p:cNvPr id="201" name="Card 1"/>
          <p:cNvSpPr/>
          <p:nvPr/>
        </p:nvSpPr>
        <p:spPr>
          <a:xfrm>
            <a:off x="3370053" y="1750000"/>
            <a:ext cx="2600000" cy="850000"/>
          </a:xfrm>
          <a:prstGeom prst="roundRect">
            <a:avLst>
              <a:gd name="adj" fmla="val 8000"/>
            </a:avLst>
          </a:prstGeom>
          <a:solidFill>
            <a:srgbClr val="142850"/>
          </a:solidFill>
          <a:ln w="12700">
            <a:solidFill>
              <a:srgbClr val="2A3F63"/>
            </a:solidFill>
          </a:ln>
        </p:spPr>
      </p:sp>
      <p:sp>
        <p:nvSpPr>
          <p:cNvPr id="221" name="CardText 1"/>
          <p:cNvSpPr txBox="1"/>
          <p:nvPr/>
        </p:nvSpPr>
        <p:spPr>
          <a:xfrm>
            <a:off x="3370053" y="1750000"/>
            <a:ext cx="2600000" cy="8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2800" b="1">
                <a:solidFill>
                  <a:srgbClr val="00909E"/>
                </a:solidFill>
                <a:latin typeface="Cambria"/>
              </a:rPr>
              <a:t>74</a:t>
            </a:r>
          </a:p>
          <a:p>
            <a:pPr algn="ctr"/>
            <a:r>
              <a:rPr lang="en-US" sz="1200">
                <a:solidFill>
                  <a:srgbClr val="C9D6E8"/>
                </a:solidFill>
                <a:latin typeface="Calibri"/>
              </a:rPr>
              <a:t>Rows involved (37 pairs)</a:t>
            </a:r>
          </a:p>
        </p:txBody>
      </p:sp>
      <p:sp>
        <p:nvSpPr>
          <p:cNvPr id="202" name="Card 2"/>
          <p:cNvSpPr/>
          <p:nvPr/>
        </p:nvSpPr>
        <p:spPr>
          <a:xfrm>
            <a:off x="6191466" y="1750000"/>
            <a:ext cx="2600000" cy="850000"/>
          </a:xfrm>
          <a:prstGeom prst="roundRect">
            <a:avLst>
              <a:gd name="adj" fmla="val 8000"/>
            </a:avLst>
          </a:prstGeom>
          <a:solidFill>
            <a:srgbClr val="142850"/>
          </a:solidFill>
          <a:ln w="12700">
            <a:solidFill>
              <a:srgbClr val="2A3F63"/>
            </a:solidFill>
          </a:ln>
        </p:spPr>
      </p:sp>
      <p:sp>
        <p:nvSpPr>
          <p:cNvPr id="222" name="CardText 2"/>
          <p:cNvSpPr txBox="1"/>
          <p:nvPr/>
        </p:nvSpPr>
        <p:spPr>
          <a:xfrm>
            <a:off x="6191466" y="1750000"/>
            <a:ext cx="2600000" cy="8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2400" b="1">
                <a:solidFill>
                  <a:srgbClr val="00909E"/>
                </a:solidFill>
                <a:latin typeface="Cambria"/>
              </a:rPr>
              <a:t>5,500 → 5,463</a:t>
            </a:r>
          </a:p>
          <a:p>
            <a:pPr algn="ctr"/>
            <a:r>
              <a:rPr lang="en-US" sz="1200">
                <a:solidFill>
                  <a:srgbClr val="C9D6E8"/>
                </a:solidFill>
                <a:latin typeface="Calibri"/>
              </a:rPr>
              <a:t>Rows before and after</a:t>
            </a:r>
          </a:p>
        </p:txBody>
      </p:sp>
      <p:sp>
        <p:nvSpPr>
          <p:cNvPr id="203" name="Card 3"/>
          <p:cNvSpPr/>
          <p:nvPr/>
        </p:nvSpPr>
        <p:spPr>
          <a:xfrm>
            <a:off x="9012879" y="1750000"/>
            <a:ext cx="2600000" cy="850000"/>
          </a:xfrm>
          <a:prstGeom prst="roundRect">
            <a:avLst>
              <a:gd name="adj" fmla="val 8000"/>
            </a:avLst>
          </a:prstGeom>
          <a:solidFill>
            <a:srgbClr val="142850"/>
          </a:solidFill>
          <a:ln w="12700">
            <a:solidFill>
              <a:srgbClr val="2A3F63"/>
            </a:solidFill>
          </a:ln>
        </p:spPr>
      </p:sp>
      <p:sp>
        <p:nvSpPr>
          <p:cNvPr id="223" name="CardText 3"/>
          <p:cNvSpPr txBox="1"/>
          <p:nvPr/>
        </p:nvSpPr>
        <p:spPr>
          <a:xfrm>
            <a:off x="9012879" y="1750000"/>
            <a:ext cx="2600000" cy="8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2800" b="1">
                <a:solidFill>
                  <a:srgbClr val="00909E"/>
                </a:solidFill>
                <a:latin typeface="Cambria"/>
              </a:rPr>
              <a:t>0</a:t>
            </a:r>
          </a:p>
          <a:p>
            <a:pPr algn="ctr"/>
            <a:r>
              <a:rPr lang="en-US" sz="1200">
                <a:solidFill>
                  <a:srgbClr val="C9D6E8"/>
                </a:solidFill>
                <a:latin typeface="Calibri"/>
              </a:rPr>
              <a:t>Duplicate CustomerIDs after</a:t>
            </a:r>
          </a:p>
        </p:txBody>
      </p:sp>
      <p:graphicFrame>
        <p:nvGraphicFramePr>
          <p:cNvPr id="300" name="Duplicate Table"/>
          <p:cNvGraphicFramePr>
            <a:graphicFrameLocks noGrp="1"/>
          </p:cNvGraphicFramePr>
          <p:nvPr/>
        </p:nvGraphicFramePr>
        <p:xfrm>
          <a:off x="548640" y="2800000"/>
          <a:ext cx="11064240" cy="3100000"/>
        </p:xfrm>
        <a:graphic>
          <a:graphicData uri="http://schemas.openxmlformats.org/drawingml/2006/table">
            <a:tbl>
              <a:tblPr firstRow="1"/>
              <a:tblGrid>
                <a:gridCol w="1250000"/>
                <a:gridCol w="1250000"/>
                <a:gridCol w="750000"/>
                <a:gridCol w="1250000"/>
                <a:gridCol w="1550000"/>
                <a:gridCol w="1350000"/>
                <a:gridCol w="1550000"/>
                <a:gridCol w="1100000"/>
                <a:gridCol w="1014240"/>
              </a:tblGrid>
              <a:tr h="3800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</a:rPr>
                        <a:t>CustomerID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</a:rPr>
                        <a:t>Gender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</a:rPr>
                        <a:t>TenureMonths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</a:rPr>
                        <a:t>ContractType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</a:rPr>
                        <a:t>MonthlyCharges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</a:rPr>
                        <a:t>PaymentMethod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</a:rPr>
                        <a:t>TotalCharges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</a:rPr>
                        <a:t>Churn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0B1B33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0909E"/>
                          </a:solidFill>
                          <a:latin typeface="Calibri"/>
                        </a:rPr>
                        <a:t>307 (kept)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1626-MZEYG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NaN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Month-to-Month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NaN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Electronic Check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707.98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E84545"/>
                          </a:solidFill>
                          <a:latin typeface="Calibri"/>
                        </a:rPr>
                        <a:t>5383 (dropped)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1626-MZEYG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NaN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Month-to-Month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NaN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Electronic Check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707.98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0909E"/>
                          </a:solidFill>
                          <a:latin typeface="Calibri"/>
                        </a:rPr>
                        <a:t>465 (kept)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1638-MXRBY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One Year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45.16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NaN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591.86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E84545"/>
                          </a:solidFill>
                          <a:latin typeface="Calibri"/>
                        </a:rPr>
                        <a:t>1512 (dropped)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1638-MXRBY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One Year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45.16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NaN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591.86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0909E"/>
                          </a:solidFill>
                          <a:latin typeface="Calibri"/>
                        </a:rPr>
                        <a:t>3935 (kept)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9412-BVHGH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One Year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NaN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Electronic Check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1103.8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E84545"/>
                          </a:solidFill>
                          <a:latin typeface="Calibri"/>
                        </a:rPr>
                        <a:t>5053 (dropped)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9412-BVHGH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One Year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NaN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Electronic Check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1103.8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DECEC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0909E"/>
                          </a:solidFill>
                          <a:latin typeface="Calibri"/>
                        </a:rPr>
                        <a:t>3251 (kept)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9903-FZAJV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Month-to-Month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$18.00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Mailed Check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741.05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E84545"/>
                          </a:solidFill>
                          <a:latin typeface="Calibri"/>
                        </a:rPr>
                        <a:t>3497 (dropped)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9903-FZAJV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Month-to-Month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$18.00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Mailed Check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741.05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B1B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59" name="Text 2"/>
          <p:cNvSpPr txBox="1"/>
          <p:nvPr/>
        </p:nvSpPr>
        <p:spPr>
          <a:xfrm>
            <a:off x="548640" y="6000000"/>
            <a:ext cx="1106424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4 of the 37 duplicate pairs and 8 of 12 columns. Each pair keeps the first row and drops the second using drop_duplicates().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9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Column-by-Column Cleaning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384048"/>
          </a:xfrm>
          <a:prstGeom prst="rect">
            <a:avLst/>
          </a:prstGeom>
          <a:solidFill>
            <a:srgbClr val="0B1B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703320" y="14173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Identified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52360" y="141732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11064240" cy="47548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8013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180136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exact duplicate rows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180136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via drop_duplicates()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276856"/>
            <a:ext cx="110642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227685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227685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Casing dupes + 109 nulls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227685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casing, imputed with mode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2752344"/>
            <a:ext cx="11064240" cy="47548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275234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TenureMonths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275234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Outliers: -3, 150, 999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275234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to valid range 0-72 (domain logic)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227832"/>
            <a:ext cx="110642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322783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ContractType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3703320" y="322783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+ null-like strings + 65 nulls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322783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Stripped, converted, imputed with mode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11064240" cy="47548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370332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InternetService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3703320" y="370332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Null-like strings + 66 nulls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37033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 NaN, imputed with mode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4178808"/>
            <a:ext cx="110642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417880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TechSupport / PaperlessBilling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3703320" y="417880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 / 81 nulls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417880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with mode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48640" y="4654296"/>
            <a:ext cx="11064240" cy="47548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5800" y="465429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PaymentMethod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3703320" y="465429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Casing dupes + 228 nulls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7452360" y="465429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casing, imputed with mode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48640" y="5129784"/>
            <a:ext cx="110642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85800" y="512978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3703320" y="512978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text + outliers + 109 nulls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7452360" y="512978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"$", IQR-capped, median imputed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548640" y="5605272"/>
            <a:ext cx="11064240" cy="47548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85800" y="560527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3703320" y="560527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strings for tenure=0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7452360" y="560527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 numeric, structural 0-impute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9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vs. Cleaned Data - Side by Side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 customer records, shown before and after the cleaning pipeline. Highlighted cells mark the exact issues fixed.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84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pic>
        <p:nvPicPr>
          <p:cNvPr id="7" name="Image 0" descr="/home/claude/table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48840"/>
            <a:ext cx="11064240" cy="1828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41605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090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 dirty="0"/>
          </a:p>
        </p:txBody>
      </p:sp>
      <p:pic>
        <p:nvPicPr>
          <p:cNvPr id="10" name="Image 1" descr="/home/claude/table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617720"/>
            <a:ext cx="11064240" cy="18288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9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Analysis: Target &amp; Numeric Distributions</a:t>
            </a:r>
            <a:endParaRPr lang="en-US" sz="3200" dirty="0"/>
          </a:p>
        </p:txBody>
      </p:sp>
      <p:pic>
        <p:nvPicPr>
          <p:cNvPr id="4" name="Image 0" descr="/home/claude/nb_images/cell_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00000"/>
            <a:ext cx="3200000" cy="2560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0" y="1400000"/>
            <a:ext cx="7437120" cy="2560000"/>
          </a:xfrm>
          <a:prstGeom prst="roundRect">
            <a:avLst>
              <a:gd name="adj" fmla="val 1633"/>
            </a:avLst>
          </a:prstGeom>
          <a:solidFill>
            <a:srgbClr val="F5F7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343400" y="1500000"/>
            <a:ext cx="690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tells us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343400" y="1950000"/>
            <a:ext cx="256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90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77.4%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2518484"/>
            <a:ext cx="256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Customers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200000" y="1950000"/>
            <a:ext cx="256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22.6%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200000" y="2550000"/>
            <a:ext cx="256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343400" y="2950000"/>
            <a:ext cx="69000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healthy real-world class imbalance, common in churn problems. It shaped the modeling approach: evaluate with precision-recall rather than accuracy alone.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502" name="Image 0" descr="/home/claude/nb_images/cell_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50000"/>
            <a:ext cx="7600000" cy="1992000"/>
          </a:xfrm>
          <a:prstGeom prst="rect">
            <a:avLst/>
          </a:prstGeom>
        </p:spPr>
      </p:pic>
      <p:sp>
        <p:nvSpPr>
          <p:cNvPr id="503" name="Shape 2"/>
          <p:cNvSpPr/>
          <p:nvPr/>
        </p:nvSpPr>
        <p:spPr>
          <a:xfrm>
            <a:off x="8458200" y="4150000"/>
            <a:ext cx="3093720" cy="199200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/>
        </p:spPr>
      </p:sp>
      <p:sp>
        <p:nvSpPr>
          <p:cNvPr id="504" name="Text 3"/>
          <p:cNvSpPr txBox="1"/>
          <p:nvPr/>
        </p:nvSpPr>
        <p:spPr>
          <a:xfrm>
            <a:off x="8610600" y="4220000"/>
            <a:ext cx="28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</a:t>
            </a:r>
            <a:endParaRPr lang="en-US" sz="1400" dirty="0"/>
          </a:p>
        </p:txBody>
      </p:sp>
      <p:sp>
        <p:nvSpPr>
          <p:cNvPr id="505" name="Text 4"/>
          <p:cNvSpPr txBox="1"/>
          <p:nvPr/>
        </p:nvSpPr>
        <p:spPr>
          <a:xfrm>
            <a:off x="8610600" y="4540000"/>
            <a:ext cx="2800000" cy="1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spans 0-72 months, Monthly Charges center near $45-85, and Total Charges is right-skewed, as expected after capping.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9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Drivers: Contract Type &amp; Internet Service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06" name="Text 2"/>
          <p:cNvSpPr txBox="1"/>
          <p:nvPr/>
        </p:nvSpPr>
        <p:spPr>
          <a:xfrm>
            <a:off x="640080" y="1380000"/>
            <a:ext cx="535000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Rate by Contract Type</a:t>
            </a:r>
            <a:endParaRPr lang="en-US" sz="1650" dirty="0"/>
          </a:p>
        </p:txBody>
      </p:sp>
      <p:pic>
        <p:nvPicPr>
          <p:cNvPr id="507" name="Image 0" descr="/home/claude/nb_images/cell_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50000"/>
            <a:ext cx="2570000" cy="2400000"/>
          </a:xfrm>
          <a:prstGeom prst="rect">
            <a:avLst/>
          </a:prstGeom>
        </p:spPr>
      </p:pic>
      <p:sp>
        <p:nvSpPr>
          <p:cNvPr id="508" name="Shape 3"/>
          <p:cNvSpPr/>
          <p:nvPr/>
        </p:nvSpPr>
        <p:spPr>
          <a:xfrm>
            <a:off x="3340080" y="1800000"/>
            <a:ext cx="2650000" cy="440000"/>
          </a:xfrm>
          <a:prstGeom prst="roundRect">
            <a:avLst>
              <a:gd name="adj" fmla="val 10909"/>
            </a:avLst>
          </a:prstGeom>
          <a:solidFill>
            <a:srgbClr val="FFF0EE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509" name="Text 4"/>
          <p:cNvSpPr txBox="1"/>
          <p:nvPr/>
        </p:nvSpPr>
        <p:spPr>
          <a:xfrm>
            <a:off x="3440080" y="1800000"/>
            <a:ext cx="15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</a:t>
            </a:r>
            <a:endParaRPr lang="en-US" sz="1300" dirty="0"/>
          </a:p>
        </p:txBody>
      </p:sp>
      <p:sp>
        <p:nvSpPr>
          <p:cNvPr id="510" name="Text 5"/>
          <p:cNvSpPr txBox="1"/>
          <p:nvPr/>
        </p:nvSpPr>
        <p:spPr>
          <a:xfrm>
            <a:off x="4940080" y="1800000"/>
            <a:ext cx="10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~27%</a:t>
            </a:r>
            <a:endParaRPr lang="en-US" sz="1300" dirty="0"/>
          </a:p>
        </p:txBody>
      </p:sp>
      <p:sp>
        <p:nvSpPr>
          <p:cNvPr id="511" name="Shape 6"/>
          <p:cNvSpPr/>
          <p:nvPr/>
        </p:nvSpPr>
        <p:spPr>
          <a:xfrm>
            <a:off x="3340080" y="2300000"/>
            <a:ext cx="2650000" cy="44000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/>
        </p:spPr>
      </p:sp>
      <p:sp>
        <p:nvSpPr>
          <p:cNvPr id="512" name="Text 7"/>
          <p:cNvSpPr txBox="1"/>
          <p:nvPr/>
        </p:nvSpPr>
        <p:spPr>
          <a:xfrm>
            <a:off x="3440080" y="2300000"/>
            <a:ext cx="15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Year</a:t>
            </a:r>
            <a:endParaRPr lang="en-US" sz="1300" dirty="0"/>
          </a:p>
        </p:txBody>
      </p:sp>
      <p:sp>
        <p:nvSpPr>
          <p:cNvPr id="513" name="Text 8"/>
          <p:cNvSpPr txBox="1"/>
          <p:nvPr/>
        </p:nvSpPr>
        <p:spPr>
          <a:xfrm>
            <a:off x="4940080" y="2300000"/>
            <a:ext cx="10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90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~18%</a:t>
            </a:r>
            <a:endParaRPr lang="en-US" sz="1300" dirty="0"/>
          </a:p>
        </p:txBody>
      </p:sp>
      <p:sp>
        <p:nvSpPr>
          <p:cNvPr id="514" name="Shape 9"/>
          <p:cNvSpPr/>
          <p:nvPr/>
        </p:nvSpPr>
        <p:spPr>
          <a:xfrm>
            <a:off x="3340080" y="2800000"/>
            <a:ext cx="2650000" cy="44000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/>
        </p:spPr>
      </p:sp>
      <p:sp>
        <p:nvSpPr>
          <p:cNvPr id="515" name="Text 10"/>
          <p:cNvSpPr txBox="1"/>
          <p:nvPr/>
        </p:nvSpPr>
        <p:spPr>
          <a:xfrm>
            <a:off x="3440080" y="2800000"/>
            <a:ext cx="15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Year</a:t>
            </a:r>
            <a:endParaRPr lang="en-US" sz="1300" dirty="0"/>
          </a:p>
        </p:txBody>
      </p:sp>
      <p:sp>
        <p:nvSpPr>
          <p:cNvPr id="516" name="Text 11"/>
          <p:cNvSpPr txBox="1"/>
          <p:nvPr/>
        </p:nvSpPr>
        <p:spPr>
          <a:xfrm>
            <a:off x="4940080" y="2800000"/>
            <a:ext cx="10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90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~15%</a:t>
            </a:r>
            <a:endParaRPr lang="en-US" sz="1300" dirty="0"/>
          </a:p>
        </p:txBody>
      </p:sp>
      <p:sp>
        <p:nvSpPr>
          <p:cNvPr id="517" name="Shape 12"/>
          <p:cNvSpPr/>
          <p:nvPr/>
        </p:nvSpPr>
        <p:spPr>
          <a:xfrm>
            <a:off x="640080" y="4350000"/>
            <a:ext cx="5350000" cy="1900000"/>
          </a:xfrm>
          <a:prstGeom prst="roundRect">
            <a:avLst>
              <a:gd name="adj" fmla="val 4324"/>
            </a:avLst>
          </a:prstGeom>
          <a:solidFill>
            <a:srgbClr val="0B1B33"/>
          </a:solidFill>
          <a:ln/>
        </p:spPr>
      </p:sp>
      <p:sp>
        <p:nvSpPr>
          <p:cNvPr id="518" name="Text 13"/>
          <p:cNvSpPr txBox="1"/>
          <p:nvPr/>
        </p:nvSpPr>
        <p:spPr>
          <a:xfrm>
            <a:off x="790080" y="4420000"/>
            <a:ext cx="50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09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dirty="0"/>
          </a:p>
        </p:txBody>
      </p:sp>
      <p:sp>
        <p:nvSpPr>
          <p:cNvPr id="519" name="Text 14"/>
          <p:cNvSpPr txBox="1"/>
          <p:nvPr/>
        </p:nvSpPr>
        <p:spPr>
          <a:xfrm>
            <a:off x="790080" y="4750000"/>
            <a:ext cx="5050000" cy="14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at nearly double the rate of Two Year customers, the strongest single churn driver. Short commitments mean low-friction exits.</a:t>
            </a:r>
            <a:endParaRPr lang="en-US" sz="1600" dirty="0"/>
          </a:p>
        </p:txBody>
      </p:sp>
      <p:sp>
        <p:nvSpPr>
          <p:cNvPr id="520" name="Text 2"/>
          <p:cNvSpPr txBox="1"/>
          <p:nvPr/>
        </p:nvSpPr>
        <p:spPr>
          <a:xfrm>
            <a:off x="6200000" y="1380000"/>
            <a:ext cx="535000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Rate by Internet Service</a:t>
            </a:r>
            <a:endParaRPr lang="en-US" sz="1650" dirty="0"/>
          </a:p>
        </p:txBody>
      </p:sp>
      <p:pic>
        <p:nvPicPr>
          <p:cNvPr id="521" name="Image 0" descr="/home/claude/nb_images/cell_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000" y="1750000"/>
            <a:ext cx="2700000" cy="2400000"/>
          </a:xfrm>
          <a:prstGeom prst="rect">
            <a:avLst/>
          </a:prstGeom>
        </p:spPr>
      </p:pic>
      <p:sp>
        <p:nvSpPr>
          <p:cNvPr id="522" name="Shape 3"/>
          <p:cNvSpPr/>
          <p:nvPr/>
        </p:nvSpPr>
        <p:spPr>
          <a:xfrm>
            <a:off x="8900000" y="1800000"/>
            <a:ext cx="2650000" cy="440000"/>
          </a:xfrm>
          <a:prstGeom prst="roundRect">
            <a:avLst>
              <a:gd name="adj" fmla="val 10909"/>
            </a:avLst>
          </a:prstGeom>
          <a:solidFill>
            <a:srgbClr val="FFF0EE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523" name="Text 4"/>
          <p:cNvSpPr txBox="1"/>
          <p:nvPr/>
        </p:nvSpPr>
        <p:spPr>
          <a:xfrm>
            <a:off x="9000000" y="1800000"/>
            <a:ext cx="15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</a:t>
            </a:r>
            <a:endParaRPr lang="en-US" sz="1300" dirty="0"/>
          </a:p>
        </p:txBody>
      </p:sp>
      <p:sp>
        <p:nvSpPr>
          <p:cNvPr id="524" name="Text 5"/>
          <p:cNvSpPr txBox="1"/>
          <p:nvPr/>
        </p:nvSpPr>
        <p:spPr>
          <a:xfrm>
            <a:off x="10500000" y="1800000"/>
            <a:ext cx="10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~29%</a:t>
            </a:r>
            <a:endParaRPr lang="en-US" sz="1300" dirty="0"/>
          </a:p>
        </p:txBody>
      </p:sp>
      <p:sp>
        <p:nvSpPr>
          <p:cNvPr id="525" name="Shape 6"/>
          <p:cNvSpPr/>
          <p:nvPr/>
        </p:nvSpPr>
        <p:spPr>
          <a:xfrm>
            <a:off x="8900000" y="2300000"/>
            <a:ext cx="2650000" cy="44000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/>
        </p:spPr>
      </p:sp>
      <p:sp>
        <p:nvSpPr>
          <p:cNvPr id="526" name="Text 7"/>
          <p:cNvSpPr txBox="1"/>
          <p:nvPr/>
        </p:nvSpPr>
        <p:spPr>
          <a:xfrm>
            <a:off x="9000000" y="2300000"/>
            <a:ext cx="15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DSL</a:t>
            </a:r>
            <a:endParaRPr lang="en-US" sz="1300" dirty="0"/>
          </a:p>
        </p:txBody>
      </p:sp>
      <p:sp>
        <p:nvSpPr>
          <p:cNvPr id="527" name="Text 8"/>
          <p:cNvSpPr txBox="1"/>
          <p:nvPr/>
        </p:nvSpPr>
        <p:spPr>
          <a:xfrm>
            <a:off x="10500000" y="2300000"/>
            <a:ext cx="10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90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~18%</a:t>
            </a:r>
            <a:endParaRPr lang="en-US" sz="1300" dirty="0"/>
          </a:p>
        </p:txBody>
      </p:sp>
      <p:sp>
        <p:nvSpPr>
          <p:cNvPr id="528" name="Shape 9"/>
          <p:cNvSpPr/>
          <p:nvPr/>
        </p:nvSpPr>
        <p:spPr>
          <a:xfrm>
            <a:off x="8900000" y="2800000"/>
            <a:ext cx="2650000" cy="44000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/>
        </p:spPr>
      </p:sp>
      <p:sp>
        <p:nvSpPr>
          <p:cNvPr id="529" name="Text 10"/>
          <p:cNvSpPr txBox="1"/>
          <p:nvPr/>
        </p:nvSpPr>
        <p:spPr>
          <a:xfrm>
            <a:off x="9000000" y="2800000"/>
            <a:ext cx="15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</a:t>
            </a:r>
            <a:endParaRPr lang="en-US" sz="1300" dirty="0"/>
          </a:p>
        </p:txBody>
      </p:sp>
      <p:sp>
        <p:nvSpPr>
          <p:cNvPr id="530" name="Text 11"/>
          <p:cNvSpPr txBox="1"/>
          <p:nvPr/>
        </p:nvSpPr>
        <p:spPr>
          <a:xfrm>
            <a:off x="10500000" y="2800000"/>
            <a:ext cx="10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90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~15%</a:t>
            </a:r>
            <a:endParaRPr lang="en-US" sz="1300" dirty="0"/>
          </a:p>
        </p:txBody>
      </p:sp>
      <p:sp>
        <p:nvSpPr>
          <p:cNvPr id="531" name="Shape 12"/>
          <p:cNvSpPr/>
          <p:nvPr/>
        </p:nvSpPr>
        <p:spPr>
          <a:xfrm>
            <a:off x="6200000" y="4350000"/>
            <a:ext cx="5350000" cy="1900000"/>
          </a:xfrm>
          <a:prstGeom prst="roundRect">
            <a:avLst>
              <a:gd name="adj" fmla="val 4324"/>
            </a:avLst>
          </a:prstGeom>
          <a:solidFill>
            <a:srgbClr val="0B1B33"/>
          </a:solidFill>
          <a:ln/>
        </p:spPr>
      </p:sp>
      <p:sp>
        <p:nvSpPr>
          <p:cNvPr id="532" name="Text 13"/>
          <p:cNvSpPr txBox="1"/>
          <p:nvPr/>
        </p:nvSpPr>
        <p:spPr>
          <a:xfrm>
            <a:off x="6350000" y="4420000"/>
            <a:ext cx="50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09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dirty="0"/>
          </a:p>
        </p:txBody>
      </p:sp>
      <p:sp>
        <p:nvSpPr>
          <p:cNvPr id="533" name="Text 14"/>
          <p:cNvSpPr txBox="1"/>
          <p:nvPr/>
        </p:nvSpPr>
        <p:spPr>
          <a:xfrm>
            <a:off x="6350000" y="4750000"/>
            <a:ext cx="5050000" cy="14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customers churn far more than DSL or No Internet, likely from price sensitivity on the costliest tier. A priority segment for retention review.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9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Drivers: Payment Method &amp; Numeric Features</a:t>
            </a:r>
            <a:endParaRPr lang="en-US" sz="32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34" name="Text 2"/>
          <p:cNvSpPr txBox="1"/>
          <p:nvPr/>
        </p:nvSpPr>
        <p:spPr>
          <a:xfrm>
            <a:off x="640080" y="1380000"/>
            <a:ext cx="535000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Rate by Payment Method</a:t>
            </a:r>
            <a:endParaRPr lang="en-US" sz="1650" dirty="0"/>
          </a:p>
        </p:txBody>
      </p:sp>
      <p:pic>
        <p:nvPicPr>
          <p:cNvPr id="535" name="Image 0" descr="/home/claude/nb_images/cell_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50000"/>
            <a:ext cx="2570000" cy="2400000"/>
          </a:xfrm>
          <a:prstGeom prst="rect">
            <a:avLst/>
          </a:prstGeom>
        </p:spPr>
      </p:pic>
      <p:sp>
        <p:nvSpPr>
          <p:cNvPr id="536" name="Shape 3"/>
          <p:cNvSpPr/>
          <p:nvPr/>
        </p:nvSpPr>
        <p:spPr>
          <a:xfrm>
            <a:off x="3340080" y="1750000"/>
            <a:ext cx="2650000" cy="520000"/>
          </a:xfrm>
          <a:prstGeom prst="roundRect">
            <a:avLst>
              <a:gd name="adj" fmla="val 10909"/>
            </a:avLst>
          </a:prstGeom>
          <a:solidFill>
            <a:srgbClr val="FFF0EE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537" name="Text 4"/>
          <p:cNvSpPr txBox="1"/>
          <p:nvPr/>
        </p:nvSpPr>
        <p:spPr>
          <a:xfrm>
            <a:off x="3440080" y="1750000"/>
            <a:ext cx="15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</a:t>
            </a:r>
            <a:endParaRPr lang="en-US" sz="1300" dirty="0"/>
          </a:p>
        </p:txBody>
      </p:sp>
      <p:sp>
        <p:nvSpPr>
          <p:cNvPr id="538" name="Text 5"/>
          <p:cNvSpPr txBox="1"/>
          <p:nvPr/>
        </p:nvSpPr>
        <p:spPr>
          <a:xfrm>
            <a:off x="4940080" y="1750000"/>
            <a:ext cx="10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~26%</a:t>
            </a:r>
            <a:endParaRPr lang="en-US" sz="1300" dirty="0"/>
          </a:p>
        </p:txBody>
      </p:sp>
      <p:sp>
        <p:nvSpPr>
          <p:cNvPr id="539" name="Shape 6"/>
          <p:cNvSpPr/>
          <p:nvPr/>
        </p:nvSpPr>
        <p:spPr>
          <a:xfrm>
            <a:off x="3340080" y="2350000"/>
            <a:ext cx="2650000" cy="52000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/>
        </p:spPr>
      </p:sp>
      <p:sp>
        <p:nvSpPr>
          <p:cNvPr id="540" name="Text 7"/>
          <p:cNvSpPr txBox="1"/>
          <p:nvPr/>
        </p:nvSpPr>
        <p:spPr>
          <a:xfrm>
            <a:off x="3440080" y="2350000"/>
            <a:ext cx="15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Transfer</a:t>
            </a:r>
            <a:endParaRPr lang="en-US" sz="1300" dirty="0"/>
          </a:p>
        </p:txBody>
      </p:sp>
      <p:sp>
        <p:nvSpPr>
          <p:cNvPr id="541" name="Text 8"/>
          <p:cNvSpPr txBox="1"/>
          <p:nvPr/>
        </p:nvSpPr>
        <p:spPr>
          <a:xfrm>
            <a:off x="4940080" y="2350000"/>
            <a:ext cx="10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90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~22%</a:t>
            </a:r>
            <a:endParaRPr lang="en-US" sz="1300" dirty="0"/>
          </a:p>
        </p:txBody>
      </p:sp>
      <p:sp>
        <p:nvSpPr>
          <p:cNvPr id="542" name="Shape 9"/>
          <p:cNvSpPr/>
          <p:nvPr/>
        </p:nvSpPr>
        <p:spPr>
          <a:xfrm>
            <a:off x="3340080" y="2950000"/>
            <a:ext cx="2650000" cy="52000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/>
        </p:spPr>
      </p:sp>
      <p:sp>
        <p:nvSpPr>
          <p:cNvPr id="543" name="Text 10"/>
          <p:cNvSpPr txBox="1"/>
          <p:nvPr/>
        </p:nvSpPr>
        <p:spPr>
          <a:xfrm>
            <a:off x="3440080" y="2950000"/>
            <a:ext cx="15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1300" dirty="0"/>
          </a:p>
        </p:txBody>
      </p:sp>
      <p:sp>
        <p:nvSpPr>
          <p:cNvPr id="544" name="Text 11"/>
          <p:cNvSpPr txBox="1"/>
          <p:nvPr/>
        </p:nvSpPr>
        <p:spPr>
          <a:xfrm>
            <a:off x="4940080" y="2950000"/>
            <a:ext cx="10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90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~21.5%</a:t>
            </a:r>
            <a:endParaRPr lang="en-US" sz="1300" dirty="0"/>
          </a:p>
        </p:txBody>
      </p:sp>
      <p:sp>
        <p:nvSpPr>
          <p:cNvPr id="545" name="Shape 12"/>
          <p:cNvSpPr/>
          <p:nvPr/>
        </p:nvSpPr>
        <p:spPr>
          <a:xfrm>
            <a:off x="3340080" y="3550000"/>
            <a:ext cx="2650000" cy="52000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/>
        </p:spPr>
      </p:sp>
      <p:sp>
        <p:nvSpPr>
          <p:cNvPr id="546" name="Text 13"/>
          <p:cNvSpPr txBox="1"/>
          <p:nvPr/>
        </p:nvSpPr>
        <p:spPr>
          <a:xfrm>
            <a:off x="3440080" y="3550000"/>
            <a:ext cx="15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Mailed Check</a:t>
            </a:r>
            <a:endParaRPr lang="en-US" sz="1300" dirty="0"/>
          </a:p>
        </p:txBody>
      </p:sp>
      <p:sp>
        <p:nvSpPr>
          <p:cNvPr id="547" name="Text 14"/>
          <p:cNvSpPr txBox="1"/>
          <p:nvPr/>
        </p:nvSpPr>
        <p:spPr>
          <a:xfrm>
            <a:off x="4940080" y="3550000"/>
            <a:ext cx="10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90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~21%</a:t>
            </a:r>
            <a:endParaRPr lang="en-US" sz="1300" dirty="0"/>
          </a:p>
        </p:txBody>
      </p:sp>
      <p:sp>
        <p:nvSpPr>
          <p:cNvPr id="548" name="Shape 15"/>
          <p:cNvSpPr/>
          <p:nvPr/>
        </p:nvSpPr>
        <p:spPr>
          <a:xfrm>
            <a:off x="640080" y="4350000"/>
            <a:ext cx="5350000" cy="1900000"/>
          </a:xfrm>
          <a:prstGeom prst="roundRect">
            <a:avLst>
              <a:gd name="adj" fmla="val 4324"/>
            </a:avLst>
          </a:prstGeom>
          <a:solidFill>
            <a:srgbClr val="0B1B33"/>
          </a:solidFill>
          <a:ln/>
        </p:spPr>
      </p:sp>
      <p:sp>
        <p:nvSpPr>
          <p:cNvPr id="549" name="Text 16"/>
          <p:cNvSpPr txBox="1"/>
          <p:nvPr/>
        </p:nvSpPr>
        <p:spPr>
          <a:xfrm>
            <a:off x="790080" y="4420000"/>
            <a:ext cx="50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09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dirty="0"/>
          </a:p>
        </p:txBody>
      </p:sp>
      <p:sp>
        <p:nvSpPr>
          <p:cNvPr id="550" name="Text 17"/>
          <p:cNvSpPr txBox="1"/>
          <p:nvPr/>
        </p:nvSpPr>
        <p:spPr>
          <a:xfrm>
            <a:off x="790080" y="4750000"/>
            <a:ext cx="5050000" cy="14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users churn more than automatic payment methods. Manual payers are less locked in, a well-known telecom churn pattern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551" name="Text 2"/>
          <p:cNvSpPr txBox="1"/>
          <p:nvPr/>
        </p:nvSpPr>
        <p:spPr>
          <a:xfrm>
            <a:off x="6200000" y="1380000"/>
            <a:ext cx="535000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Features vs. Churn</a:t>
            </a:r>
            <a:endParaRPr lang="en-US" sz="1650" dirty="0"/>
          </a:p>
        </p:txBody>
      </p:sp>
      <p:pic>
        <p:nvPicPr>
          <p:cNvPr id="552" name="Image 0" descr="/home/claude/nb_images/cell_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000" y="1800000"/>
            <a:ext cx="2600000" cy="1990000"/>
          </a:xfrm>
          <a:prstGeom prst="rect">
            <a:avLst/>
          </a:prstGeom>
        </p:spPr>
      </p:pic>
      <p:pic>
        <p:nvPicPr>
          <p:cNvPr id="553" name="Image 1" descr="/home/claude/nb_images/cell_9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0000" y="1800000"/>
            <a:ext cx="2600000" cy="1960000"/>
          </a:xfrm>
          <a:prstGeom prst="rect">
            <a:avLst/>
          </a:prstGeom>
        </p:spPr>
      </p:pic>
      <p:sp>
        <p:nvSpPr>
          <p:cNvPr id="554" name="Text 2"/>
          <p:cNvSpPr txBox="1"/>
          <p:nvPr/>
        </p:nvSpPr>
        <p:spPr>
          <a:xfrm>
            <a:off x="6200000" y="3830000"/>
            <a:ext cx="26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vs. Churn</a:t>
            </a:r>
            <a:endParaRPr lang="en-US" sz="1200" dirty="0"/>
          </a:p>
        </p:txBody>
      </p:sp>
      <p:sp>
        <p:nvSpPr>
          <p:cNvPr id="555" name="Text 3"/>
          <p:cNvSpPr txBox="1"/>
          <p:nvPr/>
        </p:nvSpPr>
        <p:spPr>
          <a:xfrm>
            <a:off x="8950000" y="3830000"/>
            <a:ext cx="26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 vs. Churn</a:t>
            </a:r>
            <a:endParaRPr lang="en-US" sz="1200" dirty="0"/>
          </a:p>
        </p:txBody>
      </p:sp>
      <p:sp>
        <p:nvSpPr>
          <p:cNvPr id="556" name="Shape 15"/>
          <p:cNvSpPr/>
          <p:nvPr/>
        </p:nvSpPr>
        <p:spPr>
          <a:xfrm>
            <a:off x="6200000" y="4350000"/>
            <a:ext cx="5350000" cy="1900000"/>
          </a:xfrm>
          <a:prstGeom prst="roundRect">
            <a:avLst>
              <a:gd name="adj" fmla="val 4324"/>
            </a:avLst>
          </a:prstGeom>
          <a:solidFill>
            <a:srgbClr val="0B1B33"/>
          </a:solidFill>
          <a:ln/>
        </p:spPr>
      </p:sp>
      <p:sp>
        <p:nvSpPr>
          <p:cNvPr id="557" name="Text 16"/>
          <p:cNvSpPr txBox="1"/>
          <p:nvPr/>
        </p:nvSpPr>
        <p:spPr>
          <a:xfrm>
            <a:off x="6350000" y="4420000"/>
            <a:ext cx="50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09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dirty="0"/>
          </a:p>
        </p:txBody>
      </p:sp>
      <p:sp>
        <p:nvSpPr>
          <p:cNvPr id="558" name="Text 17"/>
          <p:cNvSpPr txBox="1"/>
          <p:nvPr/>
        </p:nvSpPr>
        <p:spPr>
          <a:xfrm>
            <a:off x="6350000" y="4750000"/>
            <a:ext cx="5050000" cy="14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Tenure: churned customers skew to shorter tenure, so risk peaks early. Monthly Charges: churners carry slightly higher median charges, hinting at price sensitivity.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9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Heatmap - Numeric Features</a:t>
            </a:r>
            <a:endParaRPr lang="en-US" sz="3200" dirty="0"/>
          </a:p>
        </p:txBody>
      </p:sp>
      <p:pic>
        <p:nvPicPr>
          <p:cNvPr id="4" name="Image 0" descr="/home/claude/nb_images/cell_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45920"/>
            <a:ext cx="4818888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0" y="164592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5F7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0" y="1676697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Heatmap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2389928"/>
            <a:ext cx="4754880" cy="3553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TenureMonths and TotalCharges: strong positive correlation - expected, since longer-tenured customers naturally accumulate higher total billing.</a:t>
            </a:r>
            <a:endParaRPr lang="en-US" dirty="0"/>
          </a:p>
          <a:p>
            <a:pPr marL="0" indent="0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 and TotalCharges: moderate positive correlation, driven by the same underlying billing relationship.</a:t>
            </a:r>
            <a:endParaRPr lang="en-US" dirty="0"/>
          </a:p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SeniorCitizen: shows weak correlation with the other numeric features - behaves largely independently.</a:t>
            </a: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114800" cy="4114800"/>
          </a:xfrm>
          <a:prstGeom prst="ellipse">
            <a:avLst/>
          </a:prstGeom>
          <a:solidFill>
            <a:srgbClr val="E84545">
              <a:alpha val="1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9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High-Risk Customer Segment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0700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the three strongest churn drivers combine?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142850"/>
          </a:solidFill>
          <a:ln w="12700">
            <a:solidFill>
              <a:srgbClr val="2A3F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96596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196596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090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3520440" y="19659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142850"/>
          </a:solidFill>
          <a:ln w="12700">
            <a:solidFill>
              <a:srgbClr val="2A3F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196596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96596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090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142850"/>
          </a:solidFill>
          <a:ln w="12700">
            <a:solidFill>
              <a:srgbClr val="2A3F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96596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549640" y="196596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8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822960" y="3383280"/>
            <a:ext cx="5120640" cy="2788920"/>
          </a:xfrm>
          <a:prstGeom prst="roundRect">
            <a:avLst>
              <a:gd name="adj" fmla="val 3279"/>
            </a:avLst>
          </a:prstGeom>
          <a:solidFill>
            <a:srgbClr val="2A1520"/>
          </a:solidFill>
          <a:ln w="19050">
            <a:solidFill>
              <a:srgbClr val="E845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5204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E8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39.1%</a:t>
            </a:r>
            <a:endParaRPr lang="en-US" sz="6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663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in the high-risk segment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21.6% for everyone else - nearly 2x baseline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63640" y="3383280"/>
            <a:ext cx="5349240" cy="2788920"/>
          </a:xfrm>
          <a:prstGeom prst="roundRect">
            <a:avLst>
              <a:gd name="adj" fmla="val 3279"/>
            </a:avLst>
          </a:prstGeom>
          <a:solidFill>
            <a:srgbClr val="14285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37960" y="3566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090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97764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~6% of customers (335 of 5,463) fall into this segment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they account for a disproportionate share of total churn risk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precise, actionable target for retention campaigns - not a guess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9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at Risk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churn probability into a dollar figure a business stakeholder can act 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E84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$86,284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already lost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churned customers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520440"/>
            <a:ext cx="310896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$1.04M annualized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60520" y="173736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1428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43400" y="1920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$27,974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2651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exposure from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high-risk segment alone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43400" y="3520440"/>
            <a:ext cx="310896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4340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$335,692 annualized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0" y="173736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00909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955280" y="1920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$10,836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2651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realized monthly loss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high-risk segment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955280" y="3520440"/>
            <a:ext cx="310896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 of segment revenue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4988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Portfolio vs. High-Risk Exposure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Monthly Revenue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22960" y="5166360"/>
            <a:ext cx="7863840" cy="365760"/>
          </a:xfrm>
          <a:prstGeom prst="rect">
            <a:avLst/>
          </a:prstGeom>
          <a:solidFill>
            <a:srgbClr val="D6DEE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98080" y="5166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$344,300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623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Segment Exposure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22960" y="5897880"/>
            <a:ext cx="7863840" cy="365760"/>
          </a:xfrm>
          <a:prstGeom prst="rect">
            <a:avLst/>
          </a:prstGeom>
          <a:solidFill>
            <a:srgbClr val="D6DEE8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" y="5897880"/>
            <a:ext cx="638936" cy="365760"/>
          </a:xfrm>
          <a:prstGeom prst="rect">
            <a:avLst/>
          </a:prstGeom>
          <a:solidFill>
            <a:srgbClr val="E8454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553336" y="5897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$27,974 (8.1%)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961120" y="4846320"/>
            <a:ext cx="2651760" cy="1234440"/>
          </a:xfrm>
          <a:prstGeom prst="roundRect">
            <a:avLst>
              <a:gd name="adj" fmla="val 4444"/>
            </a:avLst>
          </a:prstGeom>
          <a:solidFill>
            <a:srgbClr val="0B1B3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44000" y="498348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 of total revenue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 a segment that's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6% of customers</a:t>
            </a:r>
            <a:endParaRPr lang="en-US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9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from EDA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42850"/>
          </a:solidFill>
          <a:ln w="12700">
            <a:solidFill>
              <a:srgbClr val="2A3F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365760" cy="365760"/>
          </a:xfrm>
          <a:prstGeom prst="ellipse">
            <a:avLst/>
          </a:prstGeom>
          <a:solidFill>
            <a:srgbClr val="00909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933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 stands at 22.6%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54203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healthy, realistic imbalance for classification modeling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42850"/>
          </a:solidFill>
          <a:ln w="12700">
            <a:solidFill>
              <a:srgbClr val="2A3F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057400"/>
            <a:ext cx="365760" cy="365760"/>
          </a:xfrm>
          <a:prstGeom prst="ellipse">
            <a:avLst/>
          </a:prstGeom>
          <a:solidFill>
            <a:srgbClr val="00909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9933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contracts churn ~2x more than Two Year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54203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length is the single strongest churn predictor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42850"/>
          </a:solidFill>
          <a:ln w="12700">
            <a:solidFill>
              <a:srgbClr val="2A3F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611880"/>
            <a:ext cx="365760" cy="365760"/>
          </a:xfrm>
          <a:prstGeom prst="ellipse">
            <a:avLst/>
          </a:prstGeom>
          <a:solidFill>
            <a:srgbClr val="00909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5478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customers show the highest churn among internet types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09651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price-sensitivity driven - a retention priority segment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33832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42850"/>
          </a:solidFill>
          <a:ln w="12700">
            <a:solidFill>
              <a:srgbClr val="2A3F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611880"/>
            <a:ext cx="365760" cy="365760"/>
          </a:xfrm>
          <a:prstGeom prst="ellipse">
            <a:avLst/>
          </a:prstGeom>
          <a:solidFill>
            <a:srgbClr val="00909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35478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users churn more than automatic payment methods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409651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billing correlates with lower customer stickiness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42850"/>
          </a:solidFill>
          <a:ln w="12700">
            <a:solidFill>
              <a:srgbClr val="2A3F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166360"/>
            <a:ext cx="365760" cy="365760"/>
          </a:xfrm>
          <a:prstGeom prst="ellipse">
            <a:avLst/>
          </a:prstGeom>
          <a:solidFill>
            <a:srgbClr val="00909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1023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combined high-risk segment churns at 39.1%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565099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double the baseline - despite being only ~6% of customers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172200" y="49377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42850"/>
          </a:solidFill>
          <a:ln w="12700">
            <a:solidFill>
              <a:srgbClr val="2A3F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5166360"/>
            <a:ext cx="365760" cy="365760"/>
          </a:xfrm>
          <a:prstGeom prst="ellipse">
            <a:avLst/>
          </a:prstGeom>
          <a:solidFill>
            <a:srgbClr val="00909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0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51023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 of total revenue sits in the high-risk segment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565099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9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concentrated, actionable target for retention spend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4285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3200400" cy="3200400"/>
          </a:xfrm>
          <a:prstGeom prst="ellipse">
            <a:avLst/>
          </a:prstGeom>
          <a:solidFill>
            <a:srgbClr val="00909E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00000"/>
            <a:ext cx="900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50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09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found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000000"/>
            <a:ext cx="9400000" cy="1700000"/>
          </a:xfrm>
          <a:prstGeom prst="roundRect">
            <a:avLst>
              <a:gd name="adj" fmla="val 6316"/>
            </a:avLst>
          </a:prstGeom>
          <a:solidFill>
            <a:srgbClr val="142850"/>
          </a:solidFill>
          <a:ln w="12700">
            <a:solidFill>
              <a:srgbClr val="2A3F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3000000"/>
            <a:ext cx="89000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EDA turned a messy telecom dataset into a clean, insight-rich foundation and revealed a precise high-risk churn segment (Month-to-Month + Fiber Optic + Electronic Check) with 39.1% churn and $27,974 in monthly revenue exposure.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200000"/>
            <a:ext cx="1000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•  Exploratory Data Analysis  •  Business Insight Generation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ecor 1"/>
          <p:cNvSpPr/>
          <p:nvPr/>
        </p:nvSpPr>
        <p:spPr>
          <a:xfrm>
            <a:off x="8900000" y="-1500000"/>
            <a:ext cx="5000000" cy="5000000"/>
          </a:xfrm>
          <a:prstGeom prst="ellipse">
            <a:avLst/>
          </a:prstGeom>
          <a:solidFill>
            <a:srgbClr val="10244A"/>
          </a:solidFill>
          <a:ln>
            <a:noFill/>
          </a:ln>
        </p:spPr>
      </p:sp>
      <p:sp>
        <p:nvSpPr>
          <p:cNvPr id="12" name="Decor 2"/>
          <p:cNvSpPr/>
          <p:nvPr/>
        </p:nvSpPr>
        <p:spPr>
          <a:xfrm>
            <a:off x="-1000000" y="5300000"/>
            <a:ext cx="2600000" cy="2600000"/>
          </a:xfrm>
          <a:prstGeom prst="ellipse">
            <a:avLst/>
          </a:prstGeom>
          <a:solidFill>
            <a:srgbClr val="0A4A5C"/>
          </a:solidFill>
          <a:ln>
            <a:noFill/>
          </a:ln>
        </p:spPr>
      </p:sp>
      <p:sp>
        <p:nvSpPr>
          <p:cNvPr id="13" name="Ring Deco"/>
          <p:cNvSpPr/>
          <p:nvPr/>
        </p:nvSpPr>
        <p:spPr>
          <a:xfrm>
            <a:off x="9300000" y="3900000"/>
            <a:ext cx="2900000" cy="2900000"/>
          </a:xfrm>
          <a:prstGeom prst="donut">
            <a:avLst>
              <a:gd name="adj" fmla="val 9000"/>
            </a:avLst>
          </a:prstGeom>
          <a:solidFill>
            <a:srgbClr val="123A52"/>
          </a:solidFill>
          <a:ln>
            <a:noFill/>
          </a:ln>
        </p:spPr>
      </p:sp>
      <p:sp>
        <p:nvSpPr>
          <p:cNvPr id="14" name="Title"/>
          <p:cNvSpPr txBox="1"/>
          <p:nvPr/>
        </p:nvSpPr>
        <p:spPr>
          <a:xfrm>
            <a:off x="822960" y="900000"/>
            <a:ext cx="9000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Thank You</a:t>
            </a:r>
          </a:p>
        </p:txBody>
      </p:sp>
      <p:sp>
        <p:nvSpPr>
          <p:cNvPr id="15" name="Accent"/>
          <p:cNvSpPr/>
          <p:nvPr/>
        </p:nvSpPr>
        <p:spPr>
          <a:xfrm>
            <a:off x="822960" y="2400000"/>
            <a:ext cx="1000000" cy="55000"/>
          </a:xfrm>
          <a:prstGeom prst="rect">
            <a:avLst/>
          </a:prstGeom>
          <a:solidFill>
            <a:srgbClr val="00909E"/>
          </a:solidFill>
          <a:ln>
            <a:noFill/>
          </a:ln>
        </p:spPr>
      </p:sp>
      <p:sp>
        <p:nvSpPr>
          <p:cNvPr id="16" name="Subtitle"/>
          <p:cNvSpPr txBox="1"/>
          <p:nvPr/>
        </p:nvSpPr>
        <p:spPr>
          <a:xfrm>
            <a:off x="822960" y="260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0" i="1" dirty="0">
                <a:solidFill>
                  <a:srgbClr val="00909E"/>
                </a:solidFill>
                <a:latin typeface="Calibri"/>
                <a:ea typeface="Calibri"/>
                <a:cs typeface="Calibri"/>
              </a:rPr>
              <a:t>Questions &amp; Discussion Welcome</a:t>
            </a:r>
          </a:p>
        </p:txBody>
      </p:sp>
      <p:sp>
        <p:nvSpPr>
          <p:cNvPr id="17" name="Recap 0"/>
          <p:cNvSpPr/>
          <p:nvPr/>
        </p:nvSpPr>
        <p:spPr>
          <a:xfrm>
            <a:off x="822960" y="3450000"/>
            <a:ext cx="2900000" cy="1100000"/>
          </a:xfrm>
          <a:prstGeom prst="roundRect">
            <a:avLst>
              <a:gd name="adj" fmla="val 8000"/>
            </a:avLst>
          </a:prstGeom>
          <a:solidFill>
            <a:srgbClr val="142850"/>
          </a:solidFill>
          <a:ln w="12700">
            <a:solidFill>
              <a:srgbClr val="2A3F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i="0" dirty="0">
                <a:solidFill>
                  <a:srgbClr val="00909E"/>
                </a:solidFill>
                <a:latin typeface="Cambria"/>
                <a:ea typeface="Cambria"/>
                <a:cs typeface="Cambria"/>
              </a:rPr>
              <a:t>22.6%</a:t>
            </a:r>
          </a:p>
          <a:p>
            <a:pPr marL="0" indent="0" algn="ctr">
              <a:buNone/>
            </a:pPr>
            <a:r>
              <a:rPr lang="en-US" sz="1400" b="0" i="0" dirty="0">
                <a:solidFill>
                  <a:srgbClr val="C9D6E8"/>
                </a:solidFill>
                <a:latin typeface="Calibri"/>
                <a:ea typeface="Calibri"/>
                <a:cs typeface="Calibri"/>
              </a:rPr>
              <a:t>Overall churn rate</a:t>
            </a:r>
          </a:p>
        </p:txBody>
      </p:sp>
      <p:sp>
        <p:nvSpPr>
          <p:cNvPr id="18" name="Recap 1"/>
          <p:cNvSpPr/>
          <p:nvPr/>
        </p:nvSpPr>
        <p:spPr>
          <a:xfrm>
            <a:off x="3922960" y="3450000"/>
            <a:ext cx="2900000" cy="1100000"/>
          </a:xfrm>
          <a:prstGeom prst="roundRect">
            <a:avLst>
              <a:gd name="adj" fmla="val 8000"/>
            </a:avLst>
          </a:prstGeom>
          <a:solidFill>
            <a:srgbClr val="142850"/>
          </a:solidFill>
          <a:ln w="12700">
            <a:solidFill>
              <a:srgbClr val="2A3F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i="0" dirty="0">
                <a:solidFill>
                  <a:srgbClr val="E84545"/>
                </a:solidFill>
                <a:latin typeface="Cambria"/>
                <a:ea typeface="Cambria"/>
                <a:cs typeface="Cambria"/>
              </a:rPr>
              <a:t>39.1%</a:t>
            </a:r>
          </a:p>
          <a:p>
            <a:pPr marL="0" indent="0" algn="ctr">
              <a:buNone/>
            </a:pPr>
            <a:r>
              <a:rPr lang="en-US" sz="1400" b="0" i="0" dirty="0">
                <a:solidFill>
                  <a:srgbClr val="C9D6E8"/>
                </a:solidFill>
                <a:latin typeface="Calibri"/>
                <a:ea typeface="Calibri"/>
                <a:cs typeface="Calibri"/>
              </a:rPr>
              <a:t>High-risk segment churn</a:t>
            </a:r>
          </a:p>
        </p:txBody>
      </p:sp>
      <p:sp>
        <p:nvSpPr>
          <p:cNvPr id="19" name="Recap 2"/>
          <p:cNvSpPr/>
          <p:nvPr/>
        </p:nvSpPr>
        <p:spPr>
          <a:xfrm>
            <a:off x="7022960" y="3450000"/>
            <a:ext cx="2900000" cy="1100000"/>
          </a:xfrm>
          <a:prstGeom prst="roundRect">
            <a:avLst>
              <a:gd name="adj" fmla="val 8000"/>
            </a:avLst>
          </a:prstGeom>
          <a:solidFill>
            <a:srgbClr val="142850"/>
          </a:solidFill>
          <a:ln w="12700">
            <a:solidFill>
              <a:srgbClr val="2A3F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i="0" dirty="0">
                <a:solidFill>
                  <a:srgbClr val="00909E"/>
                </a:solidFill>
                <a:latin typeface="Cambria"/>
                <a:ea typeface="Cambria"/>
                <a:cs typeface="Cambria"/>
              </a:rPr>
              <a:t>$27,974</a:t>
            </a:r>
          </a:p>
          <a:p>
            <a:pPr marL="0" indent="0" algn="ctr">
              <a:buNone/>
            </a:pPr>
            <a:r>
              <a:rPr lang="en-US" sz="1400" b="0" i="0" dirty="0">
                <a:solidFill>
                  <a:srgbClr val="C9D6E8"/>
                </a:solidFill>
                <a:latin typeface="Calibri"/>
                <a:ea typeface="Calibri"/>
                <a:cs typeface="Calibri"/>
              </a:rPr>
              <a:t>Monthly revenue at risk</a:t>
            </a:r>
          </a:p>
        </p:txBody>
      </p:sp>
      <p:sp>
        <p:nvSpPr>
          <p:cNvPr id="20" name="Avatar"/>
          <p:cNvSpPr/>
          <p:nvPr/>
        </p:nvSpPr>
        <p:spPr>
          <a:xfrm>
            <a:off x="822960" y="4950000"/>
            <a:ext cx="720000" cy="720000"/>
          </a:xfrm>
          <a:prstGeom prst="ellipse">
            <a:avLst/>
          </a:prstGeom>
          <a:solidFill>
            <a:srgbClr val="00909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</a:t>
            </a:r>
          </a:p>
        </p:txBody>
      </p:sp>
      <p:sp>
        <p:nvSpPr>
          <p:cNvPr id="21" name="Name"/>
          <p:cNvSpPr txBox="1"/>
          <p:nvPr/>
        </p:nvSpPr>
        <p:spPr>
          <a:xfrm>
            <a:off x="1700000" y="4950000"/>
            <a:ext cx="52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i="0" spc="1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SHAILESH PAWAR</a:t>
            </a:r>
          </a:p>
        </p:txBody>
      </p:sp>
      <p:sp>
        <p:nvSpPr>
          <p:cNvPr id="22" name="Project"/>
          <p:cNvSpPr txBox="1"/>
          <p:nvPr/>
        </p:nvSpPr>
        <p:spPr>
          <a:xfrm>
            <a:off x="1700000" y="5340000"/>
            <a:ext cx="62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i="0" dirty="0">
                <a:solidFill>
                  <a:srgbClr val="8A9BB5"/>
                </a:solidFill>
                <a:latin typeface="Calibri"/>
                <a:ea typeface="Calibri"/>
                <a:cs typeface="Calibri"/>
              </a:rPr>
              <a:t>Telecom Customer Churn Analysis  |  EDA Project</a:t>
            </a:r>
          </a:p>
        </p:txBody>
      </p:sp>
      <p:pic>
        <p:nvPicPr>
          <p:cNvPr id="23" name="LinkedIn">
            <a:hlinkClick r:id="rId2" tooltip="Open LinkedIn profil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000" y="5900000"/>
            <a:ext cx="480000" cy="480000"/>
          </a:xfrm>
          <a:prstGeom prst="rect">
            <a:avLst/>
          </a:prstGeom>
        </p:spPr>
      </p:pic>
      <p:sp>
        <p:nvSpPr>
          <p:cNvPr id="24" name="LinkedIn Label"/>
          <p:cNvSpPr txBox="1"/>
          <p:nvPr/>
        </p:nvSpPr>
        <p:spPr>
          <a:xfrm>
            <a:off x="2300000" y="5900000"/>
            <a:ext cx="32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ea typeface="Calibri"/>
                <a:cs typeface="Calibri"/>
                <a:hlinkClick r:id="rId2"/>
              </a:rPr>
              <a:t>linkedin.com/in/shaileshpawar-cse</a:t>
            </a:r>
          </a:p>
        </p:txBody>
      </p:sp>
      <p:pic>
        <p:nvPicPr>
          <p:cNvPr id="25" name="GitHub">
            <a:hlinkClick r:id="rId4" tooltip="Open GitHub profil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0000" y="5900000"/>
            <a:ext cx="480000" cy="480000"/>
          </a:xfrm>
          <a:prstGeom prst="rect">
            <a:avLst/>
          </a:prstGeom>
        </p:spPr>
      </p:pic>
      <p:sp>
        <p:nvSpPr>
          <p:cNvPr id="26" name="GitHub Label"/>
          <p:cNvSpPr txBox="1"/>
          <p:nvPr/>
        </p:nvSpPr>
        <p:spPr>
          <a:xfrm>
            <a:off x="6300000" y="5900000"/>
            <a:ext cx="30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ea typeface="Calibri"/>
                <a:cs typeface="Calibri"/>
                <a:hlinkClick r:id="rId4"/>
              </a:rPr>
              <a:t>github.com/Shailesh-Pawar-18</a:t>
            </a:r>
          </a:p>
        </p:txBody>
      </p:sp>
      <p:sp>
        <p:nvSpPr>
          <p:cNvPr id="27" name="Btn Start">
            <a:hlinkClick r:id="rId6" action="ppaction://hlinksldjump" tooltip="Go to first slide"/>
          </p:cNvPr>
          <p:cNvSpPr/>
          <p:nvPr/>
        </p:nvSpPr>
        <p:spPr>
          <a:xfrm>
            <a:off x="7600000" y="5000000"/>
            <a:ext cx="2000000" cy="44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909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↺  Back to Start</a:t>
            </a:r>
          </a:p>
        </p:txBody>
      </p:sp>
      <p:sp>
        <p:nvSpPr>
          <p:cNvPr id="28" name="Btn Insights">
            <a:hlinkClick r:id="rId7" action="ppaction://hlinksldjump" tooltip="Go to Key Insights"/>
          </p:cNvPr>
          <p:cNvSpPr/>
          <p:nvPr/>
        </p:nvSpPr>
        <p:spPr>
          <a:xfrm>
            <a:off x="9800000" y="5000000"/>
            <a:ext cx="2000000" cy="440000"/>
          </a:xfrm>
          <a:prstGeom prst="roundRect">
            <a:avLst>
              <a:gd name="adj" fmla="val 50000"/>
            </a:avLst>
          </a:prstGeom>
          <a:solidFill>
            <a:srgbClr val="00909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Insights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5CD6E6"/>
      </a:hlink>
      <a:folHlink>
        <a:srgbClr val="9EDDE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1401</Words>
  <Application>Microsoft Office PowerPoint</Application>
  <PresentationFormat>Widescreen</PresentationFormat>
  <Paragraphs>363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4</cp:revision>
  <dcterms:created xsi:type="dcterms:W3CDTF">2026-09-25T09:19:12Z</dcterms:created>
  <dcterms:modified xsi:type="dcterms:W3CDTF">2026-10-09T10:35:03Z</dcterms:modified>
</cp:coreProperties>
</file>