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charts/chart8.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5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churn rate pct</c:v>
                </c:pt>
              </c:strCache>
            </c:strRef>
          </c:tx>
          <c:spPr>
            <a:solidFill>
              <a:srgbClr val="F43F5E"/>
            </a:solidFill>
            <a:effectLst/>
          </c:spPr>
          <c:invertIfNegative val="0"/>
          <c:dPt>
            <c:idx val="0"/>
            <c:invertIfNegative val="0"/>
            <c:bubble3D val="0"/>
          </c:dPt>
          <c:dPt>
            <c:idx val="1"/>
            <c:invertIfNegative val="0"/>
            <c:bubble3D val="0"/>
            <c:spPr>
              <a:solidFill>
                <a:srgbClr val="22D3EE"/>
              </a:solidFill>
              <a:effectLst/>
            </c:spPr>
          </c:dPt>
          <c:dPt>
            <c:idx val="2"/>
            <c:invertIfNegative val="0"/>
            <c:bubble3D val="0"/>
            <c:spPr>
              <a:solidFill>
                <a:srgbClr val="22D3EE"/>
              </a:solidFill>
              <a:effectLst/>
            </c:spPr>
          </c:dPt>
          <c:dLbls>
            <c:numFmt formatCode="0.0&quot;%&quot;" sourceLinked="0"/>
            <c:spPr>
              <a:noFill/>
              <a:ln>
                <a:noFill/>
              </a:ln>
              <a:effectLst/>
            </c:spPr>
            <c:txPr>
              <a:bodyPr/>
              <a:lstStyle/>
              <a:p>
                <a:pPr>
                  <a:defRPr sz="1000" b="0" i="0" u="none" strike="noStrike">
                    <a:solidFill>
                      <a:srgbClr val="0B1B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Month-to-Month</c:v>
                </c:pt>
                <c:pt idx="1">
                  <c:v>One Year</c:v>
                </c:pt>
                <c:pt idx="2">
                  <c:v>Two Year</c:v>
                </c:pt>
              </c:strCache>
            </c:strRef>
          </c:cat>
          <c:val>
            <c:numRef>
              <c:f>Sheet1!$B$2:$B$4</c:f>
              <c:numCache>
                <c:formatCode>General</c:formatCode>
                <c:ptCount val="3"/>
                <c:pt idx="0">
                  <c:v>27.6</c:v>
                </c:pt>
                <c:pt idx="1">
                  <c:v>17.7</c:v>
                </c:pt>
                <c:pt idx="2">
                  <c:v>14.7</c:v>
                </c:pt>
              </c:numCache>
            </c:numRef>
          </c:val>
        </c:ser>
        <c:dLbls>
          <c:showLegendKey val="0"/>
          <c:showVal val="1"/>
          <c:showCatName val="0"/>
          <c:showSerName val="0"/>
          <c:showPercent val="0"/>
          <c:showBubbleSize val="0"/>
        </c:dLbls>
        <c:gapWidth val="40"/>
        <c:axId val="2073220208"/>
        <c:axId val="2073221840"/>
      </c:barChart>
      <c:catAx>
        <c:axId val="2073220208"/>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73221840"/>
        <c:crosses val="autoZero"/>
        <c:auto val="1"/>
        <c:lblAlgn val="ctr"/>
        <c:lblOffset val="100"/>
        <c:noMultiLvlLbl val="1"/>
      </c:catAx>
      <c:valAx>
        <c:axId val="2073221840"/>
        <c:scaling>
          <c:orientation val="minMax"/>
        </c:scaling>
        <c:delete val="1"/>
        <c:axPos val="t"/>
        <c:numFmt formatCode="General" sourceLinked="0"/>
        <c:majorTickMark val="out"/>
        <c:minorTickMark val="none"/>
        <c:tickLblPos val="low"/>
        <c:crossAx val="207322020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churn rate pct</c:v>
                </c:pt>
              </c:strCache>
            </c:strRef>
          </c:tx>
          <c:spPr>
            <a:solidFill>
              <a:srgbClr val="F43F5E"/>
            </a:solidFill>
            <a:effectLst/>
          </c:spPr>
          <c:invertIfNegative val="0"/>
          <c:dPt>
            <c:idx val="0"/>
            <c:invertIfNegative val="0"/>
            <c:bubble3D val="0"/>
          </c:dPt>
          <c:dPt>
            <c:idx val="1"/>
            <c:invertIfNegative val="0"/>
            <c:bubble3D val="0"/>
            <c:spPr>
              <a:solidFill>
                <a:srgbClr val="22D3EE"/>
              </a:solidFill>
              <a:effectLst/>
            </c:spPr>
          </c:dPt>
          <c:dPt>
            <c:idx val="2"/>
            <c:invertIfNegative val="0"/>
            <c:bubble3D val="0"/>
            <c:spPr>
              <a:solidFill>
                <a:srgbClr val="22D3EE"/>
              </a:solidFill>
              <a:effectLst/>
            </c:spPr>
          </c:dPt>
          <c:dLbls>
            <c:numFmt formatCode="0.0&quot;%&quot;" sourceLinked="0"/>
            <c:spPr>
              <a:noFill/>
              <a:ln>
                <a:noFill/>
              </a:ln>
              <a:effectLst/>
            </c:spPr>
            <c:txPr>
              <a:bodyPr/>
              <a:lstStyle/>
              <a:p>
                <a:pPr>
                  <a:defRPr sz="1000" b="0" i="0" u="none" strike="noStrike">
                    <a:solidFill>
                      <a:srgbClr val="0B1B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Fiber Optic</c:v>
                </c:pt>
                <c:pt idx="1">
                  <c:v>DSL</c:v>
                </c:pt>
                <c:pt idx="2">
                  <c:v>No</c:v>
                </c:pt>
              </c:strCache>
            </c:strRef>
          </c:cat>
          <c:val>
            <c:numRef>
              <c:f>Sheet1!$B$2:$B$4</c:f>
              <c:numCache>
                <c:formatCode>General</c:formatCode>
                <c:ptCount val="3"/>
                <c:pt idx="0">
                  <c:v>29.5</c:v>
                </c:pt>
                <c:pt idx="1">
                  <c:v>18</c:v>
                </c:pt>
                <c:pt idx="2">
                  <c:v>15.2</c:v>
                </c:pt>
              </c:numCache>
            </c:numRef>
          </c:val>
        </c:ser>
        <c:dLbls>
          <c:showLegendKey val="0"/>
          <c:showVal val="1"/>
          <c:showCatName val="0"/>
          <c:showSerName val="0"/>
          <c:showPercent val="0"/>
          <c:showBubbleSize val="0"/>
        </c:dLbls>
        <c:gapWidth val="40"/>
        <c:axId val="2073216400"/>
        <c:axId val="2073222384"/>
      </c:barChart>
      <c:catAx>
        <c:axId val="2073216400"/>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73222384"/>
        <c:crosses val="autoZero"/>
        <c:auto val="1"/>
        <c:lblAlgn val="ctr"/>
        <c:lblOffset val="100"/>
        <c:noMultiLvlLbl val="1"/>
      </c:catAx>
      <c:valAx>
        <c:axId val="2073222384"/>
        <c:scaling>
          <c:orientation val="minMax"/>
        </c:scaling>
        <c:delete val="1"/>
        <c:axPos val="t"/>
        <c:numFmt formatCode="General" sourceLinked="0"/>
        <c:majorTickMark val="out"/>
        <c:minorTickMark val="none"/>
        <c:tickLblPos val="low"/>
        <c:crossAx val="2073216400"/>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churn rate pct</c:v>
                </c:pt>
              </c:strCache>
            </c:strRef>
          </c:tx>
          <c:spPr>
            <a:solidFill>
              <a:srgbClr val="F43F5E"/>
            </a:solidFill>
            <a:effectLst/>
          </c:spPr>
          <c:invertIfNegative val="0"/>
          <c:dPt>
            <c:idx val="0"/>
            <c:invertIfNegative val="0"/>
            <c:bubble3D val="0"/>
          </c:dPt>
          <c:dPt>
            <c:idx val="1"/>
            <c:invertIfNegative val="0"/>
            <c:bubble3D val="0"/>
            <c:spPr>
              <a:solidFill>
                <a:srgbClr val="22D3EE"/>
              </a:solidFill>
              <a:effectLst/>
            </c:spPr>
          </c:dPt>
          <c:dPt>
            <c:idx val="2"/>
            <c:invertIfNegative val="0"/>
            <c:bubble3D val="0"/>
            <c:spPr>
              <a:solidFill>
                <a:srgbClr val="22D3EE"/>
              </a:solidFill>
              <a:effectLst/>
            </c:spPr>
          </c:dPt>
          <c:dPt>
            <c:idx val="3"/>
            <c:invertIfNegative val="0"/>
            <c:bubble3D val="0"/>
            <c:spPr>
              <a:solidFill>
                <a:srgbClr val="22D3EE"/>
              </a:solidFill>
              <a:effectLst/>
            </c:spPr>
          </c:dPt>
          <c:dLbls>
            <c:numFmt formatCode="0.0&quot;%&quot;" sourceLinked="0"/>
            <c:spPr>
              <a:noFill/>
              <a:ln>
                <a:noFill/>
              </a:ln>
              <a:effectLst/>
            </c:spPr>
            <c:txPr>
              <a:bodyPr/>
              <a:lstStyle/>
              <a:p>
                <a:pPr>
                  <a:defRPr sz="1000" b="0" i="0" u="none" strike="noStrike">
                    <a:solidFill>
                      <a:srgbClr val="0B1B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Electronic Check</c:v>
                </c:pt>
                <c:pt idx="1">
                  <c:v>Bank Transfer</c:v>
                </c:pt>
                <c:pt idx="2">
                  <c:v>Credit Card</c:v>
                </c:pt>
                <c:pt idx="3">
                  <c:v>Mailed Check</c:v>
                </c:pt>
              </c:strCache>
            </c:strRef>
          </c:cat>
          <c:val>
            <c:numRef>
              <c:f>Sheet1!$B$2:$B$5</c:f>
              <c:numCache>
                <c:formatCode>General</c:formatCode>
                <c:ptCount val="4"/>
                <c:pt idx="0">
                  <c:v>26</c:v>
                </c:pt>
                <c:pt idx="1">
                  <c:v>22.1</c:v>
                </c:pt>
                <c:pt idx="2">
                  <c:v>21.7</c:v>
                </c:pt>
                <c:pt idx="3">
                  <c:v>21</c:v>
                </c:pt>
              </c:numCache>
            </c:numRef>
          </c:val>
        </c:ser>
        <c:dLbls>
          <c:showLegendKey val="0"/>
          <c:showVal val="1"/>
          <c:showCatName val="0"/>
          <c:showSerName val="0"/>
          <c:showPercent val="0"/>
          <c:showBubbleSize val="0"/>
        </c:dLbls>
        <c:gapWidth val="40"/>
        <c:axId val="2073214224"/>
        <c:axId val="2073223472"/>
      </c:barChart>
      <c:catAx>
        <c:axId val="207321422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73223472"/>
        <c:crosses val="autoZero"/>
        <c:auto val="1"/>
        <c:lblAlgn val="ctr"/>
        <c:lblOffset val="100"/>
        <c:noMultiLvlLbl val="1"/>
      </c:catAx>
      <c:valAx>
        <c:axId val="2073223472"/>
        <c:scaling>
          <c:orientation val="minMax"/>
        </c:scaling>
        <c:delete val="1"/>
        <c:axPos val="t"/>
        <c:numFmt formatCode="General" sourceLinked="0"/>
        <c:majorTickMark val="out"/>
        <c:minorTickMark val="none"/>
        <c:tickLblPos val="low"/>
        <c:crossAx val="207321422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col"/>
        <c:grouping val="clustered"/>
        <c:varyColors val="0"/>
        <c:ser>
          <c:idx val="0"/>
          <c:order val="0"/>
          <c:tx>
            <c:strRef>
              <c:f>Sheet1!$B$1</c:f>
              <c:strCache>
                <c:ptCount val="1"/>
                <c:pt idx="0">
                  <c:v>churn rate pct</c:v>
                </c:pt>
              </c:strCache>
            </c:strRef>
          </c:tx>
          <c:spPr>
            <a:solidFill>
              <a:srgbClr val="F43F5E"/>
            </a:solidFill>
            <a:effectLst/>
          </c:spPr>
          <c:invertIfNegative val="0"/>
          <c:dPt>
            <c:idx val="0"/>
            <c:invertIfNegative val="0"/>
            <c:bubble3D val="0"/>
          </c:dPt>
          <c:dPt>
            <c:idx val="1"/>
            <c:invertIfNegative val="0"/>
            <c:bubble3D val="0"/>
            <c:spPr>
              <a:solidFill>
                <a:srgbClr val="22D3EE"/>
              </a:solidFill>
              <a:effectLst/>
            </c:spPr>
          </c:dPt>
          <c:dPt>
            <c:idx val="2"/>
            <c:invertIfNegative val="0"/>
            <c:bubble3D val="0"/>
            <c:spPr>
              <a:solidFill>
                <a:srgbClr val="22D3EE"/>
              </a:solidFill>
              <a:effectLst/>
            </c:spPr>
          </c:dPt>
          <c:dPt>
            <c:idx val="3"/>
            <c:invertIfNegative val="0"/>
            <c:bubble3D val="0"/>
            <c:spPr>
              <a:solidFill>
                <a:srgbClr val="22D3EE"/>
              </a:solidFill>
              <a:effectLst/>
            </c:spPr>
          </c:dPt>
          <c:dLbls>
            <c:numFmt formatCode="0.0&quot;%&quot;" sourceLinked="0"/>
            <c:spPr>
              <a:noFill/>
              <a:ln>
                <a:noFill/>
              </a:ln>
              <a:effectLst/>
            </c:spPr>
            <c:txPr>
              <a:bodyPr/>
              <a:lstStyle/>
              <a:p>
                <a:pPr>
                  <a:defRPr sz="1000" b="0" i="0" u="none" strike="noStrike">
                    <a:solidFill>
                      <a:srgbClr val="0B1B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First year (0-12 months)</c:v>
                </c:pt>
                <c:pt idx="1">
                  <c:v>Second year (13-24 months)</c:v>
                </c:pt>
                <c:pt idx="2">
                  <c:v>Years 3-4 (25-48 months)</c:v>
                </c:pt>
                <c:pt idx="3">
                  <c:v>Over 4 years (49+ months)</c:v>
                </c:pt>
              </c:strCache>
            </c:strRef>
          </c:cat>
          <c:val>
            <c:numRef>
              <c:f>Sheet1!$B$2:$B$5</c:f>
              <c:numCache>
                <c:formatCode>General</c:formatCode>
                <c:ptCount val="4"/>
                <c:pt idx="0">
                  <c:v>33.4</c:v>
                </c:pt>
                <c:pt idx="1">
                  <c:v>29.5</c:v>
                </c:pt>
                <c:pt idx="2">
                  <c:v>21.8</c:v>
                </c:pt>
                <c:pt idx="3">
                  <c:v>14.3</c:v>
                </c:pt>
              </c:numCache>
            </c:numRef>
          </c:val>
        </c:ser>
        <c:dLbls>
          <c:showLegendKey val="0"/>
          <c:showVal val="1"/>
          <c:showCatName val="0"/>
          <c:showSerName val="0"/>
          <c:showPercent val="0"/>
          <c:showBubbleSize val="0"/>
        </c:dLbls>
        <c:gapWidth val="40"/>
        <c:axId val="2073224016"/>
        <c:axId val="2073224560"/>
      </c:barChart>
      <c:catAx>
        <c:axId val="207322401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73224560"/>
        <c:crosses val="autoZero"/>
        <c:auto val="1"/>
        <c:lblAlgn val="ctr"/>
        <c:lblOffset val="100"/>
        <c:noMultiLvlLbl val="1"/>
      </c:catAx>
      <c:valAx>
        <c:axId val="2073224560"/>
        <c:scaling>
          <c:orientation val="minMax"/>
        </c:scaling>
        <c:delete val="1"/>
        <c:axPos val="l"/>
        <c:numFmt formatCode="General" sourceLinked="0"/>
        <c:majorTickMark val="out"/>
        <c:minorTickMark val="none"/>
        <c:tickLblPos val="nextTo"/>
        <c:crossAx val="207322401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churn rate pct</c:v>
                </c:pt>
              </c:strCache>
            </c:strRef>
          </c:tx>
          <c:spPr>
            <a:solidFill>
              <a:srgbClr val="F43F5E"/>
            </a:solidFill>
            <a:effectLst/>
          </c:spPr>
          <c:invertIfNegative val="0"/>
          <c:dPt>
            <c:idx val="0"/>
            <c:invertIfNegative val="0"/>
            <c:bubble3D val="0"/>
          </c:dPt>
          <c:dPt>
            <c:idx val="1"/>
            <c:invertIfNegative val="0"/>
            <c:bubble3D val="0"/>
            <c:spPr>
              <a:solidFill>
                <a:srgbClr val="22D3EE"/>
              </a:solidFill>
              <a:effectLst/>
            </c:spPr>
          </c:dPt>
          <c:dPt>
            <c:idx val="2"/>
            <c:invertIfNegative val="0"/>
            <c:bubble3D val="0"/>
            <c:spPr>
              <a:solidFill>
                <a:srgbClr val="22D3EE"/>
              </a:solidFill>
              <a:effectLst/>
            </c:spPr>
          </c:dPt>
          <c:dPt>
            <c:idx val="3"/>
            <c:invertIfNegative val="0"/>
            <c:bubble3D val="0"/>
            <c:spPr>
              <a:solidFill>
                <a:srgbClr val="22D3EE"/>
              </a:solidFill>
              <a:effectLst/>
            </c:spPr>
          </c:dPt>
          <c:dLbls>
            <c:numFmt formatCode="0.0&quot;%&quot;" sourceLinked="0"/>
            <c:spPr>
              <a:noFill/>
              <a:ln>
                <a:noFill/>
              </a:ln>
              <a:effectLst/>
            </c:spPr>
            <c:txPr>
              <a:bodyPr/>
              <a:lstStyle/>
              <a:p>
                <a:pPr>
                  <a:defRPr sz="1000" b="0" i="0" u="none" strike="noStrike">
                    <a:solidFill>
                      <a:srgbClr val="0B1B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DSL / No</c:v>
                </c:pt>
                <c:pt idx="1">
                  <c:v>DSL / Yes</c:v>
                </c:pt>
                <c:pt idx="2">
                  <c:v>Fiber Optic / No</c:v>
                </c:pt>
                <c:pt idx="3">
                  <c:v>Fiber Optic / Yes</c:v>
                </c:pt>
              </c:strCache>
            </c:strRef>
          </c:cat>
          <c:val>
            <c:numRef>
              <c:f>Sheet1!$B$2:$B$5</c:f>
              <c:numCache>
                <c:formatCode>General</c:formatCode>
                <c:ptCount val="4"/>
                <c:pt idx="0">
                  <c:v>18.2</c:v>
                </c:pt>
                <c:pt idx="1">
                  <c:v>18.5</c:v>
                </c:pt>
                <c:pt idx="2">
                  <c:v>30.4</c:v>
                </c:pt>
                <c:pt idx="3">
                  <c:v>29.3</c:v>
                </c:pt>
              </c:numCache>
            </c:numRef>
          </c:val>
        </c:ser>
        <c:dLbls>
          <c:showLegendKey val="0"/>
          <c:showVal val="1"/>
          <c:showCatName val="0"/>
          <c:showSerName val="0"/>
          <c:showPercent val="0"/>
          <c:showBubbleSize val="0"/>
        </c:dLbls>
        <c:gapWidth val="40"/>
        <c:axId val="2073225104"/>
        <c:axId val="2073209872"/>
      </c:barChart>
      <c:catAx>
        <c:axId val="207322510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73209872"/>
        <c:crosses val="autoZero"/>
        <c:auto val="1"/>
        <c:lblAlgn val="ctr"/>
        <c:lblOffset val="100"/>
        <c:noMultiLvlLbl val="1"/>
      </c:catAx>
      <c:valAx>
        <c:axId val="2073209872"/>
        <c:scaling>
          <c:orientation val="minMax"/>
        </c:scaling>
        <c:delete val="1"/>
        <c:axPos val="t"/>
        <c:numFmt formatCode="General" sourceLinked="0"/>
        <c:majorTickMark val="out"/>
        <c:minorTickMark val="none"/>
        <c:tickLblPos val="low"/>
        <c:crossAx val="207322510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churn rate pct</c:v>
                </c:pt>
              </c:strCache>
            </c:strRef>
          </c:tx>
          <c:spPr>
            <a:solidFill>
              <a:srgbClr val="F43F5E"/>
            </a:solidFill>
            <a:effectLst/>
          </c:spPr>
          <c:invertIfNegative val="0"/>
          <c:dPt>
            <c:idx val="0"/>
            <c:invertIfNegative val="0"/>
            <c:bubble3D val="0"/>
          </c:dPt>
          <c:dPt>
            <c:idx val="1"/>
            <c:invertIfNegative val="0"/>
            <c:bubble3D val="0"/>
            <c:spPr>
              <a:solidFill>
                <a:srgbClr val="22D3EE"/>
              </a:solidFill>
              <a:effectLst/>
            </c:spPr>
          </c:dPt>
          <c:dPt>
            <c:idx val="2"/>
            <c:invertIfNegative val="0"/>
            <c:bubble3D val="0"/>
            <c:spPr>
              <a:solidFill>
                <a:srgbClr val="22D3EE"/>
              </a:solidFill>
              <a:effectLst/>
            </c:spPr>
          </c:dPt>
          <c:dPt>
            <c:idx val="3"/>
            <c:invertIfNegative val="0"/>
            <c:bubble3D val="0"/>
            <c:spPr>
              <a:solidFill>
                <a:srgbClr val="22D3EE"/>
              </a:solidFill>
              <a:effectLst/>
            </c:spPr>
          </c:dPt>
          <c:dLbls>
            <c:numFmt formatCode="0.0&quot;%&quot;" sourceLinked="0"/>
            <c:spPr>
              <a:noFill/>
              <a:ln>
                <a:noFill/>
              </a:ln>
              <a:effectLst/>
            </c:spPr>
            <c:txPr>
              <a:bodyPr/>
              <a:lstStyle/>
              <a:p>
                <a:pPr>
                  <a:defRPr sz="1000" b="0" i="0" u="none" strike="noStrike">
                    <a:solidFill>
                      <a:srgbClr val="0B1B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Non-senior Female</c:v>
                </c:pt>
                <c:pt idx="1">
                  <c:v>Non-senior Male</c:v>
                </c:pt>
                <c:pt idx="2">
                  <c:v>Senior Female</c:v>
                </c:pt>
                <c:pt idx="3">
                  <c:v>Senior Male</c:v>
                </c:pt>
              </c:strCache>
            </c:strRef>
          </c:cat>
          <c:val>
            <c:numRef>
              <c:f>Sheet1!$B$2:$B$5</c:f>
              <c:numCache>
                <c:formatCode>General</c:formatCode>
                <c:ptCount val="4"/>
                <c:pt idx="0">
                  <c:v>22</c:v>
                </c:pt>
                <c:pt idx="1">
                  <c:v>23.3</c:v>
                </c:pt>
                <c:pt idx="2">
                  <c:v>24.5</c:v>
                </c:pt>
                <c:pt idx="3">
                  <c:v>21.5</c:v>
                </c:pt>
              </c:numCache>
            </c:numRef>
          </c:val>
        </c:ser>
        <c:dLbls>
          <c:showLegendKey val="0"/>
          <c:showVal val="1"/>
          <c:showCatName val="0"/>
          <c:showSerName val="0"/>
          <c:showPercent val="0"/>
          <c:showBubbleSize val="0"/>
        </c:dLbls>
        <c:gapWidth val="40"/>
        <c:axId val="2073210416"/>
        <c:axId val="2073210960"/>
      </c:barChart>
      <c:catAx>
        <c:axId val="2073210416"/>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73210960"/>
        <c:crosses val="autoZero"/>
        <c:auto val="1"/>
        <c:lblAlgn val="ctr"/>
        <c:lblOffset val="100"/>
        <c:noMultiLvlLbl val="1"/>
      </c:catAx>
      <c:valAx>
        <c:axId val="2073210960"/>
        <c:scaling>
          <c:orientation val="minMax"/>
        </c:scaling>
        <c:delete val="1"/>
        <c:axPos val="t"/>
        <c:numFmt formatCode="General" sourceLinked="0"/>
        <c:majorTickMark val="out"/>
        <c:minorTickMark val="none"/>
        <c:tickLblPos val="low"/>
        <c:crossAx val="207321041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monthly revenue lost</c:v>
                </c:pt>
              </c:strCache>
            </c:strRef>
          </c:tx>
          <c:spPr>
            <a:solidFill>
              <a:srgbClr val="F43F5E"/>
            </a:solidFill>
            <a:effectLst/>
          </c:spPr>
          <c:invertIfNegative val="0"/>
          <c:dPt>
            <c:idx val="0"/>
            <c:invertIfNegative val="0"/>
            <c:bubble3D val="0"/>
          </c:dPt>
          <c:dPt>
            <c:idx val="1"/>
            <c:invertIfNegative val="0"/>
            <c:bubble3D val="0"/>
            <c:spPr>
              <a:solidFill>
                <a:srgbClr val="22D3EE"/>
              </a:solidFill>
              <a:effectLst/>
            </c:spPr>
          </c:dPt>
          <c:dPt>
            <c:idx val="2"/>
            <c:invertIfNegative val="0"/>
            <c:bubble3D val="0"/>
            <c:spPr>
              <a:solidFill>
                <a:srgbClr val="22D3EE"/>
              </a:solidFill>
              <a:effectLst/>
            </c:spPr>
          </c:dPt>
          <c:dPt>
            <c:idx val="3"/>
            <c:invertIfNegative val="0"/>
            <c:bubble3D val="0"/>
            <c:spPr>
              <a:solidFill>
                <a:srgbClr val="22D3EE"/>
              </a:solidFill>
              <a:effectLst/>
            </c:spPr>
          </c:dPt>
          <c:dPt>
            <c:idx val="4"/>
            <c:invertIfNegative val="0"/>
            <c:bubble3D val="0"/>
            <c:spPr>
              <a:solidFill>
                <a:srgbClr val="22D3EE"/>
              </a:solidFill>
              <a:effectLst/>
            </c:spPr>
          </c:dPt>
          <c:dLbls>
            <c:numFmt formatCode="\$#,##0" sourceLinked="0"/>
            <c:spPr>
              <a:noFill/>
              <a:ln>
                <a:noFill/>
              </a:ln>
              <a:effectLst/>
            </c:spPr>
            <c:txPr>
              <a:bodyPr/>
              <a:lstStyle/>
              <a:p>
                <a:pPr>
                  <a:defRPr sz="1000" b="0" i="0" u="none" strike="noStrike">
                    <a:solidFill>
                      <a:srgbClr val="0B1B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M2M + Fiber</c:v>
                </c:pt>
                <c:pt idx="1">
                  <c:v>M2M + DSL</c:v>
                </c:pt>
                <c:pt idx="2">
                  <c:v>1Y + Fiber</c:v>
                </c:pt>
                <c:pt idx="3">
                  <c:v>2Y + Fiber</c:v>
                </c:pt>
                <c:pt idx="4">
                  <c:v>1Y + DSL</c:v>
                </c:pt>
              </c:strCache>
            </c:strRef>
          </c:cat>
          <c:val>
            <c:numRef>
              <c:f>Sheet1!$B$2:$B$6</c:f>
              <c:numCache>
                <c:formatCode>General</c:formatCode>
                <c:ptCount val="5"/>
                <c:pt idx="0">
                  <c:v>42601</c:v>
                </c:pt>
                <c:pt idx="1">
                  <c:v>13703</c:v>
                </c:pt>
                <c:pt idx="2">
                  <c:v>11666</c:v>
                </c:pt>
                <c:pt idx="3">
                  <c:v>7742</c:v>
                </c:pt>
                <c:pt idx="4">
                  <c:v>3808</c:v>
                </c:pt>
              </c:numCache>
            </c:numRef>
          </c:val>
        </c:ser>
        <c:dLbls>
          <c:showLegendKey val="0"/>
          <c:showVal val="1"/>
          <c:showCatName val="0"/>
          <c:showSerName val="0"/>
          <c:showPercent val="0"/>
          <c:showBubbleSize val="0"/>
        </c:dLbls>
        <c:gapWidth val="40"/>
        <c:axId val="2073211504"/>
        <c:axId val="2073214768"/>
      </c:barChart>
      <c:catAx>
        <c:axId val="207321150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73214768"/>
        <c:crosses val="autoZero"/>
        <c:auto val="1"/>
        <c:lblAlgn val="ctr"/>
        <c:lblOffset val="100"/>
        <c:noMultiLvlLbl val="1"/>
      </c:catAx>
      <c:valAx>
        <c:axId val="2073214768"/>
        <c:scaling>
          <c:orientation val="minMax"/>
        </c:scaling>
        <c:delete val="1"/>
        <c:axPos val="t"/>
        <c:numFmt formatCode="General" sourceLinked="0"/>
        <c:majorTickMark val="out"/>
        <c:minorTickMark val="none"/>
        <c:tickLblPos val="low"/>
        <c:crossAx val="207321150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churn rate pct</c:v>
                </c:pt>
              </c:strCache>
            </c:strRef>
          </c:tx>
          <c:spPr>
            <a:solidFill>
              <a:srgbClr val="F43F5E"/>
            </a:solidFill>
            <a:effectLst/>
          </c:spPr>
          <c:invertIfNegative val="0"/>
          <c:dPt>
            <c:idx val="0"/>
            <c:invertIfNegative val="0"/>
            <c:bubble3D val="0"/>
          </c:dPt>
          <c:dPt>
            <c:idx val="1"/>
            <c:invertIfNegative val="0"/>
            <c:bubble3D val="0"/>
            <c:spPr>
              <a:solidFill>
                <a:srgbClr val="22D3EE"/>
              </a:solidFill>
              <a:effectLst/>
            </c:spPr>
          </c:dPt>
          <c:dLbls>
            <c:numFmt formatCode="0.0&quot;%&quot;" sourceLinked="0"/>
            <c:spPr>
              <a:noFill/>
              <a:ln>
                <a:noFill/>
              </a:ln>
              <a:effectLst/>
            </c:spPr>
            <c:txPr>
              <a:bodyPr/>
              <a:lstStyle/>
              <a:p>
                <a:pPr>
                  <a:defRPr sz="1000" b="0" i="0" u="none" strike="noStrike">
                    <a:solidFill>
                      <a:srgbClr val="0B1B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High-risk segment</c:v>
                </c:pt>
                <c:pt idx="1">
                  <c:v>Everyone else</c:v>
                </c:pt>
              </c:strCache>
            </c:strRef>
          </c:cat>
          <c:val>
            <c:numRef>
              <c:f>Sheet1!$B$2:$B$3</c:f>
              <c:numCache>
                <c:formatCode>General</c:formatCode>
                <c:ptCount val="2"/>
                <c:pt idx="0">
                  <c:v>39.1</c:v>
                </c:pt>
                <c:pt idx="1">
                  <c:v>21.6</c:v>
                </c:pt>
              </c:numCache>
            </c:numRef>
          </c:val>
        </c:ser>
        <c:dLbls>
          <c:showLegendKey val="0"/>
          <c:showVal val="1"/>
          <c:showCatName val="0"/>
          <c:showSerName val="0"/>
          <c:showPercent val="0"/>
          <c:showBubbleSize val="0"/>
        </c:dLbls>
        <c:gapWidth val="40"/>
        <c:axId val="2031358608"/>
        <c:axId val="2031359152"/>
      </c:barChart>
      <c:catAx>
        <c:axId val="2031358608"/>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31359152"/>
        <c:crosses val="autoZero"/>
        <c:auto val="1"/>
        <c:lblAlgn val="ctr"/>
        <c:lblOffset val="100"/>
        <c:noMultiLvlLbl val="1"/>
      </c:catAx>
      <c:valAx>
        <c:axId val="2031359152"/>
        <c:scaling>
          <c:orientation val="minMax"/>
        </c:scaling>
        <c:delete val="1"/>
        <c:axPos val="t"/>
        <c:numFmt formatCode="General" sourceLinked="0"/>
        <c:majorTickMark val="out"/>
        <c:minorTickMark val="none"/>
        <c:tickLblPos val="low"/>
        <c:crossAx val="203135860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8260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query: part2-sql/03_business_questions.sql in https://github.com/Shailesh-Pawar-18/Telecom-Customer-Churn-Analysis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query: part2-sql/03_business_questions.sql in https://github.com/Shailesh-Pawar-18/Telecom-Customer-Churn-Analysis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query: part2-sql/03_business_questions.sql in https://github.com/Shailesh-Pawar-18/Telecom-Customer-Churn-Analysis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query: part2-sql/03_business_questions.sql in https://github.com/Shailesh-Pawar-18/Telecom-Customer-Churn-Analysis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query: part2-sql/03_business_questions.sql in https://github.com/Shailesh-Pawar-18/Telecom-Customer-Churn-Analysis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query: part2-sql/03_business_questions.sql in https://github.com/Shailesh-Pawar-18/Telecom-Customer-Churn-Analysis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query: part2-sql/03_business_questions.sql in https://github.com/Shailesh-Pawar-18/Telecom-Customer-Churn-Analysis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query: part2-sql/03_business_questions.sql in https://github.com/Shailesh-Pawar-18/Telecom-Customer-Churn-Analysis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query: part2-sql/03_business_questions.sql in https://github.com/Shailesh-Pawar-18/Telecom-Customer-Churn-Analysis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query: part2-sql/03_business_questions.sql in https://github.com/Shailesh-Pawar-18/Telecom-Customer-Churn-Analysis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patterns in observational data, not proven causes. Revenue lost is the monthly bill of churned customers, an estimate.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inkedin.com/in/shaileshpawar-cse" TargetMode="External"/><Relationship Id="rId7" Type="http://schemas.openxmlformats.org/officeDocument/2006/relationships/hyperlink" Target="https://github.com/Shailesh-Pawar-18/Telecom-Customer-Churn-Analysi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github.com/Shailesh-Pawar-18"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linkedin.com/in/shaileshpawar-cse" TargetMode="External"/><Relationship Id="rId7" Type="http://schemas.openxmlformats.org/officeDocument/2006/relationships/hyperlink" Target="https://github.com/Shailesh-Pawar-18/Telecom-Customer-Churn-Analysis"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github.com/Shailesh-Pawar-18"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a:effectLst/>
      </p:bgPr>
    </p:bg>
    <p:spTree>
      <p:nvGrpSpPr>
        <p:cNvPr id="1" name=""/>
        <p:cNvGrpSpPr/>
        <p:nvPr/>
      </p:nvGrpSpPr>
      <p:grpSpPr>
        <a:xfrm>
          <a:off x="0" y="0"/>
          <a:ext cx="0" cy="0"/>
          <a:chOff x="0" y="0"/>
          <a:chExt cx="0" cy="0"/>
        </a:xfrm>
      </p:grpSpPr>
      <p:sp>
        <p:nvSpPr>
          <p:cNvPr id="2" name="Shape 0"/>
          <p:cNvSpPr/>
          <p:nvPr/>
        </p:nvSpPr>
        <p:spPr>
          <a:xfrm>
            <a:off x="6400800" y="1188720"/>
            <a:ext cx="4754880" cy="4754880"/>
          </a:xfrm>
          <a:prstGeom prst="ellipse">
            <a:avLst/>
          </a:prstGeom>
          <a:solidFill>
            <a:srgbClr val="13294B"/>
          </a:solidFill>
          <a:ln w="19050">
            <a:solidFill>
              <a:srgbClr val="22D3EE"/>
            </a:solidFill>
            <a:prstDash val="solid"/>
          </a:ln>
        </p:spPr>
      </p:sp>
      <p:sp>
        <p:nvSpPr>
          <p:cNvPr id="3" name="Shape 1"/>
          <p:cNvSpPr/>
          <p:nvPr/>
        </p:nvSpPr>
        <p:spPr>
          <a:xfrm>
            <a:off x="7680960" y="1828800"/>
            <a:ext cx="3474720" cy="3474720"/>
          </a:xfrm>
          <a:prstGeom prst="ellipse">
            <a:avLst/>
          </a:prstGeom>
          <a:solidFill>
            <a:srgbClr val="13294B">
              <a:alpha val="80000"/>
            </a:srgbClr>
          </a:solidFill>
          <a:ln w="19050">
            <a:solidFill>
              <a:srgbClr val="22D3EE">
                <a:alpha val="80000"/>
              </a:srgbClr>
            </a:solidFill>
            <a:prstDash val="solid"/>
          </a:ln>
        </p:spPr>
      </p:sp>
      <p:sp>
        <p:nvSpPr>
          <p:cNvPr id="4" name="Shape 2"/>
          <p:cNvSpPr/>
          <p:nvPr/>
        </p:nvSpPr>
        <p:spPr>
          <a:xfrm>
            <a:off x="8961120" y="2468880"/>
            <a:ext cx="2194560" cy="2194560"/>
          </a:xfrm>
          <a:prstGeom prst="ellipse">
            <a:avLst/>
          </a:prstGeom>
          <a:solidFill>
            <a:srgbClr val="13294B">
              <a:alpha val="60000"/>
            </a:srgbClr>
          </a:solidFill>
          <a:ln w="19050">
            <a:solidFill>
              <a:srgbClr val="22D3EE">
                <a:alpha val="60000"/>
              </a:srgbClr>
            </a:solidFill>
            <a:prstDash val="solid"/>
          </a:ln>
        </p:spPr>
      </p:sp>
      <p:sp>
        <p:nvSpPr>
          <p:cNvPr id="5" name="Text 3"/>
          <p:cNvSpPr/>
          <p:nvPr/>
        </p:nvSpPr>
        <p:spPr>
          <a:xfrm>
            <a:off x="731520" y="731520"/>
            <a:ext cx="3840480" cy="365760"/>
          </a:xfrm>
          <a:prstGeom prst="roundRect">
            <a:avLst>
              <a:gd name="adj" fmla="val 50000"/>
            </a:avLst>
          </a:prstGeom>
          <a:solidFill>
            <a:srgbClr val="13294B"/>
          </a:solidFill>
          <a:ln/>
        </p:spPr>
        <p:txBody>
          <a:bodyPr wrap="square" rtlCol="0" anchor="ctr"/>
          <a:lstStyle/>
          <a:p>
            <a:pPr marL="0" indent="0" algn="ctr">
              <a:buNone/>
            </a:pPr>
            <a:r>
              <a:rPr lang="en-US" sz="1200" b="1" dirty="0">
                <a:solidFill>
                  <a:srgbClr val="22D3EE"/>
                </a:solidFill>
              </a:rPr>
              <a:t>THE CHURN FILES  |  PART 2</a:t>
            </a:r>
            <a:endParaRPr lang="en-US" sz="1200" dirty="0"/>
          </a:p>
        </p:txBody>
      </p:sp>
      <p:sp>
        <p:nvSpPr>
          <p:cNvPr id="6" name="Text 4"/>
          <p:cNvSpPr txBox="1"/>
          <p:nvPr/>
        </p:nvSpPr>
        <p:spPr>
          <a:xfrm>
            <a:off x="731520" y="1554480"/>
            <a:ext cx="7315200" cy="13716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TELECOM CUSTOMER CHURN</a:t>
            </a:r>
            <a:endParaRPr lang="en-US" sz="4600" dirty="0"/>
          </a:p>
        </p:txBody>
      </p:sp>
      <p:sp>
        <p:nvSpPr>
          <p:cNvPr id="7" name="Text 5"/>
          <p:cNvSpPr txBox="1"/>
          <p:nvPr/>
        </p:nvSpPr>
        <p:spPr>
          <a:xfrm>
            <a:off x="731520" y="3017520"/>
            <a:ext cx="6858000" cy="822960"/>
          </a:xfrm>
          <a:prstGeom prst="rect">
            <a:avLst/>
          </a:prstGeom>
          <a:noFill/>
          <a:ln/>
        </p:spPr>
        <p:txBody>
          <a:bodyPr wrap="square" lIns="0" tIns="0" rIns="0" bIns="0" rtlCol="0" anchor="ctr"/>
          <a:lstStyle/>
          <a:p>
            <a:pPr marL="0" indent="0">
              <a:buNone/>
            </a:pPr>
            <a:r>
              <a:rPr lang="en-US" sz="2000" dirty="0">
                <a:solidFill>
                  <a:srgbClr val="BAE6FD"/>
                </a:solidFill>
              </a:rPr>
              <a:t>A SQL project on churn drivers, revenue loss and retention</a:t>
            </a:r>
            <a:endParaRPr lang="en-US" sz="2000" dirty="0"/>
          </a:p>
        </p:txBody>
      </p:sp>
      <p:sp>
        <p:nvSpPr>
          <p:cNvPr id="8" name="Text 6"/>
          <p:cNvSpPr/>
          <p:nvPr/>
        </p:nvSpPr>
        <p:spPr>
          <a:xfrm>
            <a:off x="731520" y="4023360"/>
            <a:ext cx="3108960" cy="457200"/>
          </a:xfrm>
          <a:prstGeom prst="roundRect">
            <a:avLst>
              <a:gd name="adj" fmla="val 50000"/>
            </a:avLst>
          </a:prstGeom>
          <a:solidFill>
            <a:srgbClr val="22D3EE"/>
          </a:solidFill>
          <a:ln/>
        </p:spPr>
        <p:txBody>
          <a:bodyPr wrap="square" rtlCol="0" anchor="ctr"/>
          <a:lstStyle/>
          <a:p>
            <a:pPr marL="0" indent="0" algn="ctr">
              <a:buNone/>
            </a:pPr>
            <a:r>
              <a:rPr lang="en-US" sz="1500" b="1" dirty="0">
                <a:solidFill>
                  <a:srgbClr val="0B1B33"/>
                </a:solidFill>
              </a:rPr>
              <a:t>by SHAILESH PAWAR</a:t>
            </a:r>
            <a:endParaRPr lang="en-US" sz="1500" dirty="0"/>
          </a:p>
        </p:txBody>
      </p:sp>
      <p:sp>
        <p:nvSpPr>
          <p:cNvPr id="9" name="Shape 7"/>
          <p:cNvSpPr/>
          <p:nvPr/>
        </p:nvSpPr>
        <p:spPr>
          <a:xfrm>
            <a:off x="731520" y="4709160"/>
            <a:ext cx="1828800" cy="457200"/>
          </a:xfrm>
          <a:prstGeom prst="roundRect">
            <a:avLst>
              <a:gd name="adj" fmla="val 50000"/>
            </a:avLst>
          </a:prstGeom>
          <a:solidFill>
            <a:srgbClr val="FFFFFF"/>
          </a:solidFill>
          <a:ln w="12700">
            <a:solidFill>
              <a:srgbClr val="FFFFFF"/>
            </a:solidFill>
            <a:prstDash val="solid"/>
          </a:ln>
        </p:spPr>
      </p:sp>
      <p:pic>
        <p:nvPicPr>
          <p:cNvPr id="10" name="Image 0" descr="preencoded.png">
            <a:hlinkClick r:id="rId3" tooltip="https://linkedin.com/in/shaileshpawar-cse"/>
          </p:cNvPr>
          <p:cNvPicPr>
            <a:picLocks noChangeAspect="1"/>
          </p:cNvPicPr>
          <p:nvPr/>
        </p:nvPicPr>
        <p:blipFill>
          <a:blip r:embed="rId4"/>
          <a:stretch>
            <a:fillRect/>
          </a:stretch>
        </p:blipFill>
        <p:spPr>
          <a:xfrm>
            <a:off x="886968" y="4800600"/>
            <a:ext cx="274320" cy="274320"/>
          </a:xfrm>
          <a:prstGeom prst="rect">
            <a:avLst/>
          </a:prstGeom>
        </p:spPr>
      </p:pic>
      <p:sp>
        <p:nvSpPr>
          <p:cNvPr id="11" name="Text 8">
            <a:hlinkClick r:id="rId3" tooltip="https://linkedin.com/in/shaileshpawar-cse"/>
          </p:cNvPr>
          <p:cNvSpPr txBox="1"/>
          <p:nvPr/>
        </p:nvSpPr>
        <p:spPr>
          <a:xfrm>
            <a:off x="1261872" y="4709160"/>
            <a:ext cx="1234440" cy="457200"/>
          </a:xfrm>
          <a:prstGeom prst="rect">
            <a:avLst/>
          </a:prstGeom>
          <a:noFill/>
          <a:ln/>
        </p:spPr>
        <p:txBody>
          <a:bodyPr wrap="square" lIns="0" tIns="0" rIns="0" bIns="0" rtlCol="0" anchor="ctr"/>
          <a:lstStyle/>
          <a:p>
            <a:pPr marL="0" indent="0" algn="l">
              <a:buNone/>
            </a:pPr>
            <a:r>
              <a:rPr lang="en-US" sz="1400" b="1" u="sng" dirty="0">
                <a:solidFill>
                  <a:srgbClr val="0B1B33"/>
                </a:solidFill>
                <a:latin typeface="Calibri" pitchFamily="34" charset="0"/>
                <a:ea typeface="Calibri" pitchFamily="34" charset="-122"/>
                <a:cs typeface="Calibri" pitchFamily="34" charset="-120"/>
                <a:hlinkClick r:id="rId3" tooltip="https://linkedin.com/in/shaileshpawar-cse">
                  <a:extLst>
                    <a:ext uri="{A12FA001-AC4F-418D-AE19-62706E023703}">
                      <ahyp:hlinkClr xmlns:ahyp="http://schemas.microsoft.com/office/drawing/2018/hyperlinkcolor" xmlns="" val="tx"/>
                    </a:ext>
                  </a:extLst>
                </a:hlinkClick>
              </a:rPr>
              <a:t>LinkedIn</a:t>
            </a:r>
            <a:endParaRPr lang="en-US" sz="1400" dirty="0"/>
          </a:p>
        </p:txBody>
      </p:sp>
      <p:sp>
        <p:nvSpPr>
          <p:cNvPr id="12" name="Shape 9"/>
          <p:cNvSpPr/>
          <p:nvPr/>
        </p:nvSpPr>
        <p:spPr>
          <a:xfrm>
            <a:off x="2697480" y="4709160"/>
            <a:ext cx="1828800" cy="457200"/>
          </a:xfrm>
          <a:prstGeom prst="roundRect">
            <a:avLst>
              <a:gd name="adj" fmla="val 50000"/>
            </a:avLst>
          </a:prstGeom>
          <a:solidFill>
            <a:srgbClr val="FFFFFF"/>
          </a:solidFill>
          <a:ln w="12700">
            <a:solidFill>
              <a:srgbClr val="FFFFFF"/>
            </a:solidFill>
            <a:prstDash val="solid"/>
          </a:ln>
        </p:spPr>
      </p:sp>
      <p:pic>
        <p:nvPicPr>
          <p:cNvPr id="13" name="Image 1" descr="preencoded.png">
            <a:hlinkClick r:id="rId5" tooltip="https://github.com/Shailesh-Pawar-18"/>
          </p:cNvPr>
          <p:cNvPicPr>
            <a:picLocks noChangeAspect="1"/>
          </p:cNvPicPr>
          <p:nvPr/>
        </p:nvPicPr>
        <p:blipFill>
          <a:blip r:embed="rId6"/>
          <a:stretch>
            <a:fillRect/>
          </a:stretch>
        </p:blipFill>
        <p:spPr>
          <a:xfrm>
            <a:off x="2852928" y="4800600"/>
            <a:ext cx="274320" cy="274320"/>
          </a:xfrm>
          <a:prstGeom prst="rect">
            <a:avLst/>
          </a:prstGeom>
        </p:spPr>
      </p:pic>
      <p:sp>
        <p:nvSpPr>
          <p:cNvPr id="14" name="Text 10">
            <a:hlinkClick r:id="rId5" tooltip="https://github.com/Shailesh-Pawar-18"/>
          </p:cNvPr>
          <p:cNvSpPr txBox="1"/>
          <p:nvPr/>
        </p:nvSpPr>
        <p:spPr>
          <a:xfrm>
            <a:off x="3227832" y="4709160"/>
            <a:ext cx="1234440" cy="457200"/>
          </a:xfrm>
          <a:prstGeom prst="rect">
            <a:avLst/>
          </a:prstGeom>
          <a:noFill/>
          <a:ln/>
        </p:spPr>
        <p:txBody>
          <a:bodyPr wrap="square" lIns="0" tIns="0" rIns="0" bIns="0" rtlCol="0" anchor="ctr"/>
          <a:lstStyle/>
          <a:p>
            <a:pPr marL="0" indent="0" algn="l">
              <a:buNone/>
            </a:pPr>
            <a:r>
              <a:rPr lang="en-US" sz="1400" b="1" u="sng" dirty="0">
                <a:solidFill>
                  <a:srgbClr val="0B1B33"/>
                </a:solidFill>
                <a:latin typeface="Calibri" pitchFamily="34" charset="0"/>
                <a:ea typeface="Calibri" pitchFamily="34" charset="-122"/>
                <a:cs typeface="Calibri" pitchFamily="34" charset="-120"/>
                <a:hlinkClick r:id="rId5" tooltip="https://github.com/Shailesh-Pawar-18">
                  <a:extLst>
                    <a:ext uri="{A12FA001-AC4F-418D-AE19-62706E023703}">
                      <ahyp:hlinkClr xmlns:ahyp="http://schemas.microsoft.com/office/drawing/2018/hyperlinkcolor" xmlns="" val="tx"/>
                    </a:ext>
                  </a:extLst>
                </a:hlinkClick>
              </a:rPr>
              <a:t>GitHub</a:t>
            </a:r>
            <a:endParaRPr lang="en-US" sz="1400" dirty="0"/>
          </a:p>
        </p:txBody>
      </p:sp>
      <p:sp>
        <p:nvSpPr>
          <p:cNvPr id="15" name="Shape 11"/>
          <p:cNvSpPr/>
          <p:nvPr/>
        </p:nvSpPr>
        <p:spPr>
          <a:xfrm>
            <a:off x="4663440" y="4709160"/>
            <a:ext cx="2194560" cy="457200"/>
          </a:xfrm>
          <a:prstGeom prst="roundRect">
            <a:avLst>
              <a:gd name="adj" fmla="val 50000"/>
            </a:avLst>
          </a:prstGeom>
          <a:solidFill>
            <a:srgbClr val="F59E0B"/>
          </a:solidFill>
          <a:ln w="12700">
            <a:solidFill>
              <a:srgbClr val="F59E0B"/>
            </a:solidFill>
            <a:prstDash val="solid"/>
          </a:ln>
        </p:spPr>
      </p:sp>
      <p:pic>
        <p:nvPicPr>
          <p:cNvPr id="16" name="Image 2" descr="preencoded.png">
            <a:hlinkClick r:id="rId7" tooltip="https://github.com/Shailesh-Pawar-18/Telecom-Customer-Churn-Analysis"/>
          </p:cNvPr>
          <p:cNvPicPr>
            <a:picLocks noChangeAspect="1"/>
          </p:cNvPicPr>
          <p:nvPr/>
        </p:nvPicPr>
        <p:blipFill>
          <a:blip r:embed="rId6"/>
          <a:stretch>
            <a:fillRect/>
          </a:stretch>
        </p:blipFill>
        <p:spPr>
          <a:xfrm>
            <a:off x="4818888" y="4800600"/>
            <a:ext cx="274320" cy="274320"/>
          </a:xfrm>
          <a:prstGeom prst="rect">
            <a:avLst/>
          </a:prstGeom>
        </p:spPr>
      </p:pic>
      <p:sp>
        <p:nvSpPr>
          <p:cNvPr id="17" name="Text 12">
            <a:hlinkClick r:id="rId7" tooltip="https://github.com/Shailesh-Pawar-18/Telecom-Customer-Churn-Analysis"/>
          </p:cNvPr>
          <p:cNvSpPr txBox="1"/>
          <p:nvPr/>
        </p:nvSpPr>
        <p:spPr>
          <a:xfrm>
            <a:off x="5193792" y="4709160"/>
            <a:ext cx="1600200" cy="457200"/>
          </a:xfrm>
          <a:prstGeom prst="rect">
            <a:avLst/>
          </a:prstGeom>
          <a:noFill/>
          <a:ln/>
        </p:spPr>
        <p:txBody>
          <a:bodyPr wrap="square" lIns="0" tIns="0" rIns="0" bIns="0" rtlCol="0" anchor="ctr"/>
          <a:lstStyle/>
          <a:p>
            <a:pPr marL="0" indent="0" algn="l">
              <a:buNone/>
            </a:pPr>
            <a:r>
              <a:rPr lang="en-US" sz="1400" b="1" u="sng" dirty="0">
                <a:solidFill>
                  <a:srgbClr val="0B1B33"/>
                </a:solidFill>
                <a:latin typeface="Calibri" pitchFamily="34" charset="0"/>
                <a:ea typeface="Calibri" pitchFamily="34" charset="-122"/>
                <a:cs typeface="Calibri" pitchFamily="34" charset="-120"/>
                <a:hlinkClick r:id="rId7" tooltip="https://github.com/Shailesh-Pawar-18/Telecom-Customer-Churn-Analysis">
                  <a:extLst>
                    <a:ext uri="{A12FA001-AC4F-418D-AE19-62706E023703}">
                      <ahyp:hlinkClr xmlns:ahyp="http://schemas.microsoft.com/office/drawing/2018/hyperlinkcolor" xmlns="" val="tx"/>
                    </a:ext>
                  </a:extLst>
                </a:hlinkClick>
              </a:rPr>
              <a:t>Project Repo</a:t>
            </a:r>
            <a:endParaRPr lang="en-US" sz="1400" dirty="0"/>
          </a:p>
        </p:txBody>
      </p:sp>
      <p:sp>
        <p:nvSpPr>
          <p:cNvPr id="18" name="Text 13"/>
          <p:cNvSpPr txBox="1"/>
          <p:nvPr/>
        </p:nvSpPr>
        <p:spPr>
          <a:xfrm>
            <a:off x="731520" y="5669280"/>
            <a:ext cx="7315200" cy="365760"/>
          </a:xfrm>
          <a:prstGeom prst="rect">
            <a:avLst/>
          </a:prstGeom>
          <a:noFill/>
          <a:ln/>
        </p:spPr>
        <p:txBody>
          <a:bodyPr wrap="square" lIns="0" tIns="0" rIns="0" bIns="0" rtlCol="0" anchor="ctr"/>
          <a:lstStyle/>
          <a:p>
            <a:pPr marL="0" indent="0">
              <a:buNone/>
            </a:pPr>
            <a:r>
              <a:rPr lang="en-US" sz="1400" dirty="0">
                <a:solidFill>
                  <a:srgbClr val="94A3B8"/>
                </a:solidFill>
              </a:rPr>
              <a:t>5,463 customers  |  4 tables  |  10 business questions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3000" b="1" dirty="0">
                <a:solidFill>
                  <a:srgbClr val="0B1B33"/>
                </a:solidFill>
                <a:latin typeface="Cambria" pitchFamily="34" charset="0"/>
                <a:ea typeface="Cambria" pitchFamily="34" charset="-122"/>
                <a:cs typeface="Cambria" pitchFamily="34" charset="-120"/>
              </a:rPr>
              <a:t>Problem Statement &amp; Objectives</a:t>
            </a:r>
            <a:endParaRPr lang="en-US" sz="30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CONTEXT</a:t>
            </a:r>
            <a:endParaRPr lang="en-US" sz="1100" dirty="0"/>
          </a:p>
        </p:txBody>
      </p:sp>
      <p:sp>
        <p:nvSpPr>
          <p:cNvPr id="8" name="Text 6"/>
          <p:cNvSpPr txBox="1"/>
          <p:nvPr/>
        </p:nvSpPr>
        <p:spPr>
          <a:xfrm>
            <a:off x="548640" y="1280160"/>
            <a:ext cx="5120640" cy="2194560"/>
          </a:xfrm>
          <a:prstGeom prst="rect">
            <a:avLst/>
          </a:prstGeom>
          <a:noFill/>
          <a:ln/>
        </p:spPr>
        <p:txBody>
          <a:bodyPr wrap="square" lIns="0" tIns="0" rIns="0" bIns="0" rtlCol="0" anchor="t"/>
          <a:lstStyle/>
          <a:p>
            <a:pPr marL="0" indent="0">
              <a:buNone/>
            </a:pPr>
            <a:r>
              <a:rPr lang="en-US" sz="1800" dirty="0">
                <a:solidFill>
                  <a:srgbClr val="0B1B33"/>
                </a:solidFill>
              </a:rPr>
              <a:t>A telecom company is losing about 1 in 4 customers. Each lost customer takes a monthly bill with them, and the team does not know where the churn comes from or who to save first.</a:t>
            </a:r>
            <a:endParaRPr lang="en-US" sz="1800" dirty="0"/>
          </a:p>
        </p:txBody>
      </p:sp>
      <p:sp>
        <p:nvSpPr>
          <p:cNvPr id="9" name="Text 7"/>
          <p:cNvSpPr txBox="1"/>
          <p:nvPr/>
        </p:nvSpPr>
        <p:spPr>
          <a:xfrm>
            <a:off x="548640" y="3749040"/>
            <a:ext cx="5120640" cy="822960"/>
          </a:xfrm>
          <a:prstGeom prst="rect">
            <a:avLst/>
          </a:prstGeom>
          <a:noFill/>
          <a:ln/>
        </p:spPr>
        <p:txBody>
          <a:bodyPr wrap="square" lIns="0" tIns="0" rIns="0" bIns="0" rtlCol="0" anchor="ctr"/>
          <a:lstStyle/>
          <a:p>
            <a:pPr marL="0" indent="0">
              <a:buNone/>
            </a:pPr>
            <a:r>
              <a:rPr lang="en-US" sz="3400" b="1" dirty="0">
                <a:solidFill>
                  <a:srgbClr val="0B1B33"/>
                </a:solidFill>
              </a:rPr>
              <a:t>5,463  </a:t>
            </a:r>
            <a:r>
              <a:rPr lang="en-US" sz="3400" b="1" dirty="0">
                <a:solidFill>
                  <a:srgbClr val="F43F5E"/>
                </a:solidFill>
              </a:rPr>
              <a:t>22.7%  </a:t>
            </a:r>
            <a:r>
              <a:rPr lang="en-US" sz="3400" b="1" dirty="0">
                <a:solidFill>
                  <a:srgbClr val="F59E0B"/>
                </a:solidFill>
              </a:rPr>
              <a:t>$1M  </a:t>
            </a:r>
            <a:endParaRPr lang="en-US" sz="3400" dirty="0"/>
          </a:p>
        </p:txBody>
      </p:sp>
      <p:sp>
        <p:nvSpPr>
          <p:cNvPr id="10" name="Text 8"/>
          <p:cNvSpPr txBox="1"/>
          <p:nvPr/>
        </p:nvSpPr>
        <p:spPr>
          <a:xfrm>
            <a:off x="548640" y="4526280"/>
            <a:ext cx="5120640" cy="365760"/>
          </a:xfrm>
          <a:prstGeom prst="rect">
            <a:avLst/>
          </a:prstGeom>
          <a:noFill/>
          <a:ln/>
        </p:spPr>
        <p:txBody>
          <a:bodyPr wrap="square" lIns="0" tIns="0" rIns="0" bIns="0" rtlCol="0" anchor="ctr"/>
          <a:lstStyle/>
          <a:p>
            <a:pPr marL="0" indent="0">
              <a:buNone/>
            </a:pPr>
            <a:r>
              <a:rPr lang="en-US" sz="1300" dirty="0">
                <a:solidFill>
                  <a:srgbClr val="64748B"/>
                </a:solidFill>
              </a:rPr>
              <a:t>customers   |   churn rate   |   revenue lost per year</a:t>
            </a:r>
            <a:endParaRPr lang="en-US" sz="1300" dirty="0"/>
          </a:p>
        </p:txBody>
      </p:sp>
      <p:sp>
        <p:nvSpPr>
          <p:cNvPr id="11" name="Shape 9"/>
          <p:cNvSpPr/>
          <p:nvPr/>
        </p:nvSpPr>
        <p:spPr>
          <a:xfrm>
            <a:off x="6126480" y="1280160"/>
            <a:ext cx="5532120" cy="868680"/>
          </a:xfrm>
          <a:prstGeom prst="roundRect">
            <a:avLst>
              <a:gd name="adj" fmla="val 10526"/>
            </a:avLst>
          </a:prstGeom>
          <a:solidFill>
            <a:srgbClr val="FFFFFF"/>
          </a:solidFill>
          <a:ln w="12700">
            <a:solidFill>
              <a:srgbClr val="D5E1EE"/>
            </a:solidFill>
            <a:prstDash val="solid"/>
          </a:ln>
        </p:spPr>
      </p:sp>
      <p:sp>
        <p:nvSpPr>
          <p:cNvPr id="12" name="Text 10"/>
          <p:cNvSpPr/>
          <p:nvPr/>
        </p:nvSpPr>
        <p:spPr>
          <a:xfrm>
            <a:off x="6309360" y="1417320"/>
            <a:ext cx="594360" cy="594360"/>
          </a:xfrm>
          <a:prstGeom prst="ellipse">
            <a:avLst/>
          </a:prstGeom>
          <a:solidFill>
            <a:srgbClr val="22D3EE"/>
          </a:solidFill>
          <a:ln/>
        </p:spPr>
        <p:txBody>
          <a:bodyPr wrap="square" rtlCol="0" anchor="ctr"/>
          <a:lstStyle/>
          <a:p>
            <a:pPr marL="0" indent="0" algn="ctr">
              <a:buNone/>
            </a:pPr>
            <a:r>
              <a:rPr lang="en-US" sz="1800" b="1" dirty="0">
                <a:solidFill>
                  <a:srgbClr val="0B1B33"/>
                </a:solidFill>
              </a:rPr>
              <a:t>1</a:t>
            </a:r>
            <a:endParaRPr lang="en-US" sz="1800" dirty="0"/>
          </a:p>
        </p:txBody>
      </p:sp>
      <p:sp>
        <p:nvSpPr>
          <p:cNvPr id="13" name="Text 11"/>
          <p:cNvSpPr txBox="1"/>
          <p:nvPr/>
        </p:nvSpPr>
        <p:spPr>
          <a:xfrm>
            <a:off x="7086600" y="1280160"/>
            <a:ext cx="4480560" cy="868680"/>
          </a:xfrm>
          <a:prstGeom prst="rect">
            <a:avLst/>
          </a:prstGeom>
          <a:noFill/>
          <a:ln/>
        </p:spPr>
        <p:txBody>
          <a:bodyPr wrap="square" lIns="0" tIns="0" rIns="0" bIns="0" rtlCol="0" anchor="ctr"/>
          <a:lstStyle/>
          <a:p>
            <a:pPr marL="0" indent="0">
              <a:buNone/>
            </a:pPr>
            <a:r>
              <a:rPr lang="en-US" sz="1500" dirty="0">
                <a:solidFill>
                  <a:srgbClr val="0B1B33"/>
                </a:solidFill>
              </a:rPr>
              <a:t>Build a relational database from the cleaned EDA data</a:t>
            </a:r>
            <a:endParaRPr lang="en-US" sz="1500" dirty="0"/>
          </a:p>
        </p:txBody>
      </p:sp>
      <p:sp>
        <p:nvSpPr>
          <p:cNvPr id="14" name="Shape 12"/>
          <p:cNvSpPr/>
          <p:nvPr/>
        </p:nvSpPr>
        <p:spPr>
          <a:xfrm>
            <a:off x="6126480" y="2331720"/>
            <a:ext cx="5532120" cy="868680"/>
          </a:xfrm>
          <a:prstGeom prst="roundRect">
            <a:avLst>
              <a:gd name="adj" fmla="val 10526"/>
            </a:avLst>
          </a:prstGeom>
          <a:solidFill>
            <a:srgbClr val="FFFFFF"/>
          </a:solidFill>
          <a:ln w="12700">
            <a:solidFill>
              <a:srgbClr val="D5E1EE"/>
            </a:solidFill>
            <a:prstDash val="solid"/>
          </a:ln>
        </p:spPr>
      </p:sp>
      <p:sp>
        <p:nvSpPr>
          <p:cNvPr id="15" name="Text 13"/>
          <p:cNvSpPr/>
          <p:nvPr/>
        </p:nvSpPr>
        <p:spPr>
          <a:xfrm>
            <a:off x="6309360" y="2468880"/>
            <a:ext cx="594360" cy="594360"/>
          </a:xfrm>
          <a:prstGeom prst="ellipse">
            <a:avLst/>
          </a:prstGeom>
          <a:solidFill>
            <a:srgbClr val="F59E0B"/>
          </a:solidFill>
          <a:ln/>
        </p:spPr>
        <p:txBody>
          <a:bodyPr wrap="square" rtlCol="0" anchor="ctr"/>
          <a:lstStyle/>
          <a:p>
            <a:pPr marL="0" indent="0" algn="ctr">
              <a:buNone/>
            </a:pPr>
            <a:r>
              <a:rPr lang="en-US" sz="1800" b="1" dirty="0">
                <a:solidFill>
                  <a:srgbClr val="0B1B33"/>
                </a:solidFill>
              </a:rPr>
              <a:t>2</a:t>
            </a:r>
            <a:endParaRPr lang="en-US" sz="1800" dirty="0"/>
          </a:p>
        </p:txBody>
      </p:sp>
      <p:sp>
        <p:nvSpPr>
          <p:cNvPr id="16" name="Text 14"/>
          <p:cNvSpPr txBox="1"/>
          <p:nvPr/>
        </p:nvSpPr>
        <p:spPr>
          <a:xfrm>
            <a:off x="7086600" y="2331720"/>
            <a:ext cx="4480560" cy="868680"/>
          </a:xfrm>
          <a:prstGeom prst="rect">
            <a:avLst/>
          </a:prstGeom>
          <a:noFill/>
          <a:ln/>
        </p:spPr>
        <p:txBody>
          <a:bodyPr wrap="square" lIns="0" tIns="0" rIns="0" bIns="0" rtlCol="0" anchor="ctr"/>
          <a:lstStyle/>
          <a:p>
            <a:pPr marL="0" indent="0">
              <a:buNone/>
            </a:pPr>
            <a:r>
              <a:rPr lang="en-US" sz="1500" dirty="0">
                <a:solidFill>
                  <a:srgbClr val="0B1B33"/>
                </a:solidFill>
              </a:rPr>
              <a:t>Find what drives churn, using JOIN, GROUP BY and CASE</a:t>
            </a:r>
            <a:endParaRPr lang="en-US" sz="1500" dirty="0"/>
          </a:p>
        </p:txBody>
      </p:sp>
      <p:sp>
        <p:nvSpPr>
          <p:cNvPr id="17" name="Shape 15"/>
          <p:cNvSpPr/>
          <p:nvPr/>
        </p:nvSpPr>
        <p:spPr>
          <a:xfrm>
            <a:off x="6126480" y="3383280"/>
            <a:ext cx="5532120" cy="868680"/>
          </a:xfrm>
          <a:prstGeom prst="roundRect">
            <a:avLst>
              <a:gd name="adj" fmla="val 10526"/>
            </a:avLst>
          </a:prstGeom>
          <a:solidFill>
            <a:srgbClr val="FFFFFF"/>
          </a:solidFill>
          <a:ln w="12700">
            <a:solidFill>
              <a:srgbClr val="D5E1EE"/>
            </a:solidFill>
            <a:prstDash val="solid"/>
          </a:ln>
        </p:spPr>
      </p:sp>
      <p:sp>
        <p:nvSpPr>
          <p:cNvPr id="18" name="Text 16"/>
          <p:cNvSpPr/>
          <p:nvPr/>
        </p:nvSpPr>
        <p:spPr>
          <a:xfrm>
            <a:off x="6309360" y="3520440"/>
            <a:ext cx="594360" cy="594360"/>
          </a:xfrm>
          <a:prstGeom prst="ellipse">
            <a:avLst/>
          </a:prstGeom>
          <a:solidFill>
            <a:srgbClr val="22D3EE"/>
          </a:solidFill>
          <a:ln/>
        </p:spPr>
        <p:txBody>
          <a:bodyPr wrap="square" rtlCol="0" anchor="ctr"/>
          <a:lstStyle/>
          <a:p>
            <a:pPr marL="0" indent="0" algn="ctr">
              <a:buNone/>
            </a:pPr>
            <a:r>
              <a:rPr lang="en-US" sz="1800" b="1" dirty="0">
                <a:solidFill>
                  <a:srgbClr val="0B1B33"/>
                </a:solidFill>
              </a:rPr>
              <a:t>3</a:t>
            </a:r>
            <a:endParaRPr lang="en-US" sz="1800" dirty="0"/>
          </a:p>
        </p:txBody>
      </p:sp>
      <p:sp>
        <p:nvSpPr>
          <p:cNvPr id="19" name="Text 17"/>
          <p:cNvSpPr txBox="1"/>
          <p:nvPr/>
        </p:nvSpPr>
        <p:spPr>
          <a:xfrm>
            <a:off x="7086600" y="3383280"/>
            <a:ext cx="4480560" cy="868680"/>
          </a:xfrm>
          <a:prstGeom prst="rect">
            <a:avLst/>
          </a:prstGeom>
          <a:noFill/>
          <a:ln/>
        </p:spPr>
        <p:txBody>
          <a:bodyPr wrap="square" lIns="0" tIns="0" rIns="0" bIns="0" rtlCol="0" anchor="ctr"/>
          <a:lstStyle/>
          <a:p>
            <a:pPr marL="0" indent="0">
              <a:buNone/>
            </a:pPr>
            <a:r>
              <a:rPr lang="en-US" sz="1500" dirty="0">
                <a:solidFill>
                  <a:srgbClr val="0B1B33"/>
                </a:solidFill>
              </a:rPr>
              <a:t>Measure the revenue lost and the high-risk segment</a:t>
            </a:r>
            <a:endParaRPr lang="en-US" sz="1500" dirty="0"/>
          </a:p>
        </p:txBody>
      </p:sp>
      <p:sp>
        <p:nvSpPr>
          <p:cNvPr id="20" name="Shape 18"/>
          <p:cNvSpPr/>
          <p:nvPr/>
        </p:nvSpPr>
        <p:spPr>
          <a:xfrm>
            <a:off x="6126480" y="4434840"/>
            <a:ext cx="5532120" cy="868680"/>
          </a:xfrm>
          <a:prstGeom prst="roundRect">
            <a:avLst>
              <a:gd name="adj" fmla="val 10526"/>
            </a:avLst>
          </a:prstGeom>
          <a:solidFill>
            <a:srgbClr val="FFFFFF"/>
          </a:solidFill>
          <a:ln w="12700">
            <a:solidFill>
              <a:srgbClr val="D5E1EE"/>
            </a:solidFill>
            <a:prstDash val="solid"/>
          </a:ln>
        </p:spPr>
      </p:sp>
      <p:sp>
        <p:nvSpPr>
          <p:cNvPr id="21" name="Text 19"/>
          <p:cNvSpPr/>
          <p:nvPr/>
        </p:nvSpPr>
        <p:spPr>
          <a:xfrm>
            <a:off x="6309360" y="4572000"/>
            <a:ext cx="594360" cy="594360"/>
          </a:xfrm>
          <a:prstGeom prst="ellipse">
            <a:avLst/>
          </a:prstGeom>
          <a:solidFill>
            <a:srgbClr val="F59E0B"/>
          </a:solidFill>
          <a:ln/>
        </p:spPr>
        <p:txBody>
          <a:bodyPr wrap="square" rtlCol="0" anchor="ctr"/>
          <a:lstStyle/>
          <a:p>
            <a:pPr marL="0" indent="0" algn="ctr">
              <a:buNone/>
            </a:pPr>
            <a:r>
              <a:rPr lang="en-US" sz="1800" b="1" dirty="0">
                <a:solidFill>
                  <a:srgbClr val="0B1B33"/>
                </a:solidFill>
              </a:rPr>
              <a:t>4</a:t>
            </a:r>
            <a:endParaRPr lang="en-US" sz="1800" dirty="0"/>
          </a:p>
        </p:txBody>
      </p:sp>
      <p:sp>
        <p:nvSpPr>
          <p:cNvPr id="22" name="Text 20"/>
          <p:cNvSpPr txBox="1"/>
          <p:nvPr/>
        </p:nvSpPr>
        <p:spPr>
          <a:xfrm>
            <a:off x="7086600" y="4434840"/>
            <a:ext cx="4480560" cy="868680"/>
          </a:xfrm>
          <a:prstGeom prst="rect">
            <a:avLst/>
          </a:prstGeom>
          <a:noFill/>
          <a:ln/>
        </p:spPr>
        <p:txBody>
          <a:bodyPr wrap="square" lIns="0" tIns="0" rIns="0" bIns="0" rtlCol="0" anchor="ctr"/>
          <a:lstStyle/>
          <a:p>
            <a:pPr marL="0" indent="0">
              <a:buNone/>
            </a:pPr>
            <a:r>
              <a:rPr lang="en-US" sz="1500" dirty="0">
                <a:solidFill>
                  <a:srgbClr val="0B1B33"/>
                </a:solidFill>
              </a:rPr>
              <a:t>Give the retention team a clear call list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3000" b="1" dirty="0">
                <a:solidFill>
                  <a:srgbClr val="0B1B33"/>
                </a:solidFill>
                <a:latin typeface="Cambria" pitchFamily="34" charset="0"/>
                <a:ea typeface="Cambria" pitchFamily="34" charset="-122"/>
                <a:cs typeface="Cambria" pitchFamily="34" charset="-120"/>
              </a:rPr>
              <a:t>ER Diagram: 4 Linked Tables</a:t>
            </a:r>
            <a:endParaRPr lang="en-US" sz="30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DATABASE</a:t>
            </a:r>
            <a:endParaRPr lang="en-US" sz="1100" dirty="0"/>
          </a:p>
        </p:txBody>
      </p:sp>
      <p:sp>
        <p:nvSpPr>
          <p:cNvPr id="8" name="Shape 6"/>
          <p:cNvSpPr/>
          <p:nvPr/>
        </p:nvSpPr>
        <p:spPr>
          <a:xfrm>
            <a:off x="4754880" y="1280160"/>
            <a:ext cx="2651760" cy="1399032"/>
          </a:xfrm>
          <a:prstGeom prst="roundRect">
            <a:avLst>
              <a:gd name="adj" fmla="val 5229"/>
            </a:avLst>
          </a:prstGeom>
          <a:solidFill>
            <a:srgbClr val="FFFFFF"/>
          </a:solidFill>
          <a:ln w="19050">
            <a:solidFill>
              <a:srgbClr val="22D3EE"/>
            </a:solidFill>
            <a:prstDash val="solid"/>
          </a:ln>
        </p:spPr>
      </p:sp>
      <p:sp>
        <p:nvSpPr>
          <p:cNvPr id="9" name="Shape 7"/>
          <p:cNvSpPr/>
          <p:nvPr/>
        </p:nvSpPr>
        <p:spPr>
          <a:xfrm>
            <a:off x="4754880" y="1280160"/>
            <a:ext cx="2651760" cy="411480"/>
          </a:xfrm>
          <a:prstGeom prst="roundRect">
            <a:avLst>
              <a:gd name="adj" fmla="val 17778"/>
            </a:avLst>
          </a:prstGeom>
          <a:solidFill>
            <a:srgbClr val="22D3EE"/>
          </a:solidFill>
          <a:ln w="12700">
            <a:solidFill>
              <a:srgbClr val="22D3EE"/>
            </a:solidFill>
            <a:prstDash val="solid"/>
          </a:ln>
        </p:spPr>
      </p:sp>
      <p:sp>
        <p:nvSpPr>
          <p:cNvPr id="10" name="Text 8"/>
          <p:cNvSpPr txBox="1"/>
          <p:nvPr/>
        </p:nvSpPr>
        <p:spPr>
          <a:xfrm>
            <a:off x="4937760" y="1280160"/>
            <a:ext cx="2377440" cy="411480"/>
          </a:xfrm>
          <a:prstGeom prst="rect">
            <a:avLst/>
          </a:prstGeom>
          <a:noFill/>
          <a:ln/>
        </p:spPr>
        <p:txBody>
          <a:bodyPr wrap="square" lIns="0" tIns="0" rIns="0" bIns="0" rtlCol="0" anchor="ctr"/>
          <a:lstStyle/>
          <a:p>
            <a:pPr marL="0" indent="0">
              <a:buNone/>
            </a:pPr>
            <a:r>
              <a:rPr lang="en-US" sz="1500" b="1" dirty="0">
                <a:solidFill>
                  <a:srgbClr val="0B1B33"/>
                </a:solidFill>
                <a:latin typeface="Cambria" pitchFamily="34" charset="0"/>
                <a:ea typeface="Cambria" pitchFamily="34" charset="-122"/>
                <a:cs typeface="Cambria" pitchFamily="34" charset="-120"/>
              </a:rPr>
              <a:t>customers</a:t>
            </a:r>
            <a:endParaRPr lang="en-US" sz="1500" dirty="0"/>
          </a:p>
        </p:txBody>
      </p:sp>
      <p:sp>
        <p:nvSpPr>
          <p:cNvPr id="11" name="Shape 9"/>
          <p:cNvSpPr/>
          <p:nvPr/>
        </p:nvSpPr>
        <p:spPr>
          <a:xfrm>
            <a:off x="4892040" y="1801368"/>
            <a:ext cx="118872" cy="118872"/>
          </a:xfrm>
          <a:prstGeom prst="diamond">
            <a:avLst/>
          </a:prstGeom>
          <a:solidFill>
            <a:srgbClr val="F59E0B"/>
          </a:solidFill>
          <a:ln w="12700">
            <a:solidFill>
              <a:srgbClr val="F59E0B"/>
            </a:solidFill>
            <a:prstDash val="solid"/>
          </a:ln>
        </p:spPr>
      </p:sp>
      <p:sp>
        <p:nvSpPr>
          <p:cNvPr id="12" name="Text 10"/>
          <p:cNvSpPr txBox="1"/>
          <p:nvPr/>
        </p:nvSpPr>
        <p:spPr>
          <a:xfrm>
            <a:off x="5120640" y="1691640"/>
            <a:ext cx="914400" cy="329184"/>
          </a:xfrm>
          <a:prstGeom prst="rect">
            <a:avLst/>
          </a:prstGeom>
          <a:noFill/>
          <a:ln/>
        </p:spPr>
        <p:txBody>
          <a:bodyPr wrap="square" lIns="0" tIns="0" rIns="0" bIns="0" rtlCol="0" anchor="ctr"/>
          <a:lstStyle/>
          <a:p>
            <a:pPr marL="0" indent="0">
              <a:buNone/>
            </a:pPr>
            <a:r>
              <a:rPr lang="en-US" sz="1200" b="1" dirty="0">
                <a:solidFill>
                  <a:srgbClr val="0B1B33"/>
                </a:solidFill>
              </a:rPr>
              <a:t>CustomerID</a:t>
            </a:r>
            <a:endParaRPr lang="en-US" sz="1200" dirty="0"/>
          </a:p>
        </p:txBody>
      </p:sp>
      <p:sp>
        <p:nvSpPr>
          <p:cNvPr id="13" name="Text 11"/>
          <p:cNvSpPr txBox="1"/>
          <p:nvPr/>
        </p:nvSpPr>
        <p:spPr>
          <a:xfrm>
            <a:off x="6035040" y="1691640"/>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VARCHAR(20)</a:t>
            </a:r>
            <a:endParaRPr lang="en-US" sz="1050" dirty="0"/>
          </a:p>
        </p:txBody>
      </p:sp>
      <p:sp>
        <p:nvSpPr>
          <p:cNvPr id="14" name="Shape 12"/>
          <p:cNvSpPr/>
          <p:nvPr/>
        </p:nvSpPr>
        <p:spPr>
          <a:xfrm>
            <a:off x="4892040" y="2130552"/>
            <a:ext cx="118872" cy="118872"/>
          </a:xfrm>
          <a:prstGeom prst="ellipse">
            <a:avLst/>
          </a:prstGeom>
          <a:solidFill>
            <a:srgbClr val="FFFFFF"/>
          </a:solidFill>
          <a:ln w="12700">
            <a:solidFill>
              <a:srgbClr val="94A3B8"/>
            </a:solidFill>
            <a:prstDash val="solid"/>
          </a:ln>
        </p:spPr>
      </p:sp>
      <p:sp>
        <p:nvSpPr>
          <p:cNvPr id="15" name="Text 13"/>
          <p:cNvSpPr txBox="1"/>
          <p:nvPr/>
        </p:nvSpPr>
        <p:spPr>
          <a:xfrm>
            <a:off x="5120640" y="2020824"/>
            <a:ext cx="914400" cy="329184"/>
          </a:xfrm>
          <a:prstGeom prst="rect">
            <a:avLst/>
          </a:prstGeom>
          <a:noFill/>
          <a:ln/>
        </p:spPr>
        <p:txBody>
          <a:bodyPr wrap="square" lIns="0" tIns="0" rIns="0" bIns="0" rtlCol="0" anchor="ctr"/>
          <a:lstStyle/>
          <a:p>
            <a:pPr marL="0" indent="0">
              <a:buNone/>
            </a:pPr>
            <a:r>
              <a:rPr lang="en-US" sz="1200" dirty="0">
                <a:solidFill>
                  <a:srgbClr val="0B1B33"/>
                </a:solidFill>
              </a:rPr>
              <a:t>Gender</a:t>
            </a:r>
            <a:endParaRPr lang="en-US" sz="1200" dirty="0"/>
          </a:p>
        </p:txBody>
      </p:sp>
      <p:sp>
        <p:nvSpPr>
          <p:cNvPr id="16" name="Text 14"/>
          <p:cNvSpPr txBox="1"/>
          <p:nvPr/>
        </p:nvSpPr>
        <p:spPr>
          <a:xfrm>
            <a:off x="6035040" y="2020824"/>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VARCHAR(10)</a:t>
            </a:r>
            <a:endParaRPr lang="en-US" sz="1050" dirty="0"/>
          </a:p>
        </p:txBody>
      </p:sp>
      <p:sp>
        <p:nvSpPr>
          <p:cNvPr id="17" name="Shape 15"/>
          <p:cNvSpPr/>
          <p:nvPr/>
        </p:nvSpPr>
        <p:spPr>
          <a:xfrm>
            <a:off x="4892040" y="2459736"/>
            <a:ext cx="118872" cy="118872"/>
          </a:xfrm>
          <a:prstGeom prst="ellipse">
            <a:avLst/>
          </a:prstGeom>
          <a:solidFill>
            <a:srgbClr val="FFFFFF"/>
          </a:solidFill>
          <a:ln w="12700">
            <a:solidFill>
              <a:srgbClr val="94A3B8"/>
            </a:solidFill>
            <a:prstDash val="solid"/>
          </a:ln>
        </p:spPr>
      </p:sp>
      <p:sp>
        <p:nvSpPr>
          <p:cNvPr id="18" name="Text 16"/>
          <p:cNvSpPr txBox="1"/>
          <p:nvPr/>
        </p:nvSpPr>
        <p:spPr>
          <a:xfrm>
            <a:off x="5120640" y="2350008"/>
            <a:ext cx="914400" cy="329184"/>
          </a:xfrm>
          <a:prstGeom prst="rect">
            <a:avLst/>
          </a:prstGeom>
          <a:noFill/>
          <a:ln/>
        </p:spPr>
        <p:txBody>
          <a:bodyPr wrap="square" lIns="0" tIns="0" rIns="0" bIns="0" rtlCol="0" anchor="ctr"/>
          <a:lstStyle/>
          <a:p>
            <a:pPr marL="0" indent="0">
              <a:buNone/>
            </a:pPr>
            <a:r>
              <a:rPr lang="en-US" sz="1200" dirty="0">
                <a:solidFill>
                  <a:srgbClr val="0B1B33"/>
                </a:solidFill>
              </a:rPr>
              <a:t>SeniorCitizen</a:t>
            </a:r>
            <a:endParaRPr lang="en-US" sz="1200" dirty="0"/>
          </a:p>
        </p:txBody>
      </p:sp>
      <p:sp>
        <p:nvSpPr>
          <p:cNvPr id="19" name="Text 17"/>
          <p:cNvSpPr txBox="1"/>
          <p:nvPr/>
        </p:nvSpPr>
        <p:spPr>
          <a:xfrm>
            <a:off x="6035040" y="2350008"/>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INT</a:t>
            </a:r>
            <a:endParaRPr lang="en-US" sz="1050" dirty="0"/>
          </a:p>
        </p:txBody>
      </p:sp>
      <p:sp>
        <p:nvSpPr>
          <p:cNvPr id="20" name="Shape 18"/>
          <p:cNvSpPr/>
          <p:nvPr/>
        </p:nvSpPr>
        <p:spPr>
          <a:xfrm>
            <a:off x="640080" y="3566160"/>
            <a:ext cx="3383280" cy="1399032"/>
          </a:xfrm>
          <a:prstGeom prst="roundRect">
            <a:avLst>
              <a:gd name="adj" fmla="val 5229"/>
            </a:avLst>
          </a:prstGeom>
          <a:solidFill>
            <a:srgbClr val="FFFFFF"/>
          </a:solidFill>
          <a:ln w="19050">
            <a:solidFill>
              <a:srgbClr val="3B82F6"/>
            </a:solidFill>
            <a:prstDash val="solid"/>
          </a:ln>
        </p:spPr>
      </p:sp>
      <p:sp>
        <p:nvSpPr>
          <p:cNvPr id="21" name="Shape 19"/>
          <p:cNvSpPr/>
          <p:nvPr/>
        </p:nvSpPr>
        <p:spPr>
          <a:xfrm>
            <a:off x="640080" y="3566160"/>
            <a:ext cx="3383280" cy="411480"/>
          </a:xfrm>
          <a:prstGeom prst="roundRect">
            <a:avLst>
              <a:gd name="adj" fmla="val 17778"/>
            </a:avLst>
          </a:prstGeom>
          <a:solidFill>
            <a:srgbClr val="3B82F6"/>
          </a:solidFill>
          <a:ln w="12700">
            <a:solidFill>
              <a:srgbClr val="3B82F6"/>
            </a:solidFill>
            <a:prstDash val="solid"/>
          </a:ln>
        </p:spPr>
      </p:sp>
      <p:sp>
        <p:nvSpPr>
          <p:cNvPr id="22" name="Text 20"/>
          <p:cNvSpPr txBox="1"/>
          <p:nvPr/>
        </p:nvSpPr>
        <p:spPr>
          <a:xfrm>
            <a:off x="822960" y="3566160"/>
            <a:ext cx="3108960" cy="41148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services</a:t>
            </a:r>
            <a:endParaRPr lang="en-US" sz="1500" dirty="0"/>
          </a:p>
        </p:txBody>
      </p:sp>
      <p:sp>
        <p:nvSpPr>
          <p:cNvPr id="23" name="Shape 21"/>
          <p:cNvSpPr/>
          <p:nvPr/>
        </p:nvSpPr>
        <p:spPr>
          <a:xfrm>
            <a:off x="777240" y="4087368"/>
            <a:ext cx="118872" cy="118872"/>
          </a:xfrm>
          <a:prstGeom prst="diamond">
            <a:avLst/>
          </a:prstGeom>
          <a:solidFill>
            <a:srgbClr val="F59E0B"/>
          </a:solidFill>
          <a:ln w="12700">
            <a:solidFill>
              <a:srgbClr val="F59E0B"/>
            </a:solidFill>
            <a:prstDash val="solid"/>
          </a:ln>
        </p:spPr>
      </p:sp>
      <p:sp>
        <p:nvSpPr>
          <p:cNvPr id="24" name="Text 22"/>
          <p:cNvSpPr txBox="1"/>
          <p:nvPr/>
        </p:nvSpPr>
        <p:spPr>
          <a:xfrm>
            <a:off x="1005840" y="3977640"/>
            <a:ext cx="1645920" cy="329184"/>
          </a:xfrm>
          <a:prstGeom prst="rect">
            <a:avLst/>
          </a:prstGeom>
          <a:noFill/>
          <a:ln/>
        </p:spPr>
        <p:txBody>
          <a:bodyPr wrap="square" lIns="0" tIns="0" rIns="0" bIns="0" rtlCol="0" anchor="ctr"/>
          <a:lstStyle/>
          <a:p>
            <a:pPr marL="0" indent="0">
              <a:buNone/>
            </a:pPr>
            <a:r>
              <a:rPr lang="en-US" sz="1200" b="1" dirty="0">
                <a:solidFill>
                  <a:srgbClr val="0B1B33"/>
                </a:solidFill>
              </a:rPr>
              <a:t>CustomerID</a:t>
            </a:r>
            <a:endParaRPr lang="en-US" sz="1200" dirty="0"/>
          </a:p>
        </p:txBody>
      </p:sp>
      <p:sp>
        <p:nvSpPr>
          <p:cNvPr id="25" name="Text 23"/>
          <p:cNvSpPr txBox="1"/>
          <p:nvPr/>
        </p:nvSpPr>
        <p:spPr>
          <a:xfrm>
            <a:off x="2651760" y="3977640"/>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VARCHAR(20)</a:t>
            </a:r>
            <a:endParaRPr lang="en-US" sz="1050" dirty="0"/>
          </a:p>
        </p:txBody>
      </p:sp>
      <p:sp>
        <p:nvSpPr>
          <p:cNvPr id="26" name="Shape 24"/>
          <p:cNvSpPr/>
          <p:nvPr/>
        </p:nvSpPr>
        <p:spPr>
          <a:xfrm>
            <a:off x="777240" y="4416552"/>
            <a:ext cx="118872" cy="118872"/>
          </a:xfrm>
          <a:prstGeom prst="ellipse">
            <a:avLst/>
          </a:prstGeom>
          <a:solidFill>
            <a:srgbClr val="FFFFFF"/>
          </a:solidFill>
          <a:ln w="12700">
            <a:solidFill>
              <a:srgbClr val="94A3B8"/>
            </a:solidFill>
            <a:prstDash val="solid"/>
          </a:ln>
        </p:spPr>
      </p:sp>
      <p:sp>
        <p:nvSpPr>
          <p:cNvPr id="27" name="Text 25"/>
          <p:cNvSpPr txBox="1"/>
          <p:nvPr/>
        </p:nvSpPr>
        <p:spPr>
          <a:xfrm>
            <a:off x="1005840" y="4306824"/>
            <a:ext cx="1645920" cy="329184"/>
          </a:xfrm>
          <a:prstGeom prst="rect">
            <a:avLst/>
          </a:prstGeom>
          <a:noFill/>
          <a:ln/>
        </p:spPr>
        <p:txBody>
          <a:bodyPr wrap="square" lIns="0" tIns="0" rIns="0" bIns="0" rtlCol="0" anchor="ctr"/>
          <a:lstStyle/>
          <a:p>
            <a:pPr marL="0" indent="0">
              <a:buNone/>
            </a:pPr>
            <a:r>
              <a:rPr lang="en-US" sz="1200" dirty="0">
                <a:solidFill>
                  <a:srgbClr val="0B1B33"/>
                </a:solidFill>
              </a:rPr>
              <a:t>InternetService</a:t>
            </a:r>
            <a:endParaRPr lang="en-US" sz="1200" dirty="0"/>
          </a:p>
        </p:txBody>
      </p:sp>
      <p:sp>
        <p:nvSpPr>
          <p:cNvPr id="28" name="Text 26"/>
          <p:cNvSpPr txBox="1"/>
          <p:nvPr/>
        </p:nvSpPr>
        <p:spPr>
          <a:xfrm>
            <a:off x="2651760" y="4306824"/>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VARCHAR(20)</a:t>
            </a:r>
            <a:endParaRPr lang="en-US" sz="1050" dirty="0"/>
          </a:p>
        </p:txBody>
      </p:sp>
      <p:sp>
        <p:nvSpPr>
          <p:cNvPr id="29" name="Shape 27"/>
          <p:cNvSpPr/>
          <p:nvPr/>
        </p:nvSpPr>
        <p:spPr>
          <a:xfrm>
            <a:off x="777240" y="4745736"/>
            <a:ext cx="118872" cy="118872"/>
          </a:xfrm>
          <a:prstGeom prst="ellipse">
            <a:avLst/>
          </a:prstGeom>
          <a:solidFill>
            <a:srgbClr val="FFFFFF"/>
          </a:solidFill>
          <a:ln w="12700">
            <a:solidFill>
              <a:srgbClr val="94A3B8"/>
            </a:solidFill>
            <a:prstDash val="solid"/>
          </a:ln>
        </p:spPr>
      </p:sp>
      <p:sp>
        <p:nvSpPr>
          <p:cNvPr id="30" name="Text 28"/>
          <p:cNvSpPr txBox="1"/>
          <p:nvPr/>
        </p:nvSpPr>
        <p:spPr>
          <a:xfrm>
            <a:off x="1005840" y="4636008"/>
            <a:ext cx="1645920" cy="329184"/>
          </a:xfrm>
          <a:prstGeom prst="rect">
            <a:avLst/>
          </a:prstGeom>
          <a:noFill/>
          <a:ln/>
        </p:spPr>
        <p:txBody>
          <a:bodyPr wrap="square" lIns="0" tIns="0" rIns="0" bIns="0" rtlCol="0" anchor="ctr"/>
          <a:lstStyle/>
          <a:p>
            <a:pPr marL="0" indent="0">
              <a:buNone/>
            </a:pPr>
            <a:r>
              <a:rPr lang="en-US" sz="1200" dirty="0">
                <a:solidFill>
                  <a:srgbClr val="0B1B33"/>
                </a:solidFill>
              </a:rPr>
              <a:t>TechSupport</a:t>
            </a:r>
            <a:endParaRPr lang="en-US" sz="1200" dirty="0"/>
          </a:p>
        </p:txBody>
      </p:sp>
      <p:sp>
        <p:nvSpPr>
          <p:cNvPr id="31" name="Text 29"/>
          <p:cNvSpPr txBox="1"/>
          <p:nvPr/>
        </p:nvSpPr>
        <p:spPr>
          <a:xfrm>
            <a:off x="2651760" y="4636008"/>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VARCHAR(20)</a:t>
            </a:r>
            <a:endParaRPr lang="en-US" sz="1050" dirty="0"/>
          </a:p>
        </p:txBody>
      </p:sp>
      <p:sp>
        <p:nvSpPr>
          <p:cNvPr id="32" name="Shape 30"/>
          <p:cNvSpPr/>
          <p:nvPr/>
        </p:nvSpPr>
        <p:spPr>
          <a:xfrm>
            <a:off x="4297680" y="3566160"/>
            <a:ext cx="3566160" cy="2386584"/>
          </a:xfrm>
          <a:prstGeom prst="roundRect">
            <a:avLst>
              <a:gd name="adj" fmla="val 3065"/>
            </a:avLst>
          </a:prstGeom>
          <a:solidFill>
            <a:srgbClr val="FFFFFF"/>
          </a:solidFill>
          <a:ln w="19050">
            <a:solidFill>
              <a:srgbClr val="F43F5E"/>
            </a:solidFill>
            <a:prstDash val="solid"/>
          </a:ln>
        </p:spPr>
      </p:sp>
      <p:sp>
        <p:nvSpPr>
          <p:cNvPr id="33" name="Shape 31"/>
          <p:cNvSpPr/>
          <p:nvPr/>
        </p:nvSpPr>
        <p:spPr>
          <a:xfrm>
            <a:off x="4297680" y="3566160"/>
            <a:ext cx="3566160" cy="411480"/>
          </a:xfrm>
          <a:prstGeom prst="roundRect">
            <a:avLst>
              <a:gd name="adj" fmla="val 17778"/>
            </a:avLst>
          </a:prstGeom>
          <a:solidFill>
            <a:srgbClr val="F43F5E"/>
          </a:solidFill>
          <a:ln w="12700">
            <a:solidFill>
              <a:srgbClr val="F43F5E"/>
            </a:solidFill>
            <a:prstDash val="solid"/>
          </a:ln>
        </p:spPr>
      </p:sp>
      <p:sp>
        <p:nvSpPr>
          <p:cNvPr id="34" name="Text 32"/>
          <p:cNvSpPr txBox="1"/>
          <p:nvPr/>
        </p:nvSpPr>
        <p:spPr>
          <a:xfrm>
            <a:off x="4480560" y="3566160"/>
            <a:ext cx="3291840" cy="41148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contracts</a:t>
            </a:r>
            <a:endParaRPr lang="en-US" sz="1500" dirty="0"/>
          </a:p>
        </p:txBody>
      </p:sp>
      <p:sp>
        <p:nvSpPr>
          <p:cNvPr id="35" name="Shape 33"/>
          <p:cNvSpPr/>
          <p:nvPr/>
        </p:nvSpPr>
        <p:spPr>
          <a:xfrm>
            <a:off x="4434840" y="4087368"/>
            <a:ext cx="118872" cy="118872"/>
          </a:xfrm>
          <a:prstGeom prst="diamond">
            <a:avLst/>
          </a:prstGeom>
          <a:solidFill>
            <a:srgbClr val="F59E0B"/>
          </a:solidFill>
          <a:ln w="12700">
            <a:solidFill>
              <a:srgbClr val="F59E0B"/>
            </a:solidFill>
            <a:prstDash val="solid"/>
          </a:ln>
        </p:spPr>
      </p:sp>
      <p:sp>
        <p:nvSpPr>
          <p:cNvPr id="36" name="Text 34"/>
          <p:cNvSpPr txBox="1"/>
          <p:nvPr/>
        </p:nvSpPr>
        <p:spPr>
          <a:xfrm>
            <a:off x="4663440" y="3977640"/>
            <a:ext cx="1828800" cy="329184"/>
          </a:xfrm>
          <a:prstGeom prst="rect">
            <a:avLst/>
          </a:prstGeom>
          <a:noFill/>
          <a:ln/>
        </p:spPr>
        <p:txBody>
          <a:bodyPr wrap="square" lIns="0" tIns="0" rIns="0" bIns="0" rtlCol="0" anchor="ctr"/>
          <a:lstStyle/>
          <a:p>
            <a:pPr marL="0" indent="0">
              <a:buNone/>
            </a:pPr>
            <a:r>
              <a:rPr lang="en-US" sz="1200" b="1" dirty="0">
                <a:solidFill>
                  <a:srgbClr val="0B1B33"/>
                </a:solidFill>
              </a:rPr>
              <a:t>CustomerID</a:t>
            </a:r>
            <a:endParaRPr lang="en-US" sz="1200" dirty="0"/>
          </a:p>
        </p:txBody>
      </p:sp>
      <p:sp>
        <p:nvSpPr>
          <p:cNvPr id="37" name="Text 35"/>
          <p:cNvSpPr txBox="1"/>
          <p:nvPr/>
        </p:nvSpPr>
        <p:spPr>
          <a:xfrm>
            <a:off x="6492240" y="3977640"/>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VARCHAR(20)</a:t>
            </a:r>
            <a:endParaRPr lang="en-US" sz="1050" dirty="0"/>
          </a:p>
        </p:txBody>
      </p:sp>
      <p:sp>
        <p:nvSpPr>
          <p:cNvPr id="38" name="Shape 36"/>
          <p:cNvSpPr/>
          <p:nvPr/>
        </p:nvSpPr>
        <p:spPr>
          <a:xfrm>
            <a:off x="4434840" y="4416552"/>
            <a:ext cx="118872" cy="118872"/>
          </a:xfrm>
          <a:prstGeom prst="ellipse">
            <a:avLst/>
          </a:prstGeom>
          <a:solidFill>
            <a:srgbClr val="FFFFFF"/>
          </a:solidFill>
          <a:ln w="12700">
            <a:solidFill>
              <a:srgbClr val="94A3B8"/>
            </a:solidFill>
            <a:prstDash val="solid"/>
          </a:ln>
        </p:spPr>
      </p:sp>
      <p:sp>
        <p:nvSpPr>
          <p:cNvPr id="39" name="Text 37"/>
          <p:cNvSpPr txBox="1"/>
          <p:nvPr/>
        </p:nvSpPr>
        <p:spPr>
          <a:xfrm>
            <a:off x="4663440" y="4306824"/>
            <a:ext cx="1828800" cy="329184"/>
          </a:xfrm>
          <a:prstGeom prst="rect">
            <a:avLst/>
          </a:prstGeom>
          <a:noFill/>
          <a:ln/>
        </p:spPr>
        <p:txBody>
          <a:bodyPr wrap="square" lIns="0" tIns="0" rIns="0" bIns="0" rtlCol="0" anchor="ctr"/>
          <a:lstStyle/>
          <a:p>
            <a:pPr marL="0" indent="0">
              <a:buNone/>
            </a:pPr>
            <a:r>
              <a:rPr lang="en-US" sz="1200" dirty="0">
                <a:solidFill>
                  <a:srgbClr val="0B1B33"/>
                </a:solidFill>
              </a:rPr>
              <a:t>ContractType</a:t>
            </a:r>
            <a:endParaRPr lang="en-US" sz="1200" dirty="0"/>
          </a:p>
        </p:txBody>
      </p:sp>
      <p:sp>
        <p:nvSpPr>
          <p:cNvPr id="40" name="Text 38"/>
          <p:cNvSpPr txBox="1"/>
          <p:nvPr/>
        </p:nvSpPr>
        <p:spPr>
          <a:xfrm>
            <a:off x="6492240" y="4306824"/>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VARCHAR(20)</a:t>
            </a:r>
            <a:endParaRPr lang="en-US" sz="1050" dirty="0"/>
          </a:p>
        </p:txBody>
      </p:sp>
      <p:sp>
        <p:nvSpPr>
          <p:cNvPr id="41" name="Shape 39"/>
          <p:cNvSpPr/>
          <p:nvPr/>
        </p:nvSpPr>
        <p:spPr>
          <a:xfrm>
            <a:off x="4434840" y="4745736"/>
            <a:ext cx="118872" cy="118872"/>
          </a:xfrm>
          <a:prstGeom prst="ellipse">
            <a:avLst/>
          </a:prstGeom>
          <a:solidFill>
            <a:srgbClr val="FFFFFF"/>
          </a:solidFill>
          <a:ln w="12700">
            <a:solidFill>
              <a:srgbClr val="94A3B8"/>
            </a:solidFill>
            <a:prstDash val="solid"/>
          </a:ln>
        </p:spPr>
      </p:sp>
      <p:sp>
        <p:nvSpPr>
          <p:cNvPr id="42" name="Text 40"/>
          <p:cNvSpPr txBox="1"/>
          <p:nvPr/>
        </p:nvSpPr>
        <p:spPr>
          <a:xfrm>
            <a:off x="4663440" y="4636008"/>
            <a:ext cx="1828800" cy="329184"/>
          </a:xfrm>
          <a:prstGeom prst="rect">
            <a:avLst/>
          </a:prstGeom>
          <a:noFill/>
          <a:ln/>
        </p:spPr>
        <p:txBody>
          <a:bodyPr wrap="square" lIns="0" tIns="0" rIns="0" bIns="0" rtlCol="0" anchor="ctr"/>
          <a:lstStyle/>
          <a:p>
            <a:pPr marL="0" indent="0">
              <a:buNone/>
            </a:pPr>
            <a:r>
              <a:rPr lang="en-US" sz="1200" dirty="0">
                <a:solidFill>
                  <a:srgbClr val="0B1B33"/>
                </a:solidFill>
              </a:rPr>
              <a:t>TenureMonths</a:t>
            </a:r>
            <a:endParaRPr lang="en-US" sz="1200" dirty="0"/>
          </a:p>
        </p:txBody>
      </p:sp>
      <p:sp>
        <p:nvSpPr>
          <p:cNvPr id="43" name="Text 41"/>
          <p:cNvSpPr txBox="1"/>
          <p:nvPr/>
        </p:nvSpPr>
        <p:spPr>
          <a:xfrm>
            <a:off x="6492240" y="4636008"/>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INT</a:t>
            </a:r>
            <a:endParaRPr lang="en-US" sz="1050" dirty="0"/>
          </a:p>
        </p:txBody>
      </p:sp>
      <p:sp>
        <p:nvSpPr>
          <p:cNvPr id="44" name="Shape 42"/>
          <p:cNvSpPr/>
          <p:nvPr/>
        </p:nvSpPr>
        <p:spPr>
          <a:xfrm>
            <a:off x="4434840" y="5074920"/>
            <a:ext cx="118872" cy="118872"/>
          </a:xfrm>
          <a:prstGeom prst="ellipse">
            <a:avLst/>
          </a:prstGeom>
          <a:solidFill>
            <a:srgbClr val="FFFFFF"/>
          </a:solidFill>
          <a:ln w="12700">
            <a:solidFill>
              <a:srgbClr val="94A3B8"/>
            </a:solidFill>
            <a:prstDash val="solid"/>
          </a:ln>
        </p:spPr>
      </p:sp>
      <p:sp>
        <p:nvSpPr>
          <p:cNvPr id="45" name="Text 43"/>
          <p:cNvSpPr txBox="1"/>
          <p:nvPr/>
        </p:nvSpPr>
        <p:spPr>
          <a:xfrm>
            <a:off x="4663440" y="4965192"/>
            <a:ext cx="1828800" cy="329184"/>
          </a:xfrm>
          <a:prstGeom prst="rect">
            <a:avLst/>
          </a:prstGeom>
          <a:noFill/>
          <a:ln/>
        </p:spPr>
        <p:txBody>
          <a:bodyPr wrap="square" lIns="0" tIns="0" rIns="0" bIns="0" rtlCol="0" anchor="ctr"/>
          <a:lstStyle/>
          <a:p>
            <a:pPr marL="0" indent="0">
              <a:buNone/>
            </a:pPr>
            <a:r>
              <a:rPr lang="en-US" sz="1200" dirty="0">
                <a:solidFill>
                  <a:srgbClr val="0B1B33"/>
                </a:solidFill>
              </a:rPr>
              <a:t>PaperlessBilling</a:t>
            </a:r>
            <a:endParaRPr lang="en-US" sz="1200" dirty="0"/>
          </a:p>
        </p:txBody>
      </p:sp>
      <p:sp>
        <p:nvSpPr>
          <p:cNvPr id="46" name="Text 44"/>
          <p:cNvSpPr txBox="1"/>
          <p:nvPr/>
        </p:nvSpPr>
        <p:spPr>
          <a:xfrm>
            <a:off x="6492240" y="4965192"/>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VARCHAR(5)</a:t>
            </a:r>
            <a:endParaRPr lang="en-US" sz="1050" dirty="0"/>
          </a:p>
        </p:txBody>
      </p:sp>
      <p:sp>
        <p:nvSpPr>
          <p:cNvPr id="47" name="Shape 45"/>
          <p:cNvSpPr/>
          <p:nvPr/>
        </p:nvSpPr>
        <p:spPr>
          <a:xfrm>
            <a:off x="4434840" y="5404104"/>
            <a:ext cx="118872" cy="118872"/>
          </a:xfrm>
          <a:prstGeom prst="ellipse">
            <a:avLst/>
          </a:prstGeom>
          <a:solidFill>
            <a:srgbClr val="FFFFFF"/>
          </a:solidFill>
          <a:ln w="12700">
            <a:solidFill>
              <a:srgbClr val="94A3B8"/>
            </a:solidFill>
            <a:prstDash val="solid"/>
          </a:ln>
        </p:spPr>
      </p:sp>
      <p:sp>
        <p:nvSpPr>
          <p:cNvPr id="48" name="Text 46"/>
          <p:cNvSpPr txBox="1"/>
          <p:nvPr/>
        </p:nvSpPr>
        <p:spPr>
          <a:xfrm>
            <a:off x="4663440" y="5294376"/>
            <a:ext cx="1828800" cy="329184"/>
          </a:xfrm>
          <a:prstGeom prst="rect">
            <a:avLst/>
          </a:prstGeom>
          <a:noFill/>
          <a:ln/>
        </p:spPr>
        <p:txBody>
          <a:bodyPr wrap="square" lIns="0" tIns="0" rIns="0" bIns="0" rtlCol="0" anchor="ctr"/>
          <a:lstStyle/>
          <a:p>
            <a:pPr marL="0" indent="0">
              <a:buNone/>
            </a:pPr>
            <a:r>
              <a:rPr lang="en-US" sz="1200" dirty="0">
                <a:solidFill>
                  <a:srgbClr val="0B1B33"/>
                </a:solidFill>
              </a:rPr>
              <a:t>PaymentMethod</a:t>
            </a:r>
            <a:endParaRPr lang="en-US" sz="1200" dirty="0"/>
          </a:p>
        </p:txBody>
      </p:sp>
      <p:sp>
        <p:nvSpPr>
          <p:cNvPr id="49" name="Text 47"/>
          <p:cNvSpPr txBox="1"/>
          <p:nvPr/>
        </p:nvSpPr>
        <p:spPr>
          <a:xfrm>
            <a:off x="6492240" y="5294376"/>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VARCHAR(30)</a:t>
            </a:r>
            <a:endParaRPr lang="en-US" sz="1050" dirty="0"/>
          </a:p>
        </p:txBody>
      </p:sp>
      <p:sp>
        <p:nvSpPr>
          <p:cNvPr id="50" name="Shape 48"/>
          <p:cNvSpPr/>
          <p:nvPr/>
        </p:nvSpPr>
        <p:spPr>
          <a:xfrm>
            <a:off x="4434840" y="5733288"/>
            <a:ext cx="118872" cy="118872"/>
          </a:xfrm>
          <a:prstGeom prst="ellipse">
            <a:avLst/>
          </a:prstGeom>
          <a:solidFill>
            <a:srgbClr val="FFFFFF"/>
          </a:solidFill>
          <a:ln w="12700">
            <a:solidFill>
              <a:srgbClr val="94A3B8"/>
            </a:solidFill>
            <a:prstDash val="solid"/>
          </a:ln>
        </p:spPr>
      </p:sp>
      <p:sp>
        <p:nvSpPr>
          <p:cNvPr id="51" name="Text 49"/>
          <p:cNvSpPr txBox="1"/>
          <p:nvPr/>
        </p:nvSpPr>
        <p:spPr>
          <a:xfrm>
            <a:off x="4663440" y="5623560"/>
            <a:ext cx="1828800" cy="329184"/>
          </a:xfrm>
          <a:prstGeom prst="rect">
            <a:avLst/>
          </a:prstGeom>
          <a:noFill/>
          <a:ln/>
        </p:spPr>
        <p:txBody>
          <a:bodyPr wrap="square" lIns="0" tIns="0" rIns="0" bIns="0" rtlCol="0" anchor="ctr"/>
          <a:lstStyle/>
          <a:p>
            <a:pPr marL="0" indent="0">
              <a:buNone/>
            </a:pPr>
            <a:r>
              <a:rPr lang="en-US" sz="1200" dirty="0">
                <a:solidFill>
                  <a:srgbClr val="0B1B33"/>
                </a:solidFill>
              </a:rPr>
              <a:t>Churn</a:t>
            </a:r>
            <a:endParaRPr lang="en-US" sz="1200" dirty="0"/>
          </a:p>
        </p:txBody>
      </p:sp>
      <p:sp>
        <p:nvSpPr>
          <p:cNvPr id="52" name="Text 50"/>
          <p:cNvSpPr txBox="1"/>
          <p:nvPr/>
        </p:nvSpPr>
        <p:spPr>
          <a:xfrm>
            <a:off x="6492240" y="5623560"/>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VARCHAR(5)</a:t>
            </a:r>
            <a:endParaRPr lang="en-US" sz="1050" dirty="0"/>
          </a:p>
        </p:txBody>
      </p:sp>
      <p:sp>
        <p:nvSpPr>
          <p:cNvPr id="53" name="Shape 51"/>
          <p:cNvSpPr/>
          <p:nvPr/>
        </p:nvSpPr>
        <p:spPr>
          <a:xfrm>
            <a:off x="8321040" y="3566160"/>
            <a:ext cx="3291840" cy="1399032"/>
          </a:xfrm>
          <a:prstGeom prst="roundRect">
            <a:avLst>
              <a:gd name="adj" fmla="val 5229"/>
            </a:avLst>
          </a:prstGeom>
          <a:solidFill>
            <a:srgbClr val="FFFFFF"/>
          </a:solidFill>
          <a:ln w="19050">
            <a:solidFill>
              <a:srgbClr val="F59E0B"/>
            </a:solidFill>
            <a:prstDash val="solid"/>
          </a:ln>
        </p:spPr>
      </p:sp>
      <p:sp>
        <p:nvSpPr>
          <p:cNvPr id="54" name="Shape 52"/>
          <p:cNvSpPr/>
          <p:nvPr/>
        </p:nvSpPr>
        <p:spPr>
          <a:xfrm>
            <a:off x="8321040" y="3566160"/>
            <a:ext cx="3291840" cy="411480"/>
          </a:xfrm>
          <a:prstGeom prst="roundRect">
            <a:avLst>
              <a:gd name="adj" fmla="val 17778"/>
            </a:avLst>
          </a:prstGeom>
          <a:solidFill>
            <a:srgbClr val="F59E0B"/>
          </a:solidFill>
          <a:ln w="12700">
            <a:solidFill>
              <a:srgbClr val="F59E0B"/>
            </a:solidFill>
            <a:prstDash val="solid"/>
          </a:ln>
        </p:spPr>
      </p:sp>
      <p:sp>
        <p:nvSpPr>
          <p:cNvPr id="55" name="Text 53"/>
          <p:cNvSpPr txBox="1"/>
          <p:nvPr/>
        </p:nvSpPr>
        <p:spPr>
          <a:xfrm>
            <a:off x="8503920" y="3566160"/>
            <a:ext cx="3017520" cy="41148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billing</a:t>
            </a:r>
            <a:endParaRPr lang="en-US" sz="1500" dirty="0"/>
          </a:p>
        </p:txBody>
      </p:sp>
      <p:sp>
        <p:nvSpPr>
          <p:cNvPr id="56" name="Shape 54"/>
          <p:cNvSpPr/>
          <p:nvPr/>
        </p:nvSpPr>
        <p:spPr>
          <a:xfrm>
            <a:off x="8458200" y="4087368"/>
            <a:ext cx="118872" cy="118872"/>
          </a:xfrm>
          <a:prstGeom prst="diamond">
            <a:avLst/>
          </a:prstGeom>
          <a:solidFill>
            <a:srgbClr val="F59E0B"/>
          </a:solidFill>
          <a:ln w="12700">
            <a:solidFill>
              <a:srgbClr val="F59E0B"/>
            </a:solidFill>
            <a:prstDash val="solid"/>
          </a:ln>
        </p:spPr>
      </p:sp>
      <p:sp>
        <p:nvSpPr>
          <p:cNvPr id="57" name="Text 55"/>
          <p:cNvSpPr txBox="1"/>
          <p:nvPr/>
        </p:nvSpPr>
        <p:spPr>
          <a:xfrm>
            <a:off x="8686800" y="3977640"/>
            <a:ext cx="1554480" cy="329184"/>
          </a:xfrm>
          <a:prstGeom prst="rect">
            <a:avLst/>
          </a:prstGeom>
          <a:noFill/>
          <a:ln/>
        </p:spPr>
        <p:txBody>
          <a:bodyPr wrap="square" lIns="0" tIns="0" rIns="0" bIns="0" rtlCol="0" anchor="ctr"/>
          <a:lstStyle/>
          <a:p>
            <a:pPr marL="0" indent="0">
              <a:buNone/>
            </a:pPr>
            <a:r>
              <a:rPr lang="en-US" sz="1200" b="1" dirty="0">
                <a:solidFill>
                  <a:srgbClr val="0B1B33"/>
                </a:solidFill>
              </a:rPr>
              <a:t>CustomerID</a:t>
            </a:r>
            <a:endParaRPr lang="en-US" sz="1200" dirty="0"/>
          </a:p>
        </p:txBody>
      </p:sp>
      <p:sp>
        <p:nvSpPr>
          <p:cNvPr id="58" name="Text 56"/>
          <p:cNvSpPr txBox="1"/>
          <p:nvPr/>
        </p:nvSpPr>
        <p:spPr>
          <a:xfrm>
            <a:off x="10241280" y="3977640"/>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VARCHAR(20)</a:t>
            </a:r>
            <a:endParaRPr lang="en-US" sz="1050" dirty="0"/>
          </a:p>
        </p:txBody>
      </p:sp>
      <p:sp>
        <p:nvSpPr>
          <p:cNvPr id="59" name="Shape 57"/>
          <p:cNvSpPr/>
          <p:nvPr/>
        </p:nvSpPr>
        <p:spPr>
          <a:xfrm>
            <a:off x="8458200" y="4416552"/>
            <a:ext cx="118872" cy="118872"/>
          </a:xfrm>
          <a:prstGeom prst="ellipse">
            <a:avLst/>
          </a:prstGeom>
          <a:solidFill>
            <a:srgbClr val="FFFFFF"/>
          </a:solidFill>
          <a:ln w="12700">
            <a:solidFill>
              <a:srgbClr val="94A3B8"/>
            </a:solidFill>
            <a:prstDash val="solid"/>
          </a:ln>
        </p:spPr>
      </p:sp>
      <p:sp>
        <p:nvSpPr>
          <p:cNvPr id="60" name="Text 58"/>
          <p:cNvSpPr txBox="1"/>
          <p:nvPr/>
        </p:nvSpPr>
        <p:spPr>
          <a:xfrm>
            <a:off x="8686800" y="4306824"/>
            <a:ext cx="1554480" cy="329184"/>
          </a:xfrm>
          <a:prstGeom prst="rect">
            <a:avLst/>
          </a:prstGeom>
          <a:noFill/>
          <a:ln/>
        </p:spPr>
        <p:txBody>
          <a:bodyPr wrap="square" lIns="0" tIns="0" rIns="0" bIns="0" rtlCol="0" anchor="ctr"/>
          <a:lstStyle/>
          <a:p>
            <a:pPr marL="0" indent="0">
              <a:buNone/>
            </a:pPr>
            <a:r>
              <a:rPr lang="en-US" sz="1200" dirty="0">
                <a:solidFill>
                  <a:srgbClr val="0B1B33"/>
                </a:solidFill>
              </a:rPr>
              <a:t>MonthlyCharges</a:t>
            </a:r>
            <a:endParaRPr lang="en-US" sz="1200" dirty="0"/>
          </a:p>
        </p:txBody>
      </p:sp>
      <p:sp>
        <p:nvSpPr>
          <p:cNvPr id="61" name="Text 59"/>
          <p:cNvSpPr txBox="1"/>
          <p:nvPr/>
        </p:nvSpPr>
        <p:spPr>
          <a:xfrm>
            <a:off x="10241280" y="4306824"/>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DECIMAL(10,2)</a:t>
            </a:r>
            <a:endParaRPr lang="en-US" sz="1050" dirty="0"/>
          </a:p>
        </p:txBody>
      </p:sp>
      <p:sp>
        <p:nvSpPr>
          <p:cNvPr id="62" name="Shape 60"/>
          <p:cNvSpPr/>
          <p:nvPr/>
        </p:nvSpPr>
        <p:spPr>
          <a:xfrm>
            <a:off x="8458200" y="4745736"/>
            <a:ext cx="118872" cy="118872"/>
          </a:xfrm>
          <a:prstGeom prst="ellipse">
            <a:avLst/>
          </a:prstGeom>
          <a:solidFill>
            <a:srgbClr val="FFFFFF"/>
          </a:solidFill>
          <a:ln w="12700">
            <a:solidFill>
              <a:srgbClr val="94A3B8"/>
            </a:solidFill>
            <a:prstDash val="solid"/>
          </a:ln>
        </p:spPr>
      </p:sp>
      <p:sp>
        <p:nvSpPr>
          <p:cNvPr id="63" name="Text 61"/>
          <p:cNvSpPr txBox="1"/>
          <p:nvPr/>
        </p:nvSpPr>
        <p:spPr>
          <a:xfrm>
            <a:off x="8686800" y="4636008"/>
            <a:ext cx="1554480" cy="329184"/>
          </a:xfrm>
          <a:prstGeom prst="rect">
            <a:avLst/>
          </a:prstGeom>
          <a:noFill/>
          <a:ln/>
        </p:spPr>
        <p:txBody>
          <a:bodyPr wrap="square" lIns="0" tIns="0" rIns="0" bIns="0" rtlCol="0" anchor="ctr"/>
          <a:lstStyle/>
          <a:p>
            <a:pPr marL="0" indent="0">
              <a:buNone/>
            </a:pPr>
            <a:r>
              <a:rPr lang="en-US" sz="1200" dirty="0">
                <a:solidFill>
                  <a:srgbClr val="0B1B33"/>
                </a:solidFill>
              </a:rPr>
              <a:t>TotalCharges</a:t>
            </a:r>
            <a:endParaRPr lang="en-US" sz="1200" dirty="0"/>
          </a:p>
        </p:txBody>
      </p:sp>
      <p:sp>
        <p:nvSpPr>
          <p:cNvPr id="64" name="Text 62"/>
          <p:cNvSpPr txBox="1"/>
          <p:nvPr/>
        </p:nvSpPr>
        <p:spPr>
          <a:xfrm>
            <a:off x="10241280" y="4636008"/>
            <a:ext cx="1280160" cy="329184"/>
          </a:xfrm>
          <a:prstGeom prst="rect">
            <a:avLst/>
          </a:prstGeom>
          <a:noFill/>
          <a:ln/>
        </p:spPr>
        <p:txBody>
          <a:bodyPr wrap="square" lIns="0" tIns="0" rIns="0" bIns="0" rtlCol="0" anchor="ctr"/>
          <a:lstStyle/>
          <a:p>
            <a:pPr marL="0" indent="0" algn="r">
              <a:buNone/>
            </a:pPr>
            <a:r>
              <a:rPr lang="en-US" sz="1050" dirty="0">
                <a:solidFill>
                  <a:srgbClr val="64748B"/>
                </a:solidFill>
              </a:rPr>
              <a:t>DECIMAL(10,2)</a:t>
            </a:r>
            <a:endParaRPr lang="en-US" sz="1050" dirty="0"/>
          </a:p>
        </p:txBody>
      </p:sp>
      <p:sp>
        <p:nvSpPr>
          <p:cNvPr id="65" name="Shape 63"/>
          <p:cNvSpPr/>
          <p:nvPr/>
        </p:nvSpPr>
        <p:spPr>
          <a:xfrm>
            <a:off x="6080760" y="2679192"/>
            <a:ext cx="0" cy="429768"/>
          </a:xfrm>
          <a:prstGeom prst="line">
            <a:avLst/>
          </a:prstGeom>
          <a:noFill/>
          <a:ln w="22225">
            <a:solidFill>
              <a:srgbClr val="475569"/>
            </a:solidFill>
            <a:prstDash val="solid"/>
          </a:ln>
        </p:spPr>
      </p:sp>
      <p:sp>
        <p:nvSpPr>
          <p:cNvPr id="66" name="Shape 64"/>
          <p:cNvSpPr/>
          <p:nvPr/>
        </p:nvSpPr>
        <p:spPr>
          <a:xfrm>
            <a:off x="2331720" y="3108960"/>
            <a:ext cx="7635240" cy="0"/>
          </a:xfrm>
          <a:prstGeom prst="line">
            <a:avLst/>
          </a:prstGeom>
          <a:noFill/>
          <a:ln w="22225">
            <a:solidFill>
              <a:srgbClr val="475569"/>
            </a:solidFill>
            <a:prstDash val="solid"/>
          </a:ln>
        </p:spPr>
      </p:sp>
      <p:sp>
        <p:nvSpPr>
          <p:cNvPr id="67" name="Shape 65"/>
          <p:cNvSpPr/>
          <p:nvPr/>
        </p:nvSpPr>
        <p:spPr>
          <a:xfrm>
            <a:off x="2331720" y="3108960"/>
            <a:ext cx="0" cy="457200"/>
          </a:xfrm>
          <a:prstGeom prst="line">
            <a:avLst/>
          </a:prstGeom>
          <a:noFill/>
          <a:ln w="22225">
            <a:solidFill>
              <a:srgbClr val="475569"/>
            </a:solidFill>
            <a:prstDash val="solid"/>
          </a:ln>
        </p:spPr>
      </p:sp>
      <p:sp>
        <p:nvSpPr>
          <p:cNvPr id="68" name="Shape 66"/>
          <p:cNvSpPr/>
          <p:nvPr/>
        </p:nvSpPr>
        <p:spPr>
          <a:xfrm>
            <a:off x="2203704" y="3310128"/>
            <a:ext cx="128016" cy="256032"/>
          </a:xfrm>
          <a:prstGeom prst="line">
            <a:avLst/>
          </a:prstGeom>
          <a:noFill/>
          <a:ln w="22225">
            <a:solidFill>
              <a:srgbClr val="475569"/>
            </a:solidFill>
            <a:prstDash val="solid"/>
          </a:ln>
        </p:spPr>
      </p:sp>
      <p:sp>
        <p:nvSpPr>
          <p:cNvPr id="69" name="Shape 67"/>
          <p:cNvSpPr/>
          <p:nvPr/>
        </p:nvSpPr>
        <p:spPr>
          <a:xfrm flipV="1">
            <a:off x="2331720" y="3310128"/>
            <a:ext cx="128016" cy="256032"/>
          </a:xfrm>
          <a:prstGeom prst="line">
            <a:avLst/>
          </a:prstGeom>
          <a:noFill/>
          <a:ln w="22225">
            <a:solidFill>
              <a:srgbClr val="475569"/>
            </a:solidFill>
            <a:prstDash val="solid"/>
          </a:ln>
        </p:spPr>
      </p:sp>
      <p:sp>
        <p:nvSpPr>
          <p:cNvPr id="70" name="Shape 68"/>
          <p:cNvSpPr/>
          <p:nvPr/>
        </p:nvSpPr>
        <p:spPr>
          <a:xfrm>
            <a:off x="2203704" y="3310128"/>
            <a:ext cx="256032" cy="0"/>
          </a:xfrm>
          <a:prstGeom prst="line">
            <a:avLst/>
          </a:prstGeom>
          <a:noFill/>
          <a:ln w="22225">
            <a:solidFill>
              <a:srgbClr val="475569"/>
            </a:solidFill>
            <a:prstDash val="solid"/>
          </a:ln>
        </p:spPr>
      </p:sp>
      <p:sp>
        <p:nvSpPr>
          <p:cNvPr id="71" name="Shape 69"/>
          <p:cNvSpPr/>
          <p:nvPr/>
        </p:nvSpPr>
        <p:spPr>
          <a:xfrm>
            <a:off x="6080760" y="3108960"/>
            <a:ext cx="0" cy="457200"/>
          </a:xfrm>
          <a:prstGeom prst="line">
            <a:avLst/>
          </a:prstGeom>
          <a:noFill/>
          <a:ln w="22225">
            <a:solidFill>
              <a:srgbClr val="475569"/>
            </a:solidFill>
            <a:prstDash val="solid"/>
          </a:ln>
        </p:spPr>
      </p:sp>
      <p:sp>
        <p:nvSpPr>
          <p:cNvPr id="72" name="Shape 70"/>
          <p:cNvSpPr/>
          <p:nvPr/>
        </p:nvSpPr>
        <p:spPr>
          <a:xfrm>
            <a:off x="5952744" y="3310128"/>
            <a:ext cx="128016" cy="256032"/>
          </a:xfrm>
          <a:prstGeom prst="line">
            <a:avLst/>
          </a:prstGeom>
          <a:noFill/>
          <a:ln w="22225">
            <a:solidFill>
              <a:srgbClr val="475569"/>
            </a:solidFill>
            <a:prstDash val="solid"/>
          </a:ln>
        </p:spPr>
      </p:sp>
      <p:sp>
        <p:nvSpPr>
          <p:cNvPr id="73" name="Shape 71"/>
          <p:cNvSpPr/>
          <p:nvPr/>
        </p:nvSpPr>
        <p:spPr>
          <a:xfrm flipV="1">
            <a:off x="6080760" y="3310128"/>
            <a:ext cx="128016" cy="256032"/>
          </a:xfrm>
          <a:prstGeom prst="line">
            <a:avLst/>
          </a:prstGeom>
          <a:noFill/>
          <a:ln w="22225">
            <a:solidFill>
              <a:srgbClr val="475569"/>
            </a:solidFill>
            <a:prstDash val="solid"/>
          </a:ln>
        </p:spPr>
      </p:sp>
      <p:sp>
        <p:nvSpPr>
          <p:cNvPr id="74" name="Shape 72"/>
          <p:cNvSpPr/>
          <p:nvPr/>
        </p:nvSpPr>
        <p:spPr>
          <a:xfrm>
            <a:off x="5952744" y="3310128"/>
            <a:ext cx="256032" cy="0"/>
          </a:xfrm>
          <a:prstGeom prst="line">
            <a:avLst/>
          </a:prstGeom>
          <a:noFill/>
          <a:ln w="22225">
            <a:solidFill>
              <a:srgbClr val="475569"/>
            </a:solidFill>
            <a:prstDash val="solid"/>
          </a:ln>
        </p:spPr>
      </p:sp>
      <p:sp>
        <p:nvSpPr>
          <p:cNvPr id="75" name="Shape 73"/>
          <p:cNvSpPr/>
          <p:nvPr/>
        </p:nvSpPr>
        <p:spPr>
          <a:xfrm>
            <a:off x="9966960" y="3108960"/>
            <a:ext cx="0" cy="457200"/>
          </a:xfrm>
          <a:prstGeom prst="line">
            <a:avLst/>
          </a:prstGeom>
          <a:noFill/>
          <a:ln w="22225">
            <a:solidFill>
              <a:srgbClr val="475569"/>
            </a:solidFill>
            <a:prstDash val="solid"/>
          </a:ln>
        </p:spPr>
      </p:sp>
      <p:sp>
        <p:nvSpPr>
          <p:cNvPr id="76" name="Shape 74"/>
          <p:cNvSpPr/>
          <p:nvPr/>
        </p:nvSpPr>
        <p:spPr>
          <a:xfrm>
            <a:off x="9838944" y="3310128"/>
            <a:ext cx="128016" cy="256032"/>
          </a:xfrm>
          <a:prstGeom prst="line">
            <a:avLst/>
          </a:prstGeom>
          <a:noFill/>
          <a:ln w="22225">
            <a:solidFill>
              <a:srgbClr val="475569"/>
            </a:solidFill>
            <a:prstDash val="solid"/>
          </a:ln>
        </p:spPr>
      </p:sp>
      <p:sp>
        <p:nvSpPr>
          <p:cNvPr id="77" name="Shape 75"/>
          <p:cNvSpPr/>
          <p:nvPr/>
        </p:nvSpPr>
        <p:spPr>
          <a:xfrm flipV="1">
            <a:off x="9966960" y="3310128"/>
            <a:ext cx="128016" cy="256032"/>
          </a:xfrm>
          <a:prstGeom prst="line">
            <a:avLst/>
          </a:prstGeom>
          <a:noFill/>
          <a:ln w="22225">
            <a:solidFill>
              <a:srgbClr val="475569"/>
            </a:solidFill>
            <a:prstDash val="solid"/>
          </a:ln>
        </p:spPr>
      </p:sp>
      <p:sp>
        <p:nvSpPr>
          <p:cNvPr id="78" name="Shape 76"/>
          <p:cNvSpPr/>
          <p:nvPr/>
        </p:nvSpPr>
        <p:spPr>
          <a:xfrm>
            <a:off x="9838944" y="3310128"/>
            <a:ext cx="256032" cy="0"/>
          </a:xfrm>
          <a:prstGeom prst="line">
            <a:avLst/>
          </a:prstGeom>
          <a:noFill/>
          <a:ln w="22225">
            <a:solidFill>
              <a:srgbClr val="475569"/>
            </a:solidFill>
            <a:prstDash val="solid"/>
          </a:ln>
        </p:spPr>
      </p:sp>
      <p:sp>
        <p:nvSpPr>
          <p:cNvPr id="79" name="Shape 77"/>
          <p:cNvSpPr/>
          <p:nvPr/>
        </p:nvSpPr>
        <p:spPr>
          <a:xfrm>
            <a:off x="5943600" y="2743200"/>
            <a:ext cx="274320" cy="0"/>
          </a:xfrm>
          <a:prstGeom prst="line">
            <a:avLst/>
          </a:prstGeom>
          <a:noFill/>
          <a:ln w="22225">
            <a:solidFill>
              <a:srgbClr val="475569"/>
            </a:solidFill>
            <a:prstDash val="solid"/>
          </a:ln>
        </p:spPr>
      </p:sp>
      <p:sp>
        <p:nvSpPr>
          <p:cNvPr id="80" name="Shape 78"/>
          <p:cNvSpPr/>
          <p:nvPr/>
        </p:nvSpPr>
        <p:spPr>
          <a:xfrm>
            <a:off x="8321040" y="1280160"/>
            <a:ext cx="3291840" cy="1399032"/>
          </a:xfrm>
          <a:prstGeom prst="roundRect">
            <a:avLst>
              <a:gd name="adj" fmla="val 5229"/>
            </a:avLst>
          </a:prstGeom>
          <a:solidFill>
            <a:srgbClr val="EAF1F8"/>
          </a:solidFill>
          <a:ln w="15875">
            <a:solidFill>
              <a:srgbClr val="94A3B8"/>
            </a:solidFill>
            <a:prstDash val="dash"/>
          </a:ln>
        </p:spPr>
      </p:sp>
      <p:sp>
        <p:nvSpPr>
          <p:cNvPr id="81" name="Text 79"/>
          <p:cNvSpPr txBox="1"/>
          <p:nvPr/>
        </p:nvSpPr>
        <p:spPr>
          <a:xfrm>
            <a:off x="8503920" y="1371600"/>
            <a:ext cx="2926080" cy="1234440"/>
          </a:xfrm>
          <a:prstGeom prst="rect">
            <a:avLst/>
          </a:prstGeom>
          <a:noFill/>
          <a:ln/>
        </p:spPr>
        <p:txBody>
          <a:bodyPr wrap="square" lIns="0" tIns="0" rIns="0" bIns="0" rtlCol="0" anchor="ctr"/>
          <a:lstStyle/>
          <a:p>
            <a:pPr marL="0" indent="0">
              <a:buNone/>
            </a:pPr>
            <a:r>
              <a:rPr lang="en-US" sz="1500" b="1" dirty="0">
                <a:solidFill>
                  <a:srgbClr val="0B1B33"/>
                </a:solidFill>
                <a:latin typeface="Cambria" pitchFamily="34" charset="0"/>
                <a:ea typeface="Cambria" pitchFamily="34" charset="-122"/>
                <a:cs typeface="Cambria" pitchFamily="34" charset="-120"/>
              </a:rPr>
              <a:t>stg_telco
</a:t>
            </a:r>
            <a:r>
              <a:rPr lang="en-US" sz="1200" dirty="0">
                <a:solidFill>
                  <a:srgbClr val="64748B"/>
                </a:solidFill>
              </a:rPr>
              <a:t>Staging table: a raw copy of the cleaned CSV (12 columns). The 4 tables are filled from it.</a:t>
            </a:r>
            <a:endParaRPr lang="en-US" sz="1500" dirty="0"/>
          </a:p>
        </p:txBody>
      </p:sp>
      <p:sp>
        <p:nvSpPr>
          <p:cNvPr id="82" name="Text 80"/>
          <p:cNvSpPr txBox="1"/>
          <p:nvPr/>
        </p:nvSpPr>
        <p:spPr>
          <a:xfrm>
            <a:off x="640080" y="6172200"/>
            <a:ext cx="10972800" cy="365760"/>
          </a:xfrm>
          <a:prstGeom prst="rect">
            <a:avLst/>
          </a:prstGeom>
          <a:noFill/>
          <a:ln/>
        </p:spPr>
        <p:txBody>
          <a:bodyPr wrap="square" lIns="0" tIns="0" rIns="0" bIns="0" rtlCol="0" anchor="ctr"/>
          <a:lstStyle/>
          <a:p>
            <a:pPr marL="0" indent="0">
              <a:buNone/>
            </a:pPr>
            <a:r>
              <a:rPr lang="en-US" sz="1300" dirty="0">
                <a:solidFill>
                  <a:srgbClr val="64748B"/>
                </a:solidFill>
              </a:rPr>
              <a:t>Same model as in MySQL Workbench. CustomerID is the primary key (diamond) and the foreign key that links each table to customers.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3000" b="1" dirty="0">
                <a:solidFill>
                  <a:srgbClr val="0B1B33"/>
                </a:solidFill>
                <a:latin typeface="Cambria" pitchFamily="34" charset="0"/>
                <a:ea typeface="Cambria" pitchFamily="34" charset="-122"/>
                <a:cs typeface="Cambria" pitchFamily="34" charset="-120"/>
              </a:rPr>
              <a:t>Data Quality Checks First</a:t>
            </a:r>
            <a:endParaRPr lang="en-US" sz="30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CLEANING</a:t>
            </a:r>
            <a:endParaRPr lang="en-US" sz="1100" dirty="0"/>
          </a:p>
        </p:txBody>
      </p:sp>
      <p:sp>
        <p:nvSpPr>
          <p:cNvPr id="8" name="Shape 6"/>
          <p:cNvSpPr/>
          <p:nvPr/>
        </p:nvSpPr>
        <p:spPr>
          <a:xfrm>
            <a:off x="548640" y="1371600"/>
            <a:ext cx="3520440" cy="3931920"/>
          </a:xfrm>
          <a:prstGeom prst="roundRect">
            <a:avLst>
              <a:gd name="adj" fmla="val 3117"/>
            </a:avLst>
          </a:prstGeom>
          <a:solidFill>
            <a:srgbClr val="FFFFFF"/>
          </a:solidFill>
          <a:ln w="12700">
            <a:solidFill>
              <a:srgbClr val="D5E1EE"/>
            </a:solidFill>
            <a:prstDash val="solid"/>
          </a:ln>
        </p:spPr>
      </p:sp>
      <p:sp>
        <p:nvSpPr>
          <p:cNvPr id="9" name="Text 7"/>
          <p:cNvSpPr txBox="1"/>
          <p:nvPr/>
        </p:nvSpPr>
        <p:spPr>
          <a:xfrm>
            <a:off x="822960" y="1645920"/>
            <a:ext cx="3017520" cy="914400"/>
          </a:xfrm>
          <a:prstGeom prst="rect">
            <a:avLst/>
          </a:prstGeom>
          <a:noFill/>
          <a:ln/>
        </p:spPr>
        <p:txBody>
          <a:bodyPr wrap="square" lIns="0" tIns="0" rIns="0" bIns="0" rtlCol="0" anchor="ctr"/>
          <a:lstStyle/>
          <a:p>
            <a:pPr marL="0" indent="0">
              <a:buNone/>
            </a:pPr>
            <a:r>
              <a:rPr lang="en-US" sz="4400" b="1" dirty="0">
                <a:solidFill>
                  <a:srgbClr val="22D3EE"/>
                </a:solidFill>
                <a:latin typeface="Cambria" pitchFamily="34" charset="0"/>
                <a:ea typeface="Cambria" pitchFamily="34" charset="-122"/>
                <a:cs typeface="Cambria" pitchFamily="34" charset="-120"/>
              </a:rPr>
              <a:t>5,463</a:t>
            </a:r>
            <a:endParaRPr lang="en-US" sz="4400" dirty="0"/>
          </a:p>
        </p:txBody>
      </p:sp>
      <p:sp>
        <p:nvSpPr>
          <p:cNvPr id="10" name="Text 8"/>
          <p:cNvSpPr txBox="1"/>
          <p:nvPr/>
        </p:nvSpPr>
        <p:spPr>
          <a:xfrm>
            <a:off x="822960" y="2651760"/>
            <a:ext cx="3017520" cy="457200"/>
          </a:xfrm>
          <a:prstGeom prst="rect">
            <a:avLst/>
          </a:prstGeom>
          <a:noFill/>
          <a:ln/>
        </p:spPr>
        <p:txBody>
          <a:bodyPr wrap="square" lIns="0" tIns="0" rIns="0" bIns="0" rtlCol="0" anchor="ctr"/>
          <a:lstStyle/>
          <a:p>
            <a:pPr marL="0" indent="0">
              <a:buNone/>
            </a:pPr>
            <a:r>
              <a:rPr lang="en-US" sz="1700" b="1" dirty="0">
                <a:solidFill>
                  <a:srgbClr val="0B1B33"/>
                </a:solidFill>
              </a:rPr>
              <a:t>rows in every table</a:t>
            </a:r>
            <a:endParaRPr lang="en-US" sz="1700" dirty="0"/>
          </a:p>
        </p:txBody>
      </p:sp>
      <p:sp>
        <p:nvSpPr>
          <p:cNvPr id="11" name="Text 9"/>
          <p:cNvSpPr txBox="1"/>
          <p:nvPr/>
        </p:nvSpPr>
        <p:spPr>
          <a:xfrm>
            <a:off x="822960" y="3200400"/>
            <a:ext cx="3017520" cy="1828800"/>
          </a:xfrm>
          <a:prstGeom prst="rect">
            <a:avLst/>
          </a:prstGeom>
          <a:noFill/>
          <a:ln/>
        </p:spPr>
        <p:txBody>
          <a:bodyPr wrap="square" lIns="0" tIns="0" rIns="0" bIns="0" rtlCol="0" anchor="t"/>
          <a:lstStyle/>
          <a:p>
            <a:pPr marL="0" indent="0">
              <a:buNone/>
            </a:pPr>
            <a:r>
              <a:rPr lang="en-US" sz="1400" dirty="0">
                <a:solidFill>
                  <a:srgbClr val="64748B"/>
                </a:solidFill>
              </a:rPr>
              <a:t>No duplicates, no missing values</a:t>
            </a:r>
            <a:endParaRPr lang="en-US" sz="1400" dirty="0"/>
          </a:p>
        </p:txBody>
      </p:sp>
      <p:sp>
        <p:nvSpPr>
          <p:cNvPr id="12" name="Shape 10"/>
          <p:cNvSpPr/>
          <p:nvPr/>
        </p:nvSpPr>
        <p:spPr>
          <a:xfrm>
            <a:off x="4297680" y="1371600"/>
            <a:ext cx="3520440" cy="3931920"/>
          </a:xfrm>
          <a:prstGeom prst="roundRect">
            <a:avLst>
              <a:gd name="adj" fmla="val 3117"/>
            </a:avLst>
          </a:prstGeom>
          <a:solidFill>
            <a:srgbClr val="FFFFFF"/>
          </a:solidFill>
          <a:ln w="12700">
            <a:solidFill>
              <a:srgbClr val="D5E1EE"/>
            </a:solidFill>
            <a:prstDash val="solid"/>
          </a:ln>
        </p:spPr>
      </p:sp>
      <p:sp>
        <p:nvSpPr>
          <p:cNvPr id="13" name="Text 11"/>
          <p:cNvSpPr txBox="1"/>
          <p:nvPr/>
        </p:nvSpPr>
        <p:spPr>
          <a:xfrm>
            <a:off x="4572000" y="1645920"/>
            <a:ext cx="3017520" cy="914400"/>
          </a:xfrm>
          <a:prstGeom prst="rect">
            <a:avLst/>
          </a:prstGeom>
          <a:noFill/>
          <a:ln/>
        </p:spPr>
        <p:txBody>
          <a:bodyPr wrap="square" lIns="0" tIns="0" rIns="0" bIns="0" rtlCol="0" anchor="ctr"/>
          <a:lstStyle/>
          <a:p>
            <a:pPr marL="0" indent="0">
              <a:buNone/>
            </a:pPr>
            <a:r>
              <a:rPr lang="en-US" sz="4400" b="1" dirty="0">
                <a:solidFill>
                  <a:srgbClr val="F43F5E"/>
                </a:solidFill>
                <a:latin typeface="Cambria" pitchFamily="34" charset="0"/>
                <a:ea typeface="Cambria" pitchFamily="34" charset="-122"/>
                <a:cs typeface="Cambria" pitchFamily="34" charset="-120"/>
              </a:rPr>
              <a:t>1,824</a:t>
            </a:r>
            <a:endParaRPr lang="en-US" sz="4400" dirty="0"/>
          </a:p>
        </p:txBody>
      </p:sp>
      <p:sp>
        <p:nvSpPr>
          <p:cNvPr id="14" name="Text 12"/>
          <p:cNvSpPr txBox="1"/>
          <p:nvPr/>
        </p:nvSpPr>
        <p:spPr>
          <a:xfrm>
            <a:off x="4572000" y="2651760"/>
            <a:ext cx="3017520" cy="457200"/>
          </a:xfrm>
          <a:prstGeom prst="rect">
            <a:avLst/>
          </a:prstGeom>
          <a:noFill/>
          <a:ln/>
        </p:spPr>
        <p:txBody>
          <a:bodyPr wrap="square" lIns="0" tIns="0" rIns="0" bIns="0" rtlCol="0" anchor="ctr"/>
          <a:lstStyle/>
          <a:p>
            <a:pPr marL="0" indent="0">
              <a:buNone/>
            </a:pPr>
            <a:r>
              <a:rPr lang="en-US" sz="1700" b="1" dirty="0">
                <a:solidFill>
                  <a:srgbClr val="0B1B33"/>
                </a:solidFill>
              </a:rPr>
              <a:t>TechSupport contradictions</a:t>
            </a:r>
            <a:endParaRPr lang="en-US" sz="1700" dirty="0"/>
          </a:p>
        </p:txBody>
      </p:sp>
      <p:sp>
        <p:nvSpPr>
          <p:cNvPr id="15" name="Text 13"/>
          <p:cNvSpPr txBox="1"/>
          <p:nvPr/>
        </p:nvSpPr>
        <p:spPr>
          <a:xfrm>
            <a:off x="4572000" y="3200400"/>
            <a:ext cx="3017520" cy="1828800"/>
          </a:xfrm>
          <a:prstGeom prst="rect">
            <a:avLst/>
          </a:prstGeom>
          <a:noFill/>
          <a:ln/>
        </p:spPr>
        <p:txBody>
          <a:bodyPr wrap="square" lIns="0" tIns="0" rIns="0" bIns="0" rtlCol="0" anchor="t"/>
          <a:lstStyle/>
          <a:p>
            <a:pPr marL="0" indent="0">
              <a:buNone/>
            </a:pPr>
            <a:r>
              <a:rPr lang="en-US" sz="1400" dirty="0">
                <a:solidFill>
                  <a:srgbClr val="64748B"/>
                </a:solidFill>
              </a:rPr>
              <a:t>871 no-internet customers have a Yes/No value; 953 with internet say "No Internet"</a:t>
            </a:r>
            <a:endParaRPr lang="en-US" sz="1400" dirty="0"/>
          </a:p>
        </p:txBody>
      </p:sp>
      <p:sp>
        <p:nvSpPr>
          <p:cNvPr id="16" name="Shape 14"/>
          <p:cNvSpPr/>
          <p:nvPr/>
        </p:nvSpPr>
        <p:spPr>
          <a:xfrm>
            <a:off x="8046720" y="1371600"/>
            <a:ext cx="3520440" cy="3931920"/>
          </a:xfrm>
          <a:prstGeom prst="roundRect">
            <a:avLst>
              <a:gd name="adj" fmla="val 3117"/>
            </a:avLst>
          </a:prstGeom>
          <a:solidFill>
            <a:srgbClr val="FFFFFF"/>
          </a:solidFill>
          <a:ln w="12700">
            <a:solidFill>
              <a:srgbClr val="D5E1EE"/>
            </a:solidFill>
            <a:prstDash val="solid"/>
          </a:ln>
        </p:spPr>
      </p:sp>
      <p:sp>
        <p:nvSpPr>
          <p:cNvPr id="17" name="Text 15"/>
          <p:cNvSpPr txBox="1"/>
          <p:nvPr/>
        </p:nvSpPr>
        <p:spPr>
          <a:xfrm>
            <a:off x="8321040" y="1645920"/>
            <a:ext cx="3017520" cy="914400"/>
          </a:xfrm>
          <a:prstGeom prst="rect">
            <a:avLst/>
          </a:prstGeom>
          <a:noFill/>
          <a:ln/>
        </p:spPr>
        <p:txBody>
          <a:bodyPr wrap="square" lIns="0" tIns="0" rIns="0" bIns="0" rtlCol="0" anchor="ctr"/>
          <a:lstStyle/>
          <a:p>
            <a:pPr marL="0" indent="0">
              <a:buNone/>
            </a:pPr>
            <a:r>
              <a:rPr lang="en-US" sz="4400" b="1" dirty="0">
                <a:solidFill>
                  <a:srgbClr val="F59E0B"/>
                </a:solidFill>
                <a:latin typeface="Cambria" pitchFamily="34" charset="0"/>
                <a:ea typeface="Cambria" pitchFamily="34" charset="-122"/>
                <a:cs typeface="Cambria" pitchFamily="34" charset="-120"/>
              </a:rPr>
              <a:t>Q6 fix</a:t>
            </a:r>
            <a:endParaRPr lang="en-US" sz="4400" dirty="0"/>
          </a:p>
        </p:txBody>
      </p:sp>
      <p:sp>
        <p:nvSpPr>
          <p:cNvPr id="18" name="Text 16"/>
          <p:cNvSpPr txBox="1"/>
          <p:nvPr/>
        </p:nvSpPr>
        <p:spPr>
          <a:xfrm>
            <a:off x="8321040" y="2651760"/>
            <a:ext cx="3017520" cy="457200"/>
          </a:xfrm>
          <a:prstGeom prst="rect">
            <a:avLst/>
          </a:prstGeom>
          <a:noFill/>
          <a:ln/>
        </p:spPr>
        <p:txBody>
          <a:bodyPr wrap="square" lIns="0" tIns="0" rIns="0" bIns="0" rtlCol="0" anchor="ctr"/>
          <a:lstStyle/>
          <a:p>
            <a:pPr marL="0" indent="0">
              <a:buNone/>
            </a:pPr>
            <a:r>
              <a:rPr lang="en-US" sz="1700" b="1" dirty="0">
                <a:solidFill>
                  <a:srgbClr val="0B1B33"/>
                </a:solidFill>
              </a:rPr>
              <a:t>Use clear values only</a:t>
            </a:r>
            <a:endParaRPr lang="en-US" sz="1700" dirty="0"/>
          </a:p>
        </p:txBody>
      </p:sp>
      <p:sp>
        <p:nvSpPr>
          <p:cNvPr id="19" name="Text 17"/>
          <p:cNvSpPr txBox="1"/>
          <p:nvPr/>
        </p:nvSpPr>
        <p:spPr>
          <a:xfrm>
            <a:off x="8321040" y="3200400"/>
            <a:ext cx="3017520" cy="1828800"/>
          </a:xfrm>
          <a:prstGeom prst="rect">
            <a:avLst/>
          </a:prstGeom>
          <a:noFill/>
          <a:ln/>
        </p:spPr>
        <p:txBody>
          <a:bodyPr wrap="square" lIns="0" tIns="0" rIns="0" bIns="0" rtlCol="0" anchor="t"/>
          <a:lstStyle/>
          <a:p>
            <a:pPr marL="0" indent="0">
              <a:buNone/>
            </a:pPr>
            <a:r>
              <a:rPr lang="en-US" sz="1400" dirty="0">
                <a:solidFill>
                  <a:srgbClr val="64748B"/>
                </a:solidFill>
              </a:rPr>
              <a:t>Tech Support is analysed only for internet customers with a Yes or No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2200" b="1" dirty="0">
                <a:solidFill>
                  <a:srgbClr val="0B1B33"/>
                </a:solidFill>
                <a:latin typeface="Cambria" pitchFamily="34" charset="0"/>
                <a:ea typeface="Cambria" pitchFamily="34" charset="-122"/>
                <a:cs typeface="Cambria" pitchFamily="34" charset="-120"/>
              </a:rPr>
              <a:t>Q1. How big is the churn problem, in customers and in money?</a:t>
            </a:r>
            <a:endParaRPr lang="en-US" sz="22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BUSINESS HEALTH</a:t>
            </a:r>
            <a:endParaRPr lang="en-US" sz="1100" dirty="0"/>
          </a:p>
        </p:txBody>
      </p:sp>
      <p:sp>
        <p:nvSpPr>
          <p:cNvPr id="8" name="Shape 6"/>
          <p:cNvSpPr/>
          <p:nvPr/>
        </p:nvSpPr>
        <p:spPr>
          <a:xfrm>
            <a:off x="457200" y="1234440"/>
            <a:ext cx="5943600" cy="4206240"/>
          </a:xfrm>
          <a:prstGeom prst="roundRect">
            <a:avLst>
              <a:gd name="adj" fmla="val 2609"/>
            </a:avLst>
          </a:prstGeom>
          <a:solidFill>
            <a:srgbClr val="0B1B33"/>
          </a:solidFill>
          <a:ln w="12700">
            <a:solidFill>
              <a:srgbClr val="0B1B33"/>
            </a:solidFill>
            <a:prstDash val="solid"/>
          </a:ln>
        </p:spPr>
      </p:sp>
      <p:sp>
        <p:nvSpPr>
          <p:cNvPr id="9" name="Text 7"/>
          <p:cNvSpPr/>
          <p:nvPr/>
        </p:nvSpPr>
        <p:spPr>
          <a:xfrm>
            <a:off x="685800" y="1371600"/>
            <a:ext cx="1097280" cy="292608"/>
          </a:xfrm>
          <a:prstGeom prst="roundRect">
            <a:avLst>
              <a:gd name="adj" fmla="val 50000"/>
            </a:avLst>
          </a:prstGeom>
          <a:solidFill>
            <a:srgbClr val="22D3EE"/>
          </a:solidFill>
          <a:ln/>
        </p:spPr>
        <p:txBody>
          <a:bodyPr wrap="square" rtlCol="0" anchor="ctr"/>
          <a:lstStyle/>
          <a:p>
            <a:pPr marL="0" indent="0" algn="ctr">
              <a:buNone/>
            </a:pPr>
            <a:r>
              <a:rPr lang="en-US" sz="1100" b="1" dirty="0">
                <a:solidFill>
                  <a:srgbClr val="0B1B33"/>
                </a:solidFill>
              </a:rPr>
              <a:t>QUERY</a:t>
            </a:r>
            <a:endParaRPr lang="en-US" sz="1100" dirty="0"/>
          </a:p>
        </p:txBody>
      </p:sp>
      <p:sp>
        <p:nvSpPr>
          <p:cNvPr id="10" name="Text 8"/>
          <p:cNvSpPr txBox="1"/>
          <p:nvPr/>
        </p:nvSpPr>
        <p:spPr>
          <a:xfrm>
            <a:off x="685800" y="1737360"/>
            <a:ext cx="5577840" cy="3611880"/>
          </a:xfrm>
          <a:prstGeom prst="rect">
            <a:avLst/>
          </a:prstGeom>
          <a:noFill/>
          <a:ln/>
        </p:spPr>
        <p:txBody>
          <a:bodyPr wrap="square" lIns="0" tIns="0" rIns="0" bIns="0"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SELECT COUNT(*) AS total_customers,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SUM(CASE WHEN k.Churn = 'Yes' THEN 1 ELSE 0 END) AS churned_customers,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ROUND(100.0 * SUM(CASE WHEN k.Churn = 'Yes' THEN 1 ELSE 0 END)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 COUNT(*), 1) AS churn_rate_pct,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ROUND(SUM(b.MonthlyCharges), 0) AS monthly_revenue,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ROUND(SUM(CASE WHEN k.Churn = 'Yes' THEN b.MonthlyCharges ELSE 0 END), 0)</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AS monthly_revenue_lost,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ROUND(12 * SUM(CASE WHEN k.Churn = 'Yes' THEN b.MonthlyCharges ELSE 0 END), 0)</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AS yearly_revenue_lost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FROM contracts k</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billing b ON b.CustomerID = k.CustomerID;</a:t>
            </a:r>
            <a:endParaRPr lang="en-US" sz="1050" dirty="0"/>
          </a:p>
        </p:txBody>
      </p:sp>
      <p:sp>
        <p:nvSpPr>
          <p:cNvPr id="11" name="Shape 9"/>
          <p:cNvSpPr/>
          <p:nvPr/>
        </p:nvSpPr>
        <p:spPr>
          <a:xfrm>
            <a:off x="6583680" y="1234440"/>
            <a:ext cx="5120640" cy="4206240"/>
          </a:xfrm>
          <a:prstGeom prst="roundRect">
            <a:avLst>
              <a:gd name="adj" fmla="val 2609"/>
            </a:avLst>
          </a:prstGeom>
          <a:solidFill>
            <a:srgbClr val="FFFFFF"/>
          </a:solidFill>
          <a:ln w="12700">
            <a:solidFill>
              <a:srgbClr val="D5E1EE"/>
            </a:solidFill>
            <a:prstDash val="solid"/>
          </a:ln>
        </p:spPr>
      </p:sp>
      <p:sp>
        <p:nvSpPr>
          <p:cNvPr id="12" name="Text 10"/>
          <p:cNvSpPr/>
          <p:nvPr/>
        </p:nvSpPr>
        <p:spPr>
          <a:xfrm>
            <a:off x="6812280" y="1371600"/>
            <a:ext cx="1188720" cy="292608"/>
          </a:xfrm>
          <a:prstGeom prst="roundRect">
            <a:avLst>
              <a:gd name="adj" fmla="val 50000"/>
            </a:avLst>
          </a:prstGeom>
          <a:solidFill>
            <a:srgbClr val="F59E0B"/>
          </a:solidFill>
          <a:ln/>
        </p:spPr>
        <p:txBody>
          <a:bodyPr wrap="square" rtlCol="0" anchor="ctr"/>
          <a:lstStyle/>
          <a:p>
            <a:pPr marL="0" indent="0" algn="ctr">
              <a:buNone/>
            </a:pPr>
            <a:r>
              <a:rPr lang="en-US" sz="1100" b="1" dirty="0">
                <a:solidFill>
                  <a:srgbClr val="0B1B33"/>
                </a:solidFill>
              </a:rPr>
              <a:t>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754880" cy="768096"/>
        </p:xfrm>
        <a:graphic>
          <a:graphicData uri="http://schemas.openxmlformats.org/drawingml/2006/table">
            <a:tbl>
              <a:tblPr/>
              <a:tblGrid>
                <a:gridCol w="713232"/>
                <a:gridCol w="808330"/>
                <a:gridCol w="665683"/>
                <a:gridCol w="713232"/>
                <a:gridCol w="950976"/>
                <a:gridCol w="903427"/>
              </a:tblGrid>
              <a:tr h="384048">
                <a:tc>
                  <a:txBody>
                    <a:bodyPr/>
                    <a:lstStyle/>
                    <a:p>
                      <a:pPr marL="0" indent="0">
                        <a:buNone/>
                      </a:pPr>
                      <a:r>
                        <a:rPr lang="en-US" sz="900" b="1" dirty="0">
                          <a:solidFill>
                            <a:srgbClr val="FFFFFF"/>
                          </a:solidFill>
                        </a:rPr>
                        <a:t>total customers</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churned customers</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churn rate pct</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monthly revenue</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monthly revenue lost</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yearly revenue lost</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r>
              <a:tr h="384048">
                <a:tc>
                  <a:txBody>
                    <a:bodyPr/>
                    <a:lstStyle/>
                    <a:p>
                      <a:pPr marL="0" indent="0">
                        <a:buNone/>
                      </a:pPr>
                      <a:r>
                        <a:rPr lang="en-US" sz="900" dirty="0">
                          <a:solidFill>
                            <a:srgbClr val="0B1B33"/>
                          </a:solidFill>
                        </a:rPr>
                        <a:t>5,463</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1,238</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22.7</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344,300</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86,284</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1,035,408</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bl>
          </a:graphicData>
        </a:graphic>
      </p:graphicFrame>
      <p:sp>
        <p:nvSpPr>
          <p:cNvPr id="14" name="Shape 11"/>
          <p:cNvSpPr/>
          <p:nvPr/>
        </p:nvSpPr>
        <p:spPr>
          <a:xfrm>
            <a:off x="6812280" y="2926080"/>
            <a:ext cx="2240280" cy="1051560"/>
          </a:xfrm>
          <a:prstGeom prst="roundRect">
            <a:avLst>
              <a:gd name="adj" fmla="val 8696"/>
            </a:avLst>
          </a:prstGeom>
          <a:solidFill>
            <a:srgbClr val="F2F7FC"/>
          </a:solidFill>
          <a:ln w="12700">
            <a:solidFill>
              <a:srgbClr val="D5E1EE"/>
            </a:solidFill>
            <a:prstDash val="solid"/>
          </a:ln>
        </p:spPr>
      </p:sp>
      <p:sp>
        <p:nvSpPr>
          <p:cNvPr id="15" name="Text 12"/>
          <p:cNvSpPr txBox="1"/>
          <p:nvPr/>
        </p:nvSpPr>
        <p:spPr>
          <a:xfrm>
            <a:off x="6949440" y="3017520"/>
            <a:ext cx="2011680" cy="548640"/>
          </a:xfrm>
          <a:prstGeom prst="rect">
            <a:avLst/>
          </a:prstGeom>
          <a:noFill/>
          <a:ln/>
        </p:spPr>
        <p:txBody>
          <a:bodyPr wrap="square" lIns="0" tIns="0" rIns="0" bIns="0" rtlCol="0" anchor="ctr"/>
          <a:lstStyle/>
          <a:p>
            <a:pPr marL="0" indent="0">
              <a:buNone/>
            </a:pPr>
            <a:r>
              <a:rPr lang="en-US" sz="2800" b="1" dirty="0">
                <a:solidFill>
                  <a:srgbClr val="F43F5E"/>
                </a:solidFill>
                <a:latin typeface="Cambria" pitchFamily="34" charset="0"/>
                <a:ea typeface="Cambria" pitchFamily="34" charset="-122"/>
                <a:cs typeface="Cambria" pitchFamily="34" charset="-120"/>
              </a:rPr>
              <a:t>22.7%</a:t>
            </a:r>
            <a:endParaRPr lang="en-US" sz="2800" dirty="0"/>
          </a:p>
        </p:txBody>
      </p:sp>
      <p:sp>
        <p:nvSpPr>
          <p:cNvPr id="16" name="Text 13"/>
          <p:cNvSpPr txBox="1"/>
          <p:nvPr/>
        </p:nvSpPr>
        <p:spPr>
          <a:xfrm>
            <a:off x="6949440" y="3584448"/>
            <a:ext cx="2011680" cy="274320"/>
          </a:xfrm>
          <a:prstGeom prst="rect">
            <a:avLst/>
          </a:prstGeom>
          <a:noFill/>
          <a:ln/>
        </p:spPr>
        <p:txBody>
          <a:bodyPr wrap="square" lIns="0" tIns="0" rIns="0" bIns="0" rtlCol="0" anchor="ctr"/>
          <a:lstStyle/>
          <a:p>
            <a:pPr marL="0" indent="0">
              <a:buNone/>
            </a:pPr>
            <a:r>
              <a:rPr lang="en-US" sz="1200" dirty="0">
                <a:solidFill>
                  <a:srgbClr val="64748B"/>
                </a:solidFill>
              </a:rPr>
              <a:t>churn rate</a:t>
            </a:r>
            <a:endParaRPr lang="en-US" sz="1200" dirty="0"/>
          </a:p>
        </p:txBody>
      </p:sp>
      <p:sp>
        <p:nvSpPr>
          <p:cNvPr id="17" name="Shape 14"/>
          <p:cNvSpPr/>
          <p:nvPr/>
        </p:nvSpPr>
        <p:spPr>
          <a:xfrm>
            <a:off x="9189720" y="2926080"/>
            <a:ext cx="2240280" cy="1051560"/>
          </a:xfrm>
          <a:prstGeom prst="roundRect">
            <a:avLst>
              <a:gd name="adj" fmla="val 8696"/>
            </a:avLst>
          </a:prstGeom>
          <a:solidFill>
            <a:srgbClr val="F2F7FC"/>
          </a:solidFill>
          <a:ln w="12700">
            <a:solidFill>
              <a:srgbClr val="D5E1EE"/>
            </a:solidFill>
            <a:prstDash val="solid"/>
          </a:ln>
        </p:spPr>
      </p:sp>
      <p:sp>
        <p:nvSpPr>
          <p:cNvPr id="18" name="Text 15"/>
          <p:cNvSpPr txBox="1"/>
          <p:nvPr/>
        </p:nvSpPr>
        <p:spPr>
          <a:xfrm>
            <a:off x="9326880" y="3017520"/>
            <a:ext cx="2011680" cy="548640"/>
          </a:xfrm>
          <a:prstGeom prst="rect">
            <a:avLst/>
          </a:prstGeom>
          <a:noFill/>
          <a:ln/>
        </p:spPr>
        <p:txBody>
          <a:bodyPr wrap="square" lIns="0" tIns="0" rIns="0" bIns="0" rtlCol="0" anchor="ctr"/>
          <a:lstStyle/>
          <a:p>
            <a:pPr marL="0" indent="0">
              <a:buNone/>
            </a:pPr>
            <a:r>
              <a:rPr lang="en-US" sz="2800" b="1" dirty="0">
                <a:solidFill>
                  <a:srgbClr val="F59E0B"/>
                </a:solidFill>
                <a:latin typeface="Cambria" pitchFamily="34" charset="0"/>
                <a:ea typeface="Cambria" pitchFamily="34" charset="-122"/>
                <a:cs typeface="Cambria" pitchFamily="34" charset="-120"/>
              </a:rPr>
              <a:t>$86,284</a:t>
            </a:r>
            <a:endParaRPr lang="en-US" sz="2800" dirty="0"/>
          </a:p>
        </p:txBody>
      </p:sp>
      <p:sp>
        <p:nvSpPr>
          <p:cNvPr id="19" name="Text 16"/>
          <p:cNvSpPr txBox="1"/>
          <p:nvPr/>
        </p:nvSpPr>
        <p:spPr>
          <a:xfrm>
            <a:off x="9326880" y="3584448"/>
            <a:ext cx="2011680" cy="274320"/>
          </a:xfrm>
          <a:prstGeom prst="rect">
            <a:avLst/>
          </a:prstGeom>
          <a:noFill/>
          <a:ln/>
        </p:spPr>
        <p:txBody>
          <a:bodyPr wrap="square" lIns="0" tIns="0" rIns="0" bIns="0" rtlCol="0" anchor="ctr"/>
          <a:lstStyle/>
          <a:p>
            <a:pPr marL="0" indent="0">
              <a:buNone/>
            </a:pPr>
            <a:r>
              <a:rPr lang="en-US" sz="1200" dirty="0">
                <a:solidFill>
                  <a:srgbClr val="64748B"/>
                </a:solidFill>
              </a:rPr>
              <a:t>lost per month</a:t>
            </a:r>
            <a:endParaRPr lang="en-US" sz="1200" dirty="0"/>
          </a:p>
        </p:txBody>
      </p:sp>
      <p:sp>
        <p:nvSpPr>
          <p:cNvPr id="20" name="Shape 17"/>
          <p:cNvSpPr/>
          <p:nvPr/>
        </p:nvSpPr>
        <p:spPr>
          <a:xfrm>
            <a:off x="6812280" y="4114800"/>
            <a:ext cx="2240280" cy="1051560"/>
          </a:xfrm>
          <a:prstGeom prst="roundRect">
            <a:avLst>
              <a:gd name="adj" fmla="val 8696"/>
            </a:avLst>
          </a:prstGeom>
          <a:solidFill>
            <a:srgbClr val="F2F7FC"/>
          </a:solidFill>
          <a:ln w="12700">
            <a:solidFill>
              <a:srgbClr val="D5E1EE"/>
            </a:solidFill>
            <a:prstDash val="solid"/>
          </a:ln>
        </p:spPr>
      </p:sp>
      <p:sp>
        <p:nvSpPr>
          <p:cNvPr id="21" name="Text 18"/>
          <p:cNvSpPr txBox="1"/>
          <p:nvPr/>
        </p:nvSpPr>
        <p:spPr>
          <a:xfrm>
            <a:off x="6949440" y="4206240"/>
            <a:ext cx="2011680" cy="548640"/>
          </a:xfrm>
          <a:prstGeom prst="rect">
            <a:avLst/>
          </a:prstGeom>
          <a:noFill/>
          <a:ln/>
        </p:spPr>
        <p:txBody>
          <a:bodyPr wrap="square" lIns="0" tIns="0" rIns="0" bIns="0" rtlCol="0" anchor="ctr"/>
          <a:lstStyle/>
          <a:p>
            <a:pPr marL="0" indent="0">
              <a:buNone/>
            </a:pPr>
            <a:r>
              <a:rPr lang="en-US" sz="2800" b="1" dirty="0">
                <a:solidFill>
                  <a:srgbClr val="F43F5E"/>
                </a:solidFill>
                <a:latin typeface="Cambria" pitchFamily="34" charset="0"/>
                <a:ea typeface="Cambria" pitchFamily="34" charset="-122"/>
                <a:cs typeface="Cambria" pitchFamily="34" charset="-120"/>
              </a:rPr>
              <a:t>$1.04M</a:t>
            </a:r>
            <a:endParaRPr lang="en-US" sz="2800" dirty="0"/>
          </a:p>
        </p:txBody>
      </p:sp>
      <p:sp>
        <p:nvSpPr>
          <p:cNvPr id="22" name="Text 19"/>
          <p:cNvSpPr txBox="1"/>
          <p:nvPr/>
        </p:nvSpPr>
        <p:spPr>
          <a:xfrm>
            <a:off x="6949440" y="4773168"/>
            <a:ext cx="2011680" cy="274320"/>
          </a:xfrm>
          <a:prstGeom prst="rect">
            <a:avLst/>
          </a:prstGeom>
          <a:noFill/>
          <a:ln/>
        </p:spPr>
        <p:txBody>
          <a:bodyPr wrap="square" lIns="0" tIns="0" rIns="0" bIns="0" rtlCol="0" anchor="ctr"/>
          <a:lstStyle/>
          <a:p>
            <a:pPr marL="0" indent="0">
              <a:buNone/>
            </a:pPr>
            <a:r>
              <a:rPr lang="en-US" sz="1200" dirty="0">
                <a:solidFill>
                  <a:srgbClr val="64748B"/>
                </a:solidFill>
              </a:rPr>
              <a:t>lost per year</a:t>
            </a:r>
            <a:endParaRPr lang="en-US" sz="1200" dirty="0"/>
          </a:p>
        </p:txBody>
      </p:sp>
      <p:sp>
        <p:nvSpPr>
          <p:cNvPr id="23" name="Shape 20"/>
          <p:cNvSpPr/>
          <p:nvPr/>
        </p:nvSpPr>
        <p:spPr>
          <a:xfrm>
            <a:off x="9189720" y="4114800"/>
            <a:ext cx="2240280" cy="1051560"/>
          </a:xfrm>
          <a:prstGeom prst="roundRect">
            <a:avLst>
              <a:gd name="adj" fmla="val 8696"/>
            </a:avLst>
          </a:prstGeom>
          <a:solidFill>
            <a:srgbClr val="F2F7FC"/>
          </a:solidFill>
          <a:ln w="12700">
            <a:solidFill>
              <a:srgbClr val="D5E1EE"/>
            </a:solidFill>
            <a:prstDash val="solid"/>
          </a:ln>
        </p:spPr>
      </p:sp>
      <p:sp>
        <p:nvSpPr>
          <p:cNvPr id="24" name="Text 21"/>
          <p:cNvSpPr txBox="1"/>
          <p:nvPr/>
        </p:nvSpPr>
        <p:spPr>
          <a:xfrm>
            <a:off x="9326880" y="4206240"/>
            <a:ext cx="2011680" cy="54864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25.1%</a:t>
            </a:r>
            <a:endParaRPr lang="en-US" sz="2800" dirty="0"/>
          </a:p>
        </p:txBody>
      </p:sp>
      <p:sp>
        <p:nvSpPr>
          <p:cNvPr id="25" name="Text 22"/>
          <p:cNvSpPr txBox="1"/>
          <p:nvPr/>
        </p:nvSpPr>
        <p:spPr>
          <a:xfrm>
            <a:off x="9326880" y="4773168"/>
            <a:ext cx="2011680" cy="274320"/>
          </a:xfrm>
          <a:prstGeom prst="rect">
            <a:avLst/>
          </a:prstGeom>
          <a:noFill/>
          <a:ln/>
        </p:spPr>
        <p:txBody>
          <a:bodyPr wrap="square" lIns="0" tIns="0" rIns="0" bIns="0" rtlCol="0" anchor="ctr"/>
          <a:lstStyle/>
          <a:p>
            <a:pPr marL="0" indent="0">
              <a:buNone/>
            </a:pPr>
            <a:r>
              <a:rPr lang="en-US" sz="1200" dirty="0">
                <a:solidFill>
                  <a:srgbClr val="64748B"/>
                </a:solidFill>
              </a:rPr>
              <a:t>of revenue lost</a:t>
            </a:r>
            <a:endParaRPr lang="en-US" sz="1200" dirty="0"/>
          </a:p>
        </p:txBody>
      </p:sp>
      <p:sp>
        <p:nvSpPr>
          <p:cNvPr id="26" name="Shape 23"/>
          <p:cNvSpPr/>
          <p:nvPr/>
        </p:nvSpPr>
        <p:spPr>
          <a:xfrm>
            <a:off x="457200" y="5532120"/>
            <a:ext cx="11247120" cy="960120"/>
          </a:xfrm>
          <a:prstGeom prst="roundRect">
            <a:avLst>
              <a:gd name="adj" fmla="val 9524"/>
            </a:avLst>
          </a:prstGeom>
          <a:solidFill>
            <a:srgbClr val="FFF4DC"/>
          </a:solidFill>
          <a:ln w="12700">
            <a:solidFill>
              <a:srgbClr val="F59E0B"/>
            </a:solidFill>
            <a:prstDash val="solid"/>
          </a:ln>
        </p:spPr>
      </p:sp>
      <p:sp>
        <p:nvSpPr>
          <p:cNvPr id="27" name="Text 24"/>
          <p:cNvSpPr txBox="1"/>
          <p:nvPr/>
        </p:nvSpPr>
        <p:spPr>
          <a:xfrm>
            <a:off x="685800" y="5559552"/>
            <a:ext cx="10789920" cy="905256"/>
          </a:xfrm>
          <a:prstGeom prst="rect">
            <a:avLst/>
          </a:prstGeom>
          <a:noFill/>
          <a:ln/>
        </p:spPr>
        <p:txBody>
          <a:bodyPr wrap="square" lIns="0" tIns="0" rIns="0" bIns="0" rtlCol="0" anchor="ctr"/>
          <a:lstStyle/>
          <a:p>
            <a:pPr marL="0" indent="0">
              <a:buNone/>
            </a:pPr>
            <a:r>
              <a:rPr lang="en-US" sz="1300" b="1" dirty="0">
                <a:solidFill>
                  <a:srgbClr val="B45309"/>
                </a:solidFill>
              </a:rPr>
              <a:t>INSIGHT  </a:t>
            </a:r>
            <a:r>
              <a:rPr lang="en-US" sz="1300" dirty="0">
                <a:solidFill>
                  <a:srgbClr val="0B1B33"/>
                </a:solidFill>
              </a:rPr>
              <a:t>22.7% of customers (1,238 of 5,463) have left, taking $86,284 of monthly billing, which is 25.1% of all revenue. Churned customers paid more than average ($69.70 vs $63.03 a month), so the revenue loss is bigger than the customer loss. Over a year that is about $1.04 million.</a:t>
            </a:r>
            <a:endParaRPr lang="en-US" sz="1300" dirty="0"/>
          </a:p>
        </p:txBody>
      </p:sp>
      <p:sp>
        <p:nvSpPr>
          <p:cNvPr id="29" name="Text 25"/>
          <p:cNvSpPr/>
          <p:nvPr/>
        </p:nvSpPr>
        <p:spPr>
          <a:xfrm>
            <a:off x="11338560" y="6556248"/>
            <a:ext cx="457200" cy="228600"/>
          </a:xfrm>
          <a:prstGeom prst="rect">
            <a:avLst/>
          </a:prstGeom>
          <a:noFill/>
          <a:ln/>
        </p:spPr>
        <p:txBody>
          <a:bodyPr wrap="square" rtlCol="0" anchor="ctr"/>
          <a:lstStyle/>
          <a:p>
            <a:pPr marL="0" indent="0" algn="r">
              <a:buNone/>
            </a:pPr>
            <a:r>
              <a:rPr lang="en-US" sz="900" dirty="0">
                <a:solidFill>
                  <a:srgbClr val="64748B"/>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2200" b="1" dirty="0">
                <a:solidFill>
                  <a:srgbClr val="0B1B33"/>
                </a:solidFill>
                <a:latin typeface="Cambria" pitchFamily="34" charset="0"/>
                <a:ea typeface="Cambria" pitchFamily="34" charset="-122"/>
                <a:cs typeface="Cambria" pitchFamily="34" charset="-120"/>
              </a:rPr>
              <a:t>Q2. Which contract type loses the most customers?</a:t>
            </a:r>
            <a:endParaRPr lang="en-US" sz="22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CHURN DRIVERS</a:t>
            </a:r>
            <a:endParaRPr lang="en-US" sz="1100" dirty="0"/>
          </a:p>
        </p:txBody>
      </p:sp>
      <p:sp>
        <p:nvSpPr>
          <p:cNvPr id="8" name="Shape 6"/>
          <p:cNvSpPr/>
          <p:nvPr/>
        </p:nvSpPr>
        <p:spPr>
          <a:xfrm>
            <a:off x="457200" y="1234440"/>
            <a:ext cx="5943600" cy="4206240"/>
          </a:xfrm>
          <a:prstGeom prst="roundRect">
            <a:avLst>
              <a:gd name="adj" fmla="val 2609"/>
            </a:avLst>
          </a:prstGeom>
          <a:solidFill>
            <a:srgbClr val="0B1B33"/>
          </a:solidFill>
          <a:ln w="12700">
            <a:solidFill>
              <a:srgbClr val="0B1B33"/>
            </a:solidFill>
            <a:prstDash val="solid"/>
          </a:ln>
        </p:spPr>
      </p:sp>
      <p:sp>
        <p:nvSpPr>
          <p:cNvPr id="9" name="Text 7"/>
          <p:cNvSpPr/>
          <p:nvPr/>
        </p:nvSpPr>
        <p:spPr>
          <a:xfrm>
            <a:off x="685800" y="1371600"/>
            <a:ext cx="1097280" cy="292608"/>
          </a:xfrm>
          <a:prstGeom prst="roundRect">
            <a:avLst>
              <a:gd name="adj" fmla="val 50000"/>
            </a:avLst>
          </a:prstGeom>
          <a:solidFill>
            <a:srgbClr val="22D3EE"/>
          </a:solidFill>
          <a:ln/>
        </p:spPr>
        <p:txBody>
          <a:bodyPr wrap="square" rtlCol="0" anchor="ctr"/>
          <a:lstStyle/>
          <a:p>
            <a:pPr marL="0" indent="0" algn="ctr">
              <a:buNone/>
            </a:pPr>
            <a:r>
              <a:rPr lang="en-US" sz="1100" b="1" dirty="0">
                <a:solidFill>
                  <a:srgbClr val="0B1B33"/>
                </a:solidFill>
              </a:rPr>
              <a:t>QUERY</a:t>
            </a:r>
            <a:endParaRPr lang="en-US" sz="1100" dirty="0"/>
          </a:p>
        </p:txBody>
      </p:sp>
      <p:sp>
        <p:nvSpPr>
          <p:cNvPr id="10" name="Text 8"/>
          <p:cNvSpPr txBox="1"/>
          <p:nvPr/>
        </p:nvSpPr>
        <p:spPr>
          <a:xfrm>
            <a:off x="685800" y="1737360"/>
            <a:ext cx="5577840" cy="3611880"/>
          </a:xfrm>
          <a:prstGeom prst="rect">
            <a:avLst/>
          </a:prstGeom>
          <a:noFill/>
          <a:ln/>
        </p:spPr>
        <p:txBody>
          <a:bodyPr wrap="square" lIns="0" tIns="0" rIns="0" bIns="0"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SELECT k.ContractType,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COUNT(*) AS customers,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SUM(CASE WHEN k.Churn = 'Yes' THEN 1 ELSE 0 END) AS churned,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ROUND(100.0 * SUM(CASE WHEN k.Churn = 'Yes' THEN 1 ELSE 0 END)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 COUNT(*), 1) AS churn_rate_pct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FROM contracts k</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GROUP BY k.ContractType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ORDER BY churn_rate_pct DESC;</a:t>
            </a:r>
            <a:endParaRPr lang="en-US" sz="1050" dirty="0"/>
          </a:p>
        </p:txBody>
      </p:sp>
      <p:sp>
        <p:nvSpPr>
          <p:cNvPr id="11" name="Shape 9"/>
          <p:cNvSpPr/>
          <p:nvPr/>
        </p:nvSpPr>
        <p:spPr>
          <a:xfrm>
            <a:off x="6583680" y="1234440"/>
            <a:ext cx="5120640" cy="4206240"/>
          </a:xfrm>
          <a:prstGeom prst="roundRect">
            <a:avLst>
              <a:gd name="adj" fmla="val 2609"/>
            </a:avLst>
          </a:prstGeom>
          <a:solidFill>
            <a:srgbClr val="FFFFFF"/>
          </a:solidFill>
          <a:ln w="12700">
            <a:solidFill>
              <a:srgbClr val="D5E1EE"/>
            </a:solidFill>
            <a:prstDash val="solid"/>
          </a:ln>
        </p:spPr>
      </p:sp>
      <p:sp>
        <p:nvSpPr>
          <p:cNvPr id="12" name="Text 10"/>
          <p:cNvSpPr/>
          <p:nvPr/>
        </p:nvSpPr>
        <p:spPr>
          <a:xfrm>
            <a:off x="6812280" y="1371600"/>
            <a:ext cx="1188720" cy="292608"/>
          </a:xfrm>
          <a:prstGeom prst="roundRect">
            <a:avLst>
              <a:gd name="adj" fmla="val 50000"/>
            </a:avLst>
          </a:prstGeom>
          <a:solidFill>
            <a:srgbClr val="F59E0B"/>
          </a:solidFill>
          <a:ln/>
        </p:spPr>
        <p:txBody>
          <a:bodyPr wrap="square" rtlCol="0" anchor="ctr"/>
          <a:lstStyle/>
          <a:p>
            <a:pPr marL="0" indent="0" algn="ctr">
              <a:buNone/>
            </a:pPr>
            <a:r>
              <a:rPr lang="en-US" sz="1100" b="1" dirty="0">
                <a:solidFill>
                  <a:srgbClr val="0B1B33"/>
                </a:solidFill>
              </a:rPr>
              <a:t>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754880" cy="1316736"/>
        </p:xfrm>
        <a:graphic>
          <a:graphicData uri="http://schemas.openxmlformats.org/drawingml/2006/table">
            <a:tbl>
              <a:tblPr/>
              <a:tblGrid>
                <a:gridCol w="2043487"/>
                <a:gridCol w="813418"/>
                <a:gridCol w="632658"/>
                <a:gridCol w="1265317"/>
              </a:tblGrid>
              <a:tr h="301752">
                <a:tc>
                  <a:txBody>
                    <a:bodyPr/>
                    <a:lstStyle/>
                    <a:p>
                      <a:pPr marL="0" indent="0">
                        <a:buNone/>
                      </a:pPr>
                      <a:r>
                        <a:rPr lang="en-US" sz="1050" b="1" dirty="0">
                          <a:solidFill>
                            <a:srgbClr val="FFFFFF"/>
                          </a:solidFill>
                        </a:rPr>
                        <a:t>ContractType</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customers</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churned</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churn rate pct</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r>
              <a:tr h="301752">
                <a:tc>
                  <a:txBody>
                    <a:bodyPr/>
                    <a:lstStyle/>
                    <a:p>
                      <a:pPr marL="0" indent="0">
                        <a:buNone/>
                      </a:pPr>
                      <a:r>
                        <a:rPr lang="en-US" sz="1050" dirty="0">
                          <a:solidFill>
                            <a:srgbClr val="0B1B33"/>
                          </a:solidFill>
                        </a:rPr>
                        <a:t>Month-to-Month</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3,069</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846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27.6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050" dirty="0">
                          <a:solidFill>
                            <a:srgbClr val="0B1B33"/>
                          </a:solidFill>
                        </a:rPr>
                        <a:t>One Year</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1,324</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235</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17.7</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r h="301752">
                <a:tc>
                  <a:txBody>
                    <a:bodyPr/>
                    <a:lstStyle/>
                    <a:p>
                      <a:pPr marL="0" indent="0">
                        <a:buNone/>
                      </a:pPr>
                      <a:r>
                        <a:rPr lang="en-US" sz="1050" dirty="0">
                          <a:solidFill>
                            <a:srgbClr val="0B1B33"/>
                          </a:solidFill>
                        </a:rPr>
                        <a:t>Two Year</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1,070</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157</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14.7</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bl>
          </a:graphicData>
        </a:graphic>
      </p:graphicFrame>
      <p:graphicFrame>
        <p:nvGraphicFramePr>
          <p:cNvPr id="14" name="Chart 0"/>
          <p:cNvGraphicFramePr/>
          <p:nvPr/>
        </p:nvGraphicFramePr>
        <p:xfrm>
          <a:off x="6720840" y="3611880"/>
          <a:ext cx="484632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1"/>
          <p:cNvSpPr/>
          <p:nvPr/>
        </p:nvSpPr>
        <p:spPr>
          <a:xfrm>
            <a:off x="457200" y="5532120"/>
            <a:ext cx="11247120" cy="960120"/>
          </a:xfrm>
          <a:prstGeom prst="roundRect">
            <a:avLst>
              <a:gd name="adj" fmla="val 9524"/>
            </a:avLst>
          </a:prstGeom>
          <a:solidFill>
            <a:srgbClr val="FFF4DC"/>
          </a:solidFill>
          <a:ln w="12700">
            <a:solidFill>
              <a:srgbClr val="F59E0B"/>
            </a:solidFill>
            <a:prstDash val="solid"/>
          </a:ln>
        </p:spPr>
      </p:sp>
      <p:sp>
        <p:nvSpPr>
          <p:cNvPr id="16" name="Text 12"/>
          <p:cNvSpPr txBox="1"/>
          <p:nvPr/>
        </p:nvSpPr>
        <p:spPr>
          <a:xfrm>
            <a:off x="685800" y="5559552"/>
            <a:ext cx="10789920" cy="905256"/>
          </a:xfrm>
          <a:prstGeom prst="rect">
            <a:avLst/>
          </a:prstGeom>
          <a:noFill/>
          <a:ln/>
        </p:spPr>
        <p:txBody>
          <a:bodyPr wrap="square" lIns="0" tIns="0" rIns="0" bIns="0" rtlCol="0" anchor="ctr"/>
          <a:lstStyle/>
          <a:p>
            <a:pPr marL="0" indent="0">
              <a:buNone/>
            </a:pPr>
            <a:r>
              <a:rPr lang="en-US" sz="1300" b="1" dirty="0">
                <a:solidFill>
                  <a:srgbClr val="B45309"/>
                </a:solidFill>
              </a:rPr>
              <a:t>INSIGHT  </a:t>
            </a:r>
            <a:r>
              <a:rPr lang="en-US" sz="1300" dirty="0">
                <a:solidFill>
                  <a:srgbClr val="0B1B33"/>
                </a:solidFill>
              </a:rPr>
              <a:t>Month-to-Month customers churn at 27.6% against 17.7% on One Year and 14.7% on Two Year. They are 56% of customers but 68% of all churn (846 of 1,238). Action: offer a small incentive to move Month-to-Month customers onto One-Year plans.</a:t>
            </a:r>
            <a:endParaRPr lang="en-US" sz="1300" dirty="0"/>
          </a:p>
        </p:txBody>
      </p:sp>
      <p:sp>
        <p:nvSpPr>
          <p:cNvPr id="18" name="Text 13"/>
          <p:cNvSpPr/>
          <p:nvPr/>
        </p:nvSpPr>
        <p:spPr>
          <a:xfrm>
            <a:off x="11338560" y="6556248"/>
            <a:ext cx="457200" cy="228600"/>
          </a:xfrm>
          <a:prstGeom prst="rect">
            <a:avLst/>
          </a:prstGeom>
          <a:noFill/>
          <a:ln/>
        </p:spPr>
        <p:txBody>
          <a:bodyPr wrap="square" rtlCol="0" anchor="ctr"/>
          <a:lstStyle/>
          <a:p>
            <a:pPr marL="0" indent="0" algn="r">
              <a:buNone/>
            </a:pPr>
            <a:r>
              <a:rPr lang="en-US" sz="900" dirty="0">
                <a:solidFill>
                  <a:srgbClr val="64748B"/>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2200" b="1" dirty="0">
                <a:solidFill>
                  <a:srgbClr val="0B1B33"/>
                </a:solidFill>
                <a:latin typeface="Cambria" pitchFamily="34" charset="0"/>
                <a:ea typeface="Cambria" pitchFamily="34" charset="-122"/>
                <a:cs typeface="Cambria" pitchFamily="34" charset="-120"/>
              </a:rPr>
              <a:t>Q3. Is Fiber Optic really the problem?</a:t>
            </a:r>
            <a:endParaRPr lang="en-US" sz="22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CHURN DRIVERS</a:t>
            </a:r>
            <a:endParaRPr lang="en-US" sz="1100" dirty="0"/>
          </a:p>
        </p:txBody>
      </p:sp>
      <p:sp>
        <p:nvSpPr>
          <p:cNvPr id="8" name="Shape 6"/>
          <p:cNvSpPr/>
          <p:nvPr/>
        </p:nvSpPr>
        <p:spPr>
          <a:xfrm>
            <a:off x="457200" y="1234440"/>
            <a:ext cx="5943600" cy="4206240"/>
          </a:xfrm>
          <a:prstGeom prst="roundRect">
            <a:avLst>
              <a:gd name="adj" fmla="val 2609"/>
            </a:avLst>
          </a:prstGeom>
          <a:solidFill>
            <a:srgbClr val="0B1B33"/>
          </a:solidFill>
          <a:ln w="12700">
            <a:solidFill>
              <a:srgbClr val="0B1B33"/>
            </a:solidFill>
            <a:prstDash val="solid"/>
          </a:ln>
        </p:spPr>
      </p:sp>
      <p:sp>
        <p:nvSpPr>
          <p:cNvPr id="9" name="Text 7"/>
          <p:cNvSpPr/>
          <p:nvPr/>
        </p:nvSpPr>
        <p:spPr>
          <a:xfrm>
            <a:off x="685800" y="1371600"/>
            <a:ext cx="1097280" cy="292608"/>
          </a:xfrm>
          <a:prstGeom prst="roundRect">
            <a:avLst>
              <a:gd name="adj" fmla="val 50000"/>
            </a:avLst>
          </a:prstGeom>
          <a:solidFill>
            <a:srgbClr val="22D3EE"/>
          </a:solidFill>
          <a:ln/>
        </p:spPr>
        <p:txBody>
          <a:bodyPr wrap="square" rtlCol="0" anchor="ctr"/>
          <a:lstStyle/>
          <a:p>
            <a:pPr marL="0" indent="0" algn="ctr">
              <a:buNone/>
            </a:pPr>
            <a:r>
              <a:rPr lang="en-US" sz="1100" b="1" dirty="0">
                <a:solidFill>
                  <a:srgbClr val="0B1B33"/>
                </a:solidFill>
              </a:rPr>
              <a:t>QUERY</a:t>
            </a:r>
            <a:endParaRPr lang="en-US" sz="1100" dirty="0"/>
          </a:p>
        </p:txBody>
      </p:sp>
      <p:sp>
        <p:nvSpPr>
          <p:cNvPr id="10" name="Text 8"/>
          <p:cNvSpPr txBox="1"/>
          <p:nvPr/>
        </p:nvSpPr>
        <p:spPr>
          <a:xfrm>
            <a:off x="685800" y="1737360"/>
            <a:ext cx="5577840" cy="3611880"/>
          </a:xfrm>
          <a:prstGeom prst="rect">
            <a:avLst/>
          </a:prstGeom>
          <a:noFill/>
          <a:ln/>
        </p:spPr>
        <p:txBody>
          <a:bodyPr wrap="square" lIns="0" tIns="0" rIns="0" bIns="0"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SELECT s.InternetService,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COUNT(*) AS customers,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ROUND(AVG(b.MonthlyCharges), 2) AS avg_monthly_bill,</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ROUND(100.0 * SUM(CASE WHEN k.Churn = 'Yes' THEN 1 ELSE 0 END)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 COUNT(*), 1) AS churn_rate_pct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FROM services 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contracts k ON k.CustomerID = s.CustomerID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billing b ON b.CustomerID = s.CustomerID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GROUP BY s.InternetService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ORDER BY churn_rate_pct DESC;</a:t>
            </a:r>
            <a:endParaRPr lang="en-US" sz="1050" dirty="0"/>
          </a:p>
        </p:txBody>
      </p:sp>
      <p:sp>
        <p:nvSpPr>
          <p:cNvPr id="11" name="Shape 9"/>
          <p:cNvSpPr/>
          <p:nvPr/>
        </p:nvSpPr>
        <p:spPr>
          <a:xfrm>
            <a:off x="6583680" y="1234440"/>
            <a:ext cx="5120640" cy="4206240"/>
          </a:xfrm>
          <a:prstGeom prst="roundRect">
            <a:avLst>
              <a:gd name="adj" fmla="val 2609"/>
            </a:avLst>
          </a:prstGeom>
          <a:solidFill>
            <a:srgbClr val="FFFFFF"/>
          </a:solidFill>
          <a:ln w="12700">
            <a:solidFill>
              <a:srgbClr val="D5E1EE"/>
            </a:solidFill>
            <a:prstDash val="solid"/>
          </a:ln>
        </p:spPr>
      </p:sp>
      <p:sp>
        <p:nvSpPr>
          <p:cNvPr id="12" name="Text 10"/>
          <p:cNvSpPr/>
          <p:nvPr/>
        </p:nvSpPr>
        <p:spPr>
          <a:xfrm>
            <a:off x="6812280" y="1371600"/>
            <a:ext cx="1188720" cy="292608"/>
          </a:xfrm>
          <a:prstGeom prst="roundRect">
            <a:avLst>
              <a:gd name="adj" fmla="val 50000"/>
            </a:avLst>
          </a:prstGeom>
          <a:solidFill>
            <a:srgbClr val="F59E0B"/>
          </a:solidFill>
          <a:ln/>
        </p:spPr>
        <p:txBody>
          <a:bodyPr wrap="square" rtlCol="0" anchor="ctr"/>
          <a:lstStyle/>
          <a:p>
            <a:pPr marL="0" indent="0" algn="ctr">
              <a:buNone/>
            </a:pPr>
            <a:r>
              <a:rPr lang="en-US" sz="1100" b="1" dirty="0">
                <a:solidFill>
                  <a:srgbClr val="0B1B33"/>
                </a:solidFill>
              </a:rPr>
              <a:t>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754881" cy="1316736"/>
        </p:xfrm>
        <a:graphic>
          <a:graphicData uri="http://schemas.openxmlformats.org/drawingml/2006/table">
            <a:tbl>
              <a:tblPr/>
              <a:tblGrid>
                <a:gridCol w="1488073"/>
                <a:gridCol w="753879"/>
                <a:gridCol w="1340229"/>
                <a:gridCol w="1172700"/>
              </a:tblGrid>
              <a:tr h="301752">
                <a:tc>
                  <a:txBody>
                    <a:bodyPr/>
                    <a:lstStyle/>
                    <a:p>
                      <a:pPr marL="0" indent="0">
                        <a:buNone/>
                      </a:pPr>
                      <a:r>
                        <a:rPr lang="en-US" sz="1050" b="1" dirty="0">
                          <a:solidFill>
                            <a:srgbClr val="FFFFFF"/>
                          </a:solidFill>
                        </a:rPr>
                        <a:t>InternetService</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customers</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avg monthly bill</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churn rate pct</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r>
              <a:tr h="301752">
                <a:tc>
                  <a:txBody>
                    <a:bodyPr/>
                    <a:lstStyle/>
                    <a:p>
                      <a:pPr marL="0" indent="0">
                        <a:buNone/>
                      </a:pPr>
                      <a:r>
                        <a:rPr lang="en-US" sz="1050" dirty="0">
                          <a:solidFill>
                            <a:srgbClr val="0B1B33"/>
                          </a:solidFill>
                        </a:rPr>
                        <a:t>Fiber Optic</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2,469</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84.26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29.5</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050" dirty="0">
                          <a:solidFill>
                            <a:srgbClr val="0B1B33"/>
                          </a:solidFill>
                        </a:rPr>
                        <a:t>DSL</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1,906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58.27</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18</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r h="301752">
                <a:tc>
                  <a:txBody>
                    <a:bodyPr/>
                    <a:lstStyle/>
                    <a:p>
                      <a:pPr marL="0" indent="0">
                        <a:buNone/>
                      </a:pPr>
                      <a:r>
                        <a:rPr lang="en-US" sz="1050" dirty="0">
                          <a:solidFill>
                            <a:srgbClr val="0B1B33"/>
                          </a:solidFill>
                        </a:rPr>
                        <a:t>No</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1,088</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23.16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15.2</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bl>
          </a:graphicData>
        </a:graphic>
      </p:graphicFrame>
      <p:graphicFrame>
        <p:nvGraphicFramePr>
          <p:cNvPr id="14" name="Chart 0"/>
          <p:cNvGraphicFramePr/>
          <p:nvPr/>
        </p:nvGraphicFramePr>
        <p:xfrm>
          <a:off x="6720840" y="3611880"/>
          <a:ext cx="484632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1"/>
          <p:cNvSpPr/>
          <p:nvPr/>
        </p:nvSpPr>
        <p:spPr>
          <a:xfrm>
            <a:off x="457200" y="5532120"/>
            <a:ext cx="11247120" cy="960120"/>
          </a:xfrm>
          <a:prstGeom prst="roundRect">
            <a:avLst>
              <a:gd name="adj" fmla="val 9524"/>
            </a:avLst>
          </a:prstGeom>
          <a:solidFill>
            <a:srgbClr val="FFF4DC"/>
          </a:solidFill>
          <a:ln w="12700">
            <a:solidFill>
              <a:srgbClr val="F59E0B"/>
            </a:solidFill>
            <a:prstDash val="solid"/>
          </a:ln>
        </p:spPr>
      </p:sp>
      <p:sp>
        <p:nvSpPr>
          <p:cNvPr id="16" name="Text 12"/>
          <p:cNvSpPr txBox="1"/>
          <p:nvPr/>
        </p:nvSpPr>
        <p:spPr>
          <a:xfrm>
            <a:off x="685800" y="5559552"/>
            <a:ext cx="10789920" cy="905256"/>
          </a:xfrm>
          <a:prstGeom prst="rect">
            <a:avLst/>
          </a:prstGeom>
          <a:noFill/>
          <a:ln/>
        </p:spPr>
        <p:txBody>
          <a:bodyPr wrap="square" lIns="0" tIns="0" rIns="0" bIns="0" rtlCol="0" anchor="ctr"/>
          <a:lstStyle/>
          <a:p>
            <a:pPr marL="0" indent="0">
              <a:buNone/>
            </a:pPr>
            <a:r>
              <a:rPr lang="en-US" sz="1300" b="1" dirty="0">
                <a:solidFill>
                  <a:srgbClr val="B45309"/>
                </a:solidFill>
              </a:rPr>
              <a:t>INSIGHT  </a:t>
            </a:r>
            <a:r>
              <a:rPr lang="en-US" sz="1300" dirty="0">
                <a:solidFill>
                  <a:srgbClr val="0B1B33"/>
                </a:solidFill>
              </a:rPr>
              <a:t>Fiber Optic customers churn at 29.5%, about 1.6x the DSL rate (18.0%), and they also pay the most, around $84 a month versus $58 for DSL. Customers with no internet churn least (15.2%). Fiber looks like a price-to-value problem, not a technology problem.</a:t>
            </a:r>
            <a:endParaRPr lang="en-US" sz="1300" dirty="0"/>
          </a:p>
        </p:txBody>
      </p:sp>
      <p:sp>
        <p:nvSpPr>
          <p:cNvPr id="18" name="Text 13"/>
          <p:cNvSpPr/>
          <p:nvPr/>
        </p:nvSpPr>
        <p:spPr>
          <a:xfrm>
            <a:off x="11338560" y="6556248"/>
            <a:ext cx="457200" cy="228600"/>
          </a:xfrm>
          <a:prstGeom prst="rect">
            <a:avLst/>
          </a:prstGeom>
          <a:noFill/>
          <a:ln/>
        </p:spPr>
        <p:txBody>
          <a:bodyPr wrap="square" rtlCol="0" anchor="ctr"/>
          <a:lstStyle/>
          <a:p>
            <a:pPr marL="0" indent="0" algn="r">
              <a:buNone/>
            </a:pPr>
            <a:r>
              <a:rPr lang="en-US" sz="900" dirty="0">
                <a:solidFill>
                  <a:srgbClr val="64748B"/>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2200" b="1" dirty="0">
                <a:solidFill>
                  <a:srgbClr val="0B1B33"/>
                </a:solidFill>
                <a:latin typeface="Cambria" pitchFamily="34" charset="0"/>
                <a:ea typeface="Cambria" pitchFamily="34" charset="-122"/>
                <a:cs typeface="Cambria" pitchFamily="34" charset="-120"/>
              </a:rPr>
              <a:t>Q4. Which payment method has the most churn?</a:t>
            </a:r>
            <a:endParaRPr lang="en-US" sz="22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CHURN DRIVERS</a:t>
            </a:r>
            <a:endParaRPr lang="en-US" sz="1100" dirty="0"/>
          </a:p>
        </p:txBody>
      </p:sp>
      <p:sp>
        <p:nvSpPr>
          <p:cNvPr id="8" name="Shape 6"/>
          <p:cNvSpPr/>
          <p:nvPr/>
        </p:nvSpPr>
        <p:spPr>
          <a:xfrm>
            <a:off x="457200" y="1234440"/>
            <a:ext cx="5943600" cy="4206240"/>
          </a:xfrm>
          <a:prstGeom prst="roundRect">
            <a:avLst>
              <a:gd name="adj" fmla="val 2609"/>
            </a:avLst>
          </a:prstGeom>
          <a:solidFill>
            <a:srgbClr val="0B1B33"/>
          </a:solidFill>
          <a:ln w="12700">
            <a:solidFill>
              <a:srgbClr val="0B1B33"/>
            </a:solidFill>
            <a:prstDash val="solid"/>
          </a:ln>
        </p:spPr>
      </p:sp>
      <p:sp>
        <p:nvSpPr>
          <p:cNvPr id="9" name="Text 7"/>
          <p:cNvSpPr/>
          <p:nvPr/>
        </p:nvSpPr>
        <p:spPr>
          <a:xfrm>
            <a:off x="685800" y="1371600"/>
            <a:ext cx="1097280" cy="292608"/>
          </a:xfrm>
          <a:prstGeom prst="roundRect">
            <a:avLst>
              <a:gd name="adj" fmla="val 50000"/>
            </a:avLst>
          </a:prstGeom>
          <a:solidFill>
            <a:srgbClr val="22D3EE"/>
          </a:solidFill>
          <a:ln/>
        </p:spPr>
        <p:txBody>
          <a:bodyPr wrap="square" rtlCol="0" anchor="ctr"/>
          <a:lstStyle/>
          <a:p>
            <a:pPr marL="0" indent="0" algn="ctr">
              <a:buNone/>
            </a:pPr>
            <a:r>
              <a:rPr lang="en-US" sz="1100" b="1" dirty="0">
                <a:solidFill>
                  <a:srgbClr val="0B1B33"/>
                </a:solidFill>
              </a:rPr>
              <a:t>QUERY</a:t>
            </a:r>
            <a:endParaRPr lang="en-US" sz="1100" dirty="0"/>
          </a:p>
        </p:txBody>
      </p:sp>
      <p:sp>
        <p:nvSpPr>
          <p:cNvPr id="10" name="Text 8"/>
          <p:cNvSpPr txBox="1"/>
          <p:nvPr/>
        </p:nvSpPr>
        <p:spPr>
          <a:xfrm>
            <a:off x="685800" y="1737360"/>
            <a:ext cx="5577840" cy="3611880"/>
          </a:xfrm>
          <a:prstGeom prst="rect">
            <a:avLst/>
          </a:prstGeom>
          <a:noFill/>
          <a:ln/>
        </p:spPr>
        <p:txBody>
          <a:bodyPr wrap="square" lIns="0" tIns="0" rIns="0" bIns="0"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SELECT k.PaymentMethod,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COUNT(*) AS customers,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ROUND(100.0 * SUM(CASE WHEN k.Churn = 'Yes' THEN 1 ELSE 0 END)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 COUNT(*), 1) AS churn_rate_pct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FROM contracts k</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GROUP BY k.PaymentMethod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ORDER BY churn_rate_pct DESC;</a:t>
            </a:r>
            <a:endParaRPr lang="en-US" sz="1050" dirty="0"/>
          </a:p>
        </p:txBody>
      </p:sp>
      <p:sp>
        <p:nvSpPr>
          <p:cNvPr id="11" name="Shape 9"/>
          <p:cNvSpPr/>
          <p:nvPr/>
        </p:nvSpPr>
        <p:spPr>
          <a:xfrm>
            <a:off x="6583680" y="1234440"/>
            <a:ext cx="5120640" cy="4206240"/>
          </a:xfrm>
          <a:prstGeom prst="roundRect">
            <a:avLst>
              <a:gd name="adj" fmla="val 2609"/>
            </a:avLst>
          </a:prstGeom>
          <a:solidFill>
            <a:srgbClr val="FFFFFF"/>
          </a:solidFill>
          <a:ln w="12700">
            <a:solidFill>
              <a:srgbClr val="D5E1EE"/>
            </a:solidFill>
            <a:prstDash val="solid"/>
          </a:ln>
        </p:spPr>
      </p:sp>
      <p:sp>
        <p:nvSpPr>
          <p:cNvPr id="12" name="Text 10"/>
          <p:cNvSpPr/>
          <p:nvPr/>
        </p:nvSpPr>
        <p:spPr>
          <a:xfrm>
            <a:off x="6812280" y="1371600"/>
            <a:ext cx="1188720" cy="292608"/>
          </a:xfrm>
          <a:prstGeom prst="roundRect">
            <a:avLst>
              <a:gd name="adj" fmla="val 50000"/>
            </a:avLst>
          </a:prstGeom>
          <a:solidFill>
            <a:srgbClr val="F59E0B"/>
          </a:solidFill>
          <a:ln/>
        </p:spPr>
        <p:txBody>
          <a:bodyPr wrap="square" rtlCol="0" anchor="ctr"/>
          <a:lstStyle/>
          <a:p>
            <a:pPr marL="0" indent="0" algn="ctr">
              <a:buNone/>
            </a:pPr>
            <a:r>
              <a:rPr lang="en-US" sz="1100" b="1" dirty="0">
                <a:solidFill>
                  <a:srgbClr val="0B1B33"/>
                </a:solidFill>
              </a:rPr>
              <a:t>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754880" cy="1508760"/>
        </p:xfrm>
        <a:graphic>
          <a:graphicData uri="http://schemas.openxmlformats.org/drawingml/2006/table">
            <a:tbl>
              <a:tblPr/>
              <a:tblGrid>
                <a:gridCol w="2515686"/>
                <a:gridCol w="876206"/>
                <a:gridCol w="1362988"/>
              </a:tblGrid>
              <a:tr h="301752">
                <a:tc>
                  <a:txBody>
                    <a:bodyPr/>
                    <a:lstStyle/>
                    <a:p>
                      <a:pPr marL="0" indent="0">
                        <a:buNone/>
                      </a:pPr>
                      <a:r>
                        <a:rPr lang="en-US" sz="1200" b="1" dirty="0">
                          <a:solidFill>
                            <a:srgbClr val="FFFFFF"/>
                          </a:solidFill>
                        </a:rPr>
                        <a:t>PaymentMethod</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200" b="1" dirty="0">
                          <a:solidFill>
                            <a:srgbClr val="FFFFFF"/>
                          </a:solidFill>
                        </a:rPr>
                        <a:t>customers</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200" b="1" dirty="0">
                          <a:solidFill>
                            <a:srgbClr val="FFFFFF"/>
                          </a:solidFill>
                        </a:rPr>
                        <a:t>churn rate pct</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r>
              <a:tr h="301752">
                <a:tc>
                  <a:txBody>
                    <a:bodyPr/>
                    <a:lstStyle/>
                    <a:p>
                      <a:pPr marL="0" indent="0">
                        <a:buNone/>
                      </a:pPr>
                      <a:r>
                        <a:rPr lang="en-US" sz="1200" dirty="0">
                          <a:solidFill>
                            <a:srgbClr val="0B1B33"/>
                          </a:solidFill>
                        </a:rPr>
                        <a:t>Electronic Check</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200" dirty="0">
                          <a:solidFill>
                            <a:srgbClr val="0B1B33"/>
                          </a:solidFill>
                        </a:rPr>
                        <a:t>1,295</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200" dirty="0">
                          <a:solidFill>
                            <a:srgbClr val="0B1B33"/>
                          </a:solidFill>
                        </a:rPr>
                        <a:t>26</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200" dirty="0">
                          <a:solidFill>
                            <a:srgbClr val="0B1B33"/>
                          </a:solidFill>
                        </a:rPr>
                        <a:t>Bank Transfer</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200" dirty="0">
                          <a:solidFill>
                            <a:srgbClr val="0B1B33"/>
                          </a:solidFill>
                        </a:rPr>
                        <a:t>1,320</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200" dirty="0">
                          <a:solidFill>
                            <a:srgbClr val="0B1B33"/>
                          </a:solidFill>
                        </a:rPr>
                        <a:t>22.1</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r h="301752">
                <a:tc>
                  <a:txBody>
                    <a:bodyPr/>
                    <a:lstStyle/>
                    <a:p>
                      <a:pPr marL="0" indent="0">
                        <a:buNone/>
                      </a:pPr>
                      <a:r>
                        <a:rPr lang="en-US" sz="1200" dirty="0">
                          <a:solidFill>
                            <a:srgbClr val="0B1B33"/>
                          </a:solidFill>
                        </a:rPr>
                        <a:t>Credit Card</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200" dirty="0">
                          <a:solidFill>
                            <a:srgbClr val="0B1B33"/>
                          </a:solidFill>
                        </a:rPr>
                        <a:t>1,557</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200" dirty="0">
                          <a:solidFill>
                            <a:srgbClr val="0B1B33"/>
                          </a:solidFill>
                        </a:rPr>
                        <a:t>21.7</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200" dirty="0">
                          <a:solidFill>
                            <a:srgbClr val="0B1B33"/>
                          </a:solidFill>
                        </a:rPr>
                        <a:t>Mailed Check</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200" dirty="0">
                          <a:solidFill>
                            <a:srgbClr val="0B1B33"/>
                          </a:solidFill>
                        </a:rPr>
                        <a:t>1,291</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200" dirty="0">
                          <a:solidFill>
                            <a:srgbClr val="0B1B33"/>
                          </a:solidFill>
                        </a:rPr>
                        <a:t>21</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bl>
          </a:graphicData>
        </a:graphic>
      </p:graphicFrame>
      <p:graphicFrame>
        <p:nvGraphicFramePr>
          <p:cNvPr id="14" name="Chart 0"/>
          <p:cNvGraphicFramePr/>
          <p:nvPr/>
        </p:nvGraphicFramePr>
        <p:xfrm>
          <a:off x="6720840" y="3611880"/>
          <a:ext cx="484632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1"/>
          <p:cNvSpPr/>
          <p:nvPr/>
        </p:nvSpPr>
        <p:spPr>
          <a:xfrm>
            <a:off x="457200" y="5532120"/>
            <a:ext cx="11247120" cy="960120"/>
          </a:xfrm>
          <a:prstGeom prst="roundRect">
            <a:avLst>
              <a:gd name="adj" fmla="val 9524"/>
            </a:avLst>
          </a:prstGeom>
          <a:solidFill>
            <a:srgbClr val="FFF4DC"/>
          </a:solidFill>
          <a:ln w="12700">
            <a:solidFill>
              <a:srgbClr val="F59E0B"/>
            </a:solidFill>
            <a:prstDash val="solid"/>
          </a:ln>
        </p:spPr>
      </p:sp>
      <p:sp>
        <p:nvSpPr>
          <p:cNvPr id="16" name="Text 12"/>
          <p:cNvSpPr txBox="1"/>
          <p:nvPr/>
        </p:nvSpPr>
        <p:spPr>
          <a:xfrm>
            <a:off x="685800" y="5559552"/>
            <a:ext cx="10789920" cy="905256"/>
          </a:xfrm>
          <a:prstGeom prst="rect">
            <a:avLst/>
          </a:prstGeom>
          <a:noFill/>
          <a:ln/>
        </p:spPr>
        <p:txBody>
          <a:bodyPr wrap="square" lIns="0" tIns="0" rIns="0" bIns="0" rtlCol="0" anchor="ctr"/>
          <a:lstStyle/>
          <a:p>
            <a:pPr marL="0" indent="0">
              <a:buNone/>
            </a:pPr>
            <a:r>
              <a:rPr lang="en-US" sz="1300" b="1" dirty="0">
                <a:solidFill>
                  <a:srgbClr val="B45309"/>
                </a:solidFill>
              </a:rPr>
              <a:t>INSIGHT  </a:t>
            </a:r>
            <a:r>
              <a:rPr lang="en-US" sz="1300" dirty="0">
                <a:solidFill>
                  <a:srgbClr val="0B1B33"/>
                </a:solidFill>
              </a:rPr>
              <a:t>Electronic Check payers churn at 26.0%, while the other three payment methods sit at about 21-22%. Only one method stands out, so it is not simply manual versus automatic payment. Action: encourage Electronic Check customers to switch to auto-pay.</a:t>
            </a:r>
            <a:endParaRPr lang="en-US" sz="1300" dirty="0"/>
          </a:p>
        </p:txBody>
      </p:sp>
      <p:sp>
        <p:nvSpPr>
          <p:cNvPr id="18" name="Text 13"/>
          <p:cNvSpPr/>
          <p:nvPr/>
        </p:nvSpPr>
        <p:spPr>
          <a:xfrm>
            <a:off x="11338560" y="6556248"/>
            <a:ext cx="457200" cy="228600"/>
          </a:xfrm>
          <a:prstGeom prst="rect">
            <a:avLst/>
          </a:prstGeom>
          <a:noFill/>
          <a:ln/>
        </p:spPr>
        <p:txBody>
          <a:bodyPr wrap="square" rtlCol="0" anchor="ctr"/>
          <a:lstStyle/>
          <a:p>
            <a:pPr marL="0" indent="0" algn="r">
              <a:buNone/>
            </a:pPr>
            <a:r>
              <a:rPr lang="en-US" sz="900" dirty="0">
                <a:solidFill>
                  <a:srgbClr val="64748B"/>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2200" b="1" dirty="0">
                <a:solidFill>
                  <a:srgbClr val="0B1B33"/>
                </a:solidFill>
                <a:latin typeface="Cambria" pitchFamily="34" charset="0"/>
                <a:ea typeface="Cambria" pitchFamily="34" charset="-122"/>
                <a:cs typeface="Cambria" pitchFamily="34" charset="-120"/>
              </a:rPr>
              <a:t>Q5. When in the customer's life do they leave?</a:t>
            </a:r>
            <a:endParaRPr lang="en-US" sz="22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LIFECYCLE</a:t>
            </a:r>
            <a:endParaRPr lang="en-US" sz="1100" dirty="0"/>
          </a:p>
        </p:txBody>
      </p:sp>
      <p:sp>
        <p:nvSpPr>
          <p:cNvPr id="8" name="Shape 6"/>
          <p:cNvSpPr/>
          <p:nvPr/>
        </p:nvSpPr>
        <p:spPr>
          <a:xfrm>
            <a:off x="457200" y="1234440"/>
            <a:ext cx="5943600" cy="4206240"/>
          </a:xfrm>
          <a:prstGeom prst="roundRect">
            <a:avLst>
              <a:gd name="adj" fmla="val 2609"/>
            </a:avLst>
          </a:prstGeom>
          <a:solidFill>
            <a:srgbClr val="0B1B33"/>
          </a:solidFill>
          <a:ln w="12700">
            <a:solidFill>
              <a:srgbClr val="0B1B33"/>
            </a:solidFill>
            <a:prstDash val="solid"/>
          </a:ln>
        </p:spPr>
      </p:sp>
      <p:sp>
        <p:nvSpPr>
          <p:cNvPr id="9" name="Text 7"/>
          <p:cNvSpPr/>
          <p:nvPr/>
        </p:nvSpPr>
        <p:spPr>
          <a:xfrm>
            <a:off x="685800" y="1371600"/>
            <a:ext cx="1097280" cy="292608"/>
          </a:xfrm>
          <a:prstGeom prst="roundRect">
            <a:avLst>
              <a:gd name="adj" fmla="val 50000"/>
            </a:avLst>
          </a:prstGeom>
          <a:solidFill>
            <a:srgbClr val="22D3EE"/>
          </a:solidFill>
          <a:ln/>
        </p:spPr>
        <p:txBody>
          <a:bodyPr wrap="square" rtlCol="0" anchor="ctr"/>
          <a:lstStyle/>
          <a:p>
            <a:pPr marL="0" indent="0" algn="ctr">
              <a:buNone/>
            </a:pPr>
            <a:r>
              <a:rPr lang="en-US" sz="1100" b="1" dirty="0">
                <a:solidFill>
                  <a:srgbClr val="0B1B33"/>
                </a:solidFill>
              </a:rPr>
              <a:t>QUERY</a:t>
            </a:r>
            <a:endParaRPr lang="en-US" sz="1100" dirty="0"/>
          </a:p>
        </p:txBody>
      </p:sp>
      <p:sp>
        <p:nvSpPr>
          <p:cNvPr id="10" name="Text 8"/>
          <p:cNvSpPr txBox="1"/>
          <p:nvPr/>
        </p:nvSpPr>
        <p:spPr>
          <a:xfrm>
            <a:off x="685800" y="1737360"/>
            <a:ext cx="5577840" cy="3611880"/>
          </a:xfrm>
          <a:prstGeom prst="rect">
            <a:avLst/>
          </a:prstGeom>
          <a:noFill/>
          <a:ln/>
        </p:spPr>
        <p:txBody>
          <a:bodyPr wrap="square" lIns="0" tIns="0" rIns="0" bIns="0"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SELECT CASE WHEN k.TenureMonths &lt;= 12 THEN '1) First year (0-12 months)'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WHEN k.TenureMonths &lt;= 24 THEN '2) Second year (13-24 months)'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WHEN k.TenureMonths &lt;= 48 THEN '3) Years 3-4 (25-48 months)'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ELSE '4) Over 4 years (49+ months)'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END AS tenure_group,</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COUNT(*) AS customers,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ROUND(100.0 * SUM(CASE WHEN k.Churn = 'Yes' THEN 1 ELSE 0 END)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 COUNT(*), 1) AS churn_rate_pct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FROM contracts k</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GROUP BY tenure_group</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ORDER BY tenure_group;</a:t>
            </a:r>
            <a:endParaRPr lang="en-US" sz="1050" dirty="0"/>
          </a:p>
        </p:txBody>
      </p:sp>
      <p:sp>
        <p:nvSpPr>
          <p:cNvPr id="11" name="Shape 9"/>
          <p:cNvSpPr/>
          <p:nvPr/>
        </p:nvSpPr>
        <p:spPr>
          <a:xfrm>
            <a:off x="6583680" y="1234440"/>
            <a:ext cx="5120640" cy="4206240"/>
          </a:xfrm>
          <a:prstGeom prst="roundRect">
            <a:avLst>
              <a:gd name="adj" fmla="val 2609"/>
            </a:avLst>
          </a:prstGeom>
          <a:solidFill>
            <a:srgbClr val="FFFFFF"/>
          </a:solidFill>
          <a:ln w="12700">
            <a:solidFill>
              <a:srgbClr val="D5E1EE"/>
            </a:solidFill>
            <a:prstDash val="solid"/>
          </a:ln>
        </p:spPr>
      </p:sp>
      <p:sp>
        <p:nvSpPr>
          <p:cNvPr id="12" name="Text 10"/>
          <p:cNvSpPr/>
          <p:nvPr/>
        </p:nvSpPr>
        <p:spPr>
          <a:xfrm>
            <a:off x="6812280" y="1371600"/>
            <a:ext cx="1188720" cy="292608"/>
          </a:xfrm>
          <a:prstGeom prst="roundRect">
            <a:avLst>
              <a:gd name="adj" fmla="val 50000"/>
            </a:avLst>
          </a:prstGeom>
          <a:solidFill>
            <a:srgbClr val="F59E0B"/>
          </a:solidFill>
          <a:ln/>
        </p:spPr>
        <p:txBody>
          <a:bodyPr wrap="square" rtlCol="0" anchor="ctr"/>
          <a:lstStyle/>
          <a:p>
            <a:pPr marL="0" indent="0" algn="ctr">
              <a:buNone/>
            </a:pPr>
            <a:r>
              <a:rPr lang="en-US" sz="1100" b="1" dirty="0">
                <a:solidFill>
                  <a:srgbClr val="0B1B33"/>
                </a:solidFill>
              </a:rPr>
              <a:t>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754880" cy="1664208"/>
        </p:xfrm>
        <a:graphic>
          <a:graphicData uri="http://schemas.openxmlformats.org/drawingml/2006/table">
            <a:tbl>
              <a:tblPr/>
              <a:tblGrid>
                <a:gridCol w="3188871"/>
                <a:gridCol w="612786"/>
                <a:gridCol w="953223"/>
              </a:tblGrid>
              <a:tr h="301752">
                <a:tc>
                  <a:txBody>
                    <a:bodyPr/>
                    <a:lstStyle/>
                    <a:p>
                      <a:pPr marL="0" indent="0">
                        <a:buNone/>
                      </a:pPr>
                      <a:r>
                        <a:rPr lang="en-US" sz="1200" b="1" dirty="0">
                          <a:solidFill>
                            <a:srgbClr val="FFFFFF"/>
                          </a:solidFill>
                        </a:rPr>
                        <a:t>tenure group</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200" b="1" dirty="0">
                          <a:solidFill>
                            <a:srgbClr val="FFFFFF"/>
                          </a:solidFill>
                        </a:rPr>
                        <a:t>customers</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200" b="1" dirty="0">
                          <a:solidFill>
                            <a:srgbClr val="FFFFFF"/>
                          </a:solidFill>
                        </a:rPr>
                        <a:t>churn rate pct</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r>
              <a:tr h="301752">
                <a:tc>
                  <a:txBody>
                    <a:bodyPr/>
                    <a:lstStyle/>
                    <a:p>
                      <a:pPr marL="0" indent="0">
                        <a:buNone/>
                      </a:pPr>
                      <a:r>
                        <a:rPr lang="en-US" sz="1200" dirty="0">
                          <a:solidFill>
                            <a:srgbClr val="0B1B33"/>
                          </a:solidFill>
                        </a:rPr>
                        <a:t>1) First year (0-12 months)</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200" dirty="0">
                          <a:solidFill>
                            <a:srgbClr val="0B1B33"/>
                          </a:solidFill>
                        </a:rPr>
                        <a:t>960</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200" dirty="0">
                          <a:solidFill>
                            <a:srgbClr val="0B1B33"/>
                          </a:solidFill>
                        </a:rPr>
                        <a:t>33.4</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200" dirty="0">
                          <a:solidFill>
                            <a:srgbClr val="0B1B33"/>
                          </a:solidFill>
                        </a:rPr>
                        <a:t>2) Second year (13-24 months)</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200" dirty="0">
                          <a:solidFill>
                            <a:srgbClr val="0B1B33"/>
                          </a:solidFill>
                        </a:rPr>
                        <a:t>892</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200" dirty="0">
                          <a:solidFill>
                            <a:srgbClr val="0B1B33"/>
                          </a:solidFill>
                        </a:rPr>
                        <a:t>29.5</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r h="301752">
                <a:tc>
                  <a:txBody>
                    <a:bodyPr/>
                    <a:lstStyle/>
                    <a:p>
                      <a:pPr marL="0" indent="0">
                        <a:buNone/>
                      </a:pPr>
                      <a:r>
                        <a:rPr lang="en-US" sz="1200" dirty="0">
                          <a:solidFill>
                            <a:srgbClr val="0B1B33"/>
                          </a:solidFill>
                        </a:rPr>
                        <a:t>3) Years 3-4 (25-48 months)</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200" dirty="0">
                          <a:solidFill>
                            <a:srgbClr val="0B1B33"/>
                          </a:solidFill>
                        </a:rPr>
                        <a:t>1,819</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200" dirty="0">
                          <a:solidFill>
                            <a:srgbClr val="0B1B33"/>
                          </a:solidFill>
                        </a:rPr>
                        <a:t>21.8</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200" dirty="0">
                          <a:solidFill>
                            <a:srgbClr val="0B1B33"/>
                          </a:solidFill>
                        </a:rPr>
                        <a:t>4) Over 4 years (49+ months)</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200" dirty="0">
                          <a:solidFill>
                            <a:srgbClr val="0B1B33"/>
                          </a:solidFill>
                        </a:rPr>
                        <a:t>1,792</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200" dirty="0">
                          <a:solidFill>
                            <a:srgbClr val="0B1B33"/>
                          </a:solidFill>
                        </a:rPr>
                        <a:t>14.3</a:t>
                      </a:r>
                      <a:endParaRPr lang="en-US" sz="12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bl>
          </a:graphicData>
        </a:graphic>
      </p:graphicFrame>
      <p:graphicFrame>
        <p:nvGraphicFramePr>
          <p:cNvPr id="14" name="Chart 0"/>
          <p:cNvGraphicFramePr/>
          <p:nvPr/>
        </p:nvGraphicFramePr>
        <p:xfrm>
          <a:off x="6720840" y="3611880"/>
          <a:ext cx="484632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1"/>
          <p:cNvSpPr/>
          <p:nvPr/>
        </p:nvSpPr>
        <p:spPr>
          <a:xfrm>
            <a:off x="457200" y="5532120"/>
            <a:ext cx="11247120" cy="960120"/>
          </a:xfrm>
          <a:prstGeom prst="roundRect">
            <a:avLst>
              <a:gd name="adj" fmla="val 9524"/>
            </a:avLst>
          </a:prstGeom>
          <a:solidFill>
            <a:srgbClr val="FFF4DC"/>
          </a:solidFill>
          <a:ln w="12700">
            <a:solidFill>
              <a:srgbClr val="F59E0B"/>
            </a:solidFill>
            <a:prstDash val="solid"/>
          </a:ln>
        </p:spPr>
      </p:sp>
      <p:sp>
        <p:nvSpPr>
          <p:cNvPr id="16" name="Text 12"/>
          <p:cNvSpPr txBox="1"/>
          <p:nvPr/>
        </p:nvSpPr>
        <p:spPr>
          <a:xfrm>
            <a:off x="685800" y="5559552"/>
            <a:ext cx="10789920" cy="905256"/>
          </a:xfrm>
          <a:prstGeom prst="rect">
            <a:avLst/>
          </a:prstGeom>
          <a:noFill/>
          <a:ln/>
        </p:spPr>
        <p:txBody>
          <a:bodyPr wrap="square" lIns="0" tIns="0" rIns="0" bIns="0" rtlCol="0" anchor="ctr"/>
          <a:lstStyle/>
          <a:p>
            <a:pPr marL="0" indent="0">
              <a:buNone/>
            </a:pPr>
            <a:r>
              <a:rPr lang="en-US" sz="1300" b="1" dirty="0">
                <a:solidFill>
                  <a:srgbClr val="B45309"/>
                </a:solidFill>
              </a:rPr>
              <a:t>INSIGHT  </a:t>
            </a:r>
            <a:r>
              <a:rPr lang="en-US" sz="1300" dirty="0">
                <a:solidFill>
                  <a:srgbClr val="0B1B33"/>
                </a:solidFill>
              </a:rPr>
              <a:t>Churn is highest in the first year (33.4%) and falls steadily to 29.5%, 21.8% and 14.3% after four years. The longer customers stay, the less likely they are to leave. Action: build an onboarding and early-life offer programme for the first 12 months.</a:t>
            </a:r>
            <a:endParaRPr lang="en-US" sz="1300" dirty="0"/>
          </a:p>
        </p:txBody>
      </p:sp>
      <p:sp>
        <p:nvSpPr>
          <p:cNvPr id="18" name="Text 13"/>
          <p:cNvSpPr/>
          <p:nvPr/>
        </p:nvSpPr>
        <p:spPr>
          <a:xfrm>
            <a:off x="11338560" y="6556248"/>
            <a:ext cx="457200" cy="228600"/>
          </a:xfrm>
          <a:prstGeom prst="rect">
            <a:avLst/>
          </a:prstGeom>
          <a:noFill/>
          <a:ln/>
        </p:spPr>
        <p:txBody>
          <a:bodyPr wrap="square" rtlCol="0" anchor="ctr"/>
          <a:lstStyle/>
          <a:p>
            <a:pPr marL="0" indent="0" algn="r">
              <a:buNone/>
            </a:pPr>
            <a:r>
              <a:rPr lang="en-US" sz="900" dirty="0">
                <a:solidFill>
                  <a:srgbClr val="64748B"/>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2200" b="1" dirty="0">
                <a:solidFill>
                  <a:srgbClr val="0B1B33"/>
                </a:solidFill>
                <a:latin typeface="Cambria" pitchFamily="34" charset="0"/>
                <a:ea typeface="Cambria" pitchFamily="34" charset="-122"/>
                <a:cs typeface="Cambria" pitchFamily="34" charset="-120"/>
              </a:rPr>
              <a:t>Q6. Does Tech Support reduce churn?  (only customers who have internet)</a:t>
            </a:r>
            <a:endParaRPr lang="en-US" sz="22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MYTH BUSTING</a:t>
            </a:r>
            <a:endParaRPr lang="en-US" sz="1100" dirty="0"/>
          </a:p>
        </p:txBody>
      </p:sp>
      <p:sp>
        <p:nvSpPr>
          <p:cNvPr id="8" name="Shape 6"/>
          <p:cNvSpPr/>
          <p:nvPr/>
        </p:nvSpPr>
        <p:spPr>
          <a:xfrm>
            <a:off x="457200" y="1234440"/>
            <a:ext cx="5943600" cy="4206240"/>
          </a:xfrm>
          <a:prstGeom prst="roundRect">
            <a:avLst>
              <a:gd name="adj" fmla="val 2609"/>
            </a:avLst>
          </a:prstGeom>
          <a:solidFill>
            <a:srgbClr val="0B1B33"/>
          </a:solidFill>
          <a:ln w="12700">
            <a:solidFill>
              <a:srgbClr val="0B1B33"/>
            </a:solidFill>
            <a:prstDash val="solid"/>
          </a:ln>
        </p:spPr>
      </p:sp>
      <p:sp>
        <p:nvSpPr>
          <p:cNvPr id="9" name="Text 7"/>
          <p:cNvSpPr/>
          <p:nvPr/>
        </p:nvSpPr>
        <p:spPr>
          <a:xfrm>
            <a:off x="685800" y="1371600"/>
            <a:ext cx="1097280" cy="292608"/>
          </a:xfrm>
          <a:prstGeom prst="roundRect">
            <a:avLst>
              <a:gd name="adj" fmla="val 50000"/>
            </a:avLst>
          </a:prstGeom>
          <a:solidFill>
            <a:srgbClr val="22D3EE"/>
          </a:solidFill>
          <a:ln/>
        </p:spPr>
        <p:txBody>
          <a:bodyPr wrap="square" rtlCol="0" anchor="ctr"/>
          <a:lstStyle/>
          <a:p>
            <a:pPr marL="0" indent="0" algn="ctr">
              <a:buNone/>
            </a:pPr>
            <a:r>
              <a:rPr lang="en-US" sz="1100" b="1" dirty="0">
                <a:solidFill>
                  <a:srgbClr val="0B1B33"/>
                </a:solidFill>
              </a:rPr>
              <a:t>QUERY</a:t>
            </a:r>
            <a:endParaRPr lang="en-US" sz="1100" dirty="0"/>
          </a:p>
        </p:txBody>
      </p:sp>
      <p:sp>
        <p:nvSpPr>
          <p:cNvPr id="10" name="Text 8"/>
          <p:cNvSpPr txBox="1"/>
          <p:nvPr/>
        </p:nvSpPr>
        <p:spPr>
          <a:xfrm>
            <a:off x="685800" y="1737360"/>
            <a:ext cx="5577840" cy="3611880"/>
          </a:xfrm>
          <a:prstGeom prst="rect">
            <a:avLst/>
          </a:prstGeom>
          <a:noFill/>
          <a:ln/>
        </p:spPr>
        <p:txBody>
          <a:bodyPr wrap="square" lIns="0" tIns="0" rIns="0" bIns="0"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SELECT s.InternetService,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s.TechSupport,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COUNT(*) AS customers,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ROUND(100.0 * SUM(CASE WHEN k.Churn = 'Yes' THEN 1 ELSE 0 END)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 COUNT(*), 1) AS churn_rate_pct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FROM services 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contracts k ON k.CustomerID = s.CustomerID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WHERE s.InternetService &lt;&gt; 'No'</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AND s.TechSupport IN ('Yes', 'No')</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GROUP BY s.InternetService, s.TechSupport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ORDER BY s.InternetService, s.TechSupport;</a:t>
            </a:r>
            <a:endParaRPr lang="en-US" sz="1050" dirty="0"/>
          </a:p>
        </p:txBody>
      </p:sp>
      <p:sp>
        <p:nvSpPr>
          <p:cNvPr id="11" name="Shape 9"/>
          <p:cNvSpPr/>
          <p:nvPr/>
        </p:nvSpPr>
        <p:spPr>
          <a:xfrm>
            <a:off x="6583680" y="1234440"/>
            <a:ext cx="5120640" cy="4206240"/>
          </a:xfrm>
          <a:prstGeom prst="roundRect">
            <a:avLst>
              <a:gd name="adj" fmla="val 2609"/>
            </a:avLst>
          </a:prstGeom>
          <a:solidFill>
            <a:srgbClr val="FFFFFF"/>
          </a:solidFill>
          <a:ln w="12700">
            <a:solidFill>
              <a:srgbClr val="D5E1EE"/>
            </a:solidFill>
            <a:prstDash val="solid"/>
          </a:ln>
        </p:spPr>
      </p:sp>
      <p:sp>
        <p:nvSpPr>
          <p:cNvPr id="12" name="Text 10"/>
          <p:cNvSpPr/>
          <p:nvPr/>
        </p:nvSpPr>
        <p:spPr>
          <a:xfrm>
            <a:off x="6812280" y="1371600"/>
            <a:ext cx="1188720" cy="292608"/>
          </a:xfrm>
          <a:prstGeom prst="roundRect">
            <a:avLst>
              <a:gd name="adj" fmla="val 50000"/>
            </a:avLst>
          </a:prstGeom>
          <a:solidFill>
            <a:srgbClr val="F59E0B"/>
          </a:solidFill>
          <a:ln/>
        </p:spPr>
        <p:txBody>
          <a:bodyPr wrap="square" rtlCol="0" anchor="ctr"/>
          <a:lstStyle/>
          <a:p>
            <a:pPr marL="0" indent="0" algn="ctr">
              <a:buNone/>
            </a:pPr>
            <a:r>
              <a:rPr lang="en-US" sz="1100" b="1" dirty="0">
                <a:solidFill>
                  <a:srgbClr val="0B1B33"/>
                </a:solidFill>
              </a:rPr>
              <a:t>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754880" cy="1508760"/>
        </p:xfrm>
        <a:graphic>
          <a:graphicData uri="http://schemas.openxmlformats.org/drawingml/2006/table">
            <a:tbl>
              <a:tblPr/>
              <a:tblGrid>
                <a:gridCol w="1631806"/>
                <a:gridCol w="1010406"/>
                <a:gridCol w="826696"/>
                <a:gridCol w="1285972"/>
              </a:tblGrid>
              <a:tr h="301752">
                <a:tc>
                  <a:txBody>
                    <a:bodyPr/>
                    <a:lstStyle/>
                    <a:p>
                      <a:pPr marL="0" indent="0">
                        <a:buNone/>
                      </a:pPr>
                      <a:r>
                        <a:rPr lang="en-US" sz="1050" b="1" dirty="0">
                          <a:solidFill>
                            <a:srgbClr val="FFFFFF"/>
                          </a:solidFill>
                        </a:rPr>
                        <a:t>InternetService</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TechSupport</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customers</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churn rate pct</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r>
              <a:tr h="301752">
                <a:tc>
                  <a:txBody>
                    <a:bodyPr/>
                    <a:lstStyle/>
                    <a:p>
                      <a:pPr marL="0" indent="0">
                        <a:buNone/>
                      </a:pPr>
                      <a:r>
                        <a:rPr lang="en-US" sz="1050" dirty="0">
                          <a:solidFill>
                            <a:srgbClr val="0B1B33"/>
                          </a:solidFill>
                        </a:rPr>
                        <a:t>DSL</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No</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1,006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18.2</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050" dirty="0">
                          <a:solidFill>
                            <a:srgbClr val="0B1B33"/>
                          </a:solidFill>
                        </a:rPr>
                        <a:t>DSL</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Yes</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503</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18.5</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r h="301752">
                <a:tc>
                  <a:txBody>
                    <a:bodyPr/>
                    <a:lstStyle/>
                    <a:p>
                      <a:pPr marL="0" indent="0">
                        <a:buNone/>
                      </a:pPr>
                      <a:r>
                        <a:rPr lang="en-US" sz="1050" dirty="0">
                          <a:solidFill>
                            <a:srgbClr val="0B1B33"/>
                          </a:solidFill>
                        </a:rPr>
                        <a:t>Fiber Optic</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No</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1,247</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30.4</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050" dirty="0">
                          <a:solidFill>
                            <a:srgbClr val="0B1B33"/>
                          </a:solidFill>
                        </a:rPr>
                        <a:t>Fiber Optic</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Yes</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666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29.3</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bl>
          </a:graphicData>
        </a:graphic>
      </p:graphicFrame>
      <p:graphicFrame>
        <p:nvGraphicFramePr>
          <p:cNvPr id="14" name="Chart 0"/>
          <p:cNvGraphicFramePr/>
          <p:nvPr/>
        </p:nvGraphicFramePr>
        <p:xfrm>
          <a:off x="6720840" y="3611880"/>
          <a:ext cx="484632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1"/>
          <p:cNvSpPr/>
          <p:nvPr/>
        </p:nvSpPr>
        <p:spPr>
          <a:xfrm>
            <a:off x="457200" y="5532120"/>
            <a:ext cx="11247120" cy="960120"/>
          </a:xfrm>
          <a:prstGeom prst="roundRect">
            <a:avLst>
              <a:gd name="adj" fmla="val 9524"/>
            </a:avLst>
          </a:prstGeom>
          <a:solidFill>
            <a:srgbClr val="FFF4DC"/>
          </a:solidFill>
          <a:ln w="12700">
            <a:solidFill>
              <a:srgbClr val="F59E0B"/>
            </a:solidFill>
            <a:prstDash val="solid"/>
          </a:ln>
        </p:spPr>
      </p:sp>
      <p:sp>
        <p:nvSpPr>
          <p:cNvPr id="16" name="Text 12"/>
          <p:cNvSpPr txBox="1"/>
          <p:nvPr/>
        </p:nvSpPr>
        <p:spPr>
          <a:xfrm>
            <a:off x="685800" y="5559552"/>
            <a:ext cx="10789920" cy="905256"/>
          </a:xfrm>
          <a:prstGeom prst="rect">
            <a:avLst/>
          </a:prstGeom>
          <a:noFill/>
          <a:ln/>
        </p:spPr>
        <p:txBody>
          <a:bodyPr wrap="square" lIns="0" tIns="0" rIns="0" bIns="0" rtlCol="0" anchor="ctr"/>
          <a:lstStyle/>
          <a:p>
            <a:pPr marL="0" indent="0">
              <a:buNone/>
            </a:pPr>
            <a:r>
              <a:rPr lang="en-US" sz="1300" b="1" dirty="0">
                <a:solidFill>
                  <a:srgbClr val="B45309"/>
                </a:solidFill>
              </a:rPr>
              <a:t>INSIGHT  </a:t>
            </a:r>
            <a:r>
              <a:rPr lang="en-US" sz="1300" dirty="0">
                <a:solidFill>
                  <a:srgbClr val="0B1B33"/>
                </a:solidFill>
              </a:rPr>
              <a:t>Tech Support makes no real difference: DSL churns 18.2% without it and 18.5% with it, Fiber 30.4% and 29.3%. The gaps are under 1.2 points and point in opposite directions. Action: do not spend retention budget on Tech Support bundles. Note: only customers with a clear Yes/No value are used.</a:t>
            </a:r>
            <a:endParaRPr lang="en-US" sz="1300" dirty="0"/>
          </a:p>
        </p:txBody>
      </p:sp>
      <p:sp>
        <p:nvSpPr>
          <p:cNvPr id="18" name="Text 13"/>
          <p:cNvSpPr/>
          <p:nvPr/>
        </p:nvSpPr>
        <p:spPr>
          <a:xfrm>
            <a:off x="11338560" y="6556248"/>
            <a:ext cx="457200" cy="228600"/>
          </a:xfrm>
          <a:prstGeom prst="rect">
            <a:avLst/>
          </a:prstGeom>
          <a:noFill/>
          <a:ln/>
        </p:spPr>
        <p:txBody>
          <a:bodyPr wrap="square" rtlCol="0" anchor="ctr"/>
          <a:lstStyle/>
          <a:p>
            <a:pPr marL="0" indent="0" algn="r">
              <a:buNone/>
            </a:pPr>
            <a:r>
              <a:rPr lang="en-US" sz="900" dirty="0">
                <a:solidFill>
                  <a:srgbClr val="64748B"/>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2200" b="1" dirty="0">
                <a:solidFill>
                  <a:srgbClr val="0B1B33"/>
                </a:solidFill>
                <a:latin typeface="Cambria" pitchFamily="34" charset="0"/>
                <a:ea typeface="Cambria" pitchFamily="34" charset="-122"/>
                <a:cs typeface="Cambria" pitchFamily="34" charset="-120"/>
              </a:rPr>
              <a:t>Q7. Do seniors and women/men churn differently?</a:t>
            </a:r>
            <a:endParaRPr lang="en-US" sz="22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CUSTOMER PROFILE</a:t>
            </a:r>
            <a:endParaRPr lang="en-US" sz="1100" dirty="0"/>
          </a:p>
        </p:txBody>
      </p:sp>
      <p:sp>
        <p:nvSpPr>
          <p:cNvPr id="8" name="Shape 6"/>
          <p:cNvSpPr/>
          <p:nvPr/>
        </p:nvSpPr>
        <p:spPr>
          <a:xfrm>
            <a:off x="457200" y="1234440"/>
            <a:ext cx="5943600" cy="4206240"/>
          </a:xfrm>
          <a:prstGeom prst="roundRect">
            <a:avLst>
              <a:gd name="adj" fmla="val 2609"/>
            </a:avLst>
          </a:prstGeom>
          <a:solidFill>
            <a:srgbClr val="0B1B33"/>
          </a:solidFill>
          <a:ln w="12700">
            <a:solidFill>
              <a:srgbClr val="0B1B33"/>
            </a:solidFill>
            <a:prstDash val="solid"/>
          </a:ln>
        </p:spPr>
      </p:sp>
      <p:sp>
        <p:nvSpPr>
          <p:cNvPr id="9" name="Text 7"/>
          <p:cNvSpPr/>
          <p:nvPr/>
        </p:nvSpPr>
        <p:spPr>
          <a:xfrm>
            <a:off x="685800" y="1371600"/>
            <a:ext cx="1097280" cy="292608"/>
          </a:xfrm>
          <a:prstGeom prst="roundRect">
            <a:avLst>
              <a:gd name="adj" fmla="val 50000"/>
            </a:avLst>
          </a:prstGeom>
          <a:solidFill>
            <a:srgbClr val="22D3EE"/>
          </a:solidFill>
          <a:ln/>
        </p:spPr>
        <p:txBody>
          <a:bodyPr wrap="square" rtlCol="0" anchor="ctr"/>
          <a:lstStyle/>
          <a:p>
            <a:pPr marL="0" indent="0" algn="ctr">
              <a:buNone/>
            </a:pPr>
            <a:r>
              <a:rPr lang="en-US" sz="1100" b="1" dirty="0">
                <a:solidFill>
                  <a:srgbClr val="0B1B33"/>
                </a:solidFill>
              </a:rPr>
              <a:t>QUERY</a:t>
            </a:r>
            <a:endParaRPr lang="en-US" sz="1100" dirty="0"/>
          </a:p>
        </p:txBody>
      </p:sp>
      <p:sp>
        <p:nvSpPr>
          <p:cNvPr id="10" name="Text 8"/>
          <p:cNvSpPr txBox="1"/>
          <p:nvPr/>
        </p:nvSpPr>
        <p:spPr>
          <a:xfrm>
            <a:off x="685800" y="1737360"/>
            <a:ext cx="5577840" cy="3611880"/>
          </a:xfrm>
          <a:prstGeom prst="rect">
            <a:avLst/>
          </a:prstGeom>
          <a:noFill/>
          <a:ln/>
        </p:spPr>
        <p:txBody>
          <a:bodyPr wrap="square" lIns="0" tIns="0" rIns="0" bIns="0"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SELECT c.SeniorCitizen,</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c.Gender,</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COUNT(*) AS customers,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ROUND(100.0 * SUM(CASE WHEN k.Churn = 'Yes' THEN 1 ELSE 0 END)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 COUNT(*), 1) AS churn_rate_pct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FROM customers c</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contracts k ON k.CustomerID = c.CustomerID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GROUP BY c.SeniorCitizen, c.Gender</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ORDER BY c.SeniorCitizen, c.Gender;</a:t>
            </a:r>
            <a:endParaRPr lang="en-US" sz="1050" dirty="0"/>
          </a:p>
        </p:txBody>
      </p:sp>
      <p:sp>
        <p:nvSpPr>
          <p:cNvPr id="11" name="Shape 9"/>
          <p:cNvSpPr/>
          <p:nvPr/>
        </p:nvSpPr>
        <p:spPr>
          <a:xfrm>
            <a:off x="6583680" y="1234440"/>
            <a:ext cx="5120640" cy="4206240"/>
          </a:xfrm>
          <a:prstGeom prst="roundRect">
            <a:avLst>
              <a:gd name="adj" fmla="val 2609"/>
            </a:avLst>
          </a:prstGeom>
          <a:solidFill>
            <a:srgbClr val="FFFFFF"/>
          </a:solidFill>
          <a:ln w="12700">
            <a:solidFill>
              <a:srgbClr val="D5E1EE"/>
            </a:solidFill>
            <a:prstDash val="solid"/>
          </a:ln>
        </p:spPr>
      </p:sp>
      <p:sp>
        <p:nvSpPr>
          <p:cNvPr id="12" name="Text 10"/>
          <p:cNvSpPr/>
          <p:nvPr/>
        </p:nvSpPr>
        <p:spPr>
          <a:xfrm>
            <a:off x="6812280" y="1371600"/>
            <a:ext cx="1188720" cy="292608"/>
          </a:xfrm>
          <a:prstGeom prst="roundRect">
            <a:avLst>
              <a:gd name="adj" fmla="val 50000"/>
            </a:avLst>
          </a:prstGeom>
          <a:solidFill>
            <a:srgbClr val="F59E0B"/>
          </a:solidFill>
          <a:ln/>
        </p:spPr>
        <p:txBody>
          <a:bodyPr wrap="square" rtlCol="0" anchor="ctr"/>
          <a:lstStyle/>
          <a:p>
            <a:pPr marL="0" indent="0" algn="ctr">
              <a:buNone/>
            </a:pPr>
            <a:r>
              <a:rPr lang="en-US" sz="1100" b="1" dirty="0">
                <a:solidFill>
                  <a:srgbClr val="0B1B33"/>
                </a:solidFill>
              </a:rPr>
              <a:t>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754881" cy="1508760"/>
        </p:xfrm>
        <a:graphic>
          <a:graphicData uri="http://schemas.openxmlformats.org/drawingml/2006/table">
            <a:tbl>
              <a:tblPr/>
              <a:tblGrid>
                <a:gridCol w="1352888"/>
                <a:gridCol w="1008422"/>
                <a:gridCol w="936615"/>
                <a:gridCol w="1456956"/>
              </a:tblGrid>
              <a:tr h="301752">
                <a:tc>
                  <a:txBody>
                    <a:bodyPr/>
                    <a:lstStyle/>
                    <a:p>
                      <a:pPr marL="0" indent="0">
                        <a:buNone/>
                      </a:pPr>
                      <a:r>
                        <a:rPr lang="en-US" sz="1050" b="1" dirty="0">
                          <a:solidFill>
                            <a:srgbClr val="FFFFFF"/>
                          </a:solidFill>
                        </a:rPr>
                        <a:t>SeniorCitizen</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Gender</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customers</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churn rate pct</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r>
              <a:tr h="301752">
                <a:tc>
                  <a:txBody>
                    <a:bodyPr/>
                    <a:lstStyle/>
                    <a:p>
                      <a:pPr marL="0" indent="0">
                        <a:buNone/>
                      </a:pPr>
                      <a:r>
                        <a:rPr lang="en-US" sz="1050" dirty="0">
                          <a:solidFill>
                            <a:srgbClr val="0B1B33"/>
                          </a:solidFill>
                        </a:rPr>
                        <a:t>0</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Female</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2,362</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22</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050" dirty="0">
                          <a:solidFill>
                            <a:srgbClr val="0B1B33"/>
                          </a:solidFill>
                        </a:rPr>
                        <a:t>0</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Male</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2,236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23.3</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r h="301752">
                <a:tc>
                  <a:txBody>
                    <a:bodyPr/>
                    <a:lstStyle/>
                    <a:p>
                      <a:pPr marL="0" indent="0">
                        <a:buNone/>
                      </a:pPr>
                      <a:r>
                        <a:rPr lang="en-US" sz="1050" dirty="0">
                          <a:solidFill>
                            <a:srgbClr val="0B1B33"/>
                          </a:solidFill>
                        </a:rPr>
                        <a:t>1</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Female</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433</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24.5</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050" dirty="0">
                          <a:solidFill>
                            <a:srgbClr val="0B1B33"/>
                          </a:solidFill>
                        </a:rPr>
                        <a:t>1</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Male</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432</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21.5</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bl>
          </a:graphicData>
        </a:graphic>
      </p:graphicFrame>
      <p:graphicFrame>
        <p:nvGraphicFramePr>
          <p:cNvPr id="14" name="Chart 0"/>
          <p:cNvGraphicFramePr/>
          <p:nvPr/>
        </p:nvGraphicFramePr>
        <p:xfrm>
          <a:off x="6720840" y="3611880"/>
          <a:ext cx="484632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1"/>
          <p:cNvSpPr/>
          <p:nvPr/>
        </p:nvSpPr>
        <p:spPr>
          <a:xfrm>
            <a:off x="457200" y="5532120"/>
            <a:ext cx="11247120" cy="960120"/>
          </a:xfrm>
          <a:prstGeom prst="roundRect">
            <a:avLst>
              <a:gd name="adj" fmla="val 9524"/>
            </a:avLst>
          </a:prstGeom>
          <a:solidFill>
            <a:srgbClr val="FFF4DC"/>
          </a:solidFill>
          <a:ln w="12700">
            <a:solidFill>
              <a:srgbClr val="F59E0B"/>
            </a:solidFill>
            <a:prstDash val="solid"/>
          </a:ln>
        </p:spPr>
      </p:sp>
      <p:sp>
        <p:nvSpPr>
          <p:cNvPr id="16" name="Text 12"/>
          <p:cNvSpPr txBox="1"/>
          <p:nvPr/>
        </p:nvSpPr>
        <p:spPr>
          <a:xfrm>
            <a:off x="685800" y="5559552"/>
            <a:ext cx="10789920" cy="905256"/>
          </a:xfrm>
          <a:prstGeom prst="rect">
            <a:avLst/>
          </a:prstGeom>
          <a:noFill/>
          <a:ln/>
        </p:spPr>
        <p:txBody>
          <a:bodyPr wrap="square" lIns="0" tIns="0" rIns="0" bIns="0" rtlCol="0" anchor="ctr"/>
          <a:lstStyle/>
          <a:p>
            <a:pPr marL="0" indent="0">
              <a:buNone/>
            </a:pPr>
            <a:r>
              <a:rPr lang="en-US" sz="1300" b="1" dirty="0">
                <a:solidFill>
                  <a:srgbClr val="B45309"/>
                </a:solidFill>
              </a:rPr>
              <a:t>INSIGHT  </a:t>
            </a:r>
            <a:r>
              <a:rPr lang="en-US" sz="1300" dirty="0">
                <a:solidFill>
                  <a:srgbClr val="0B1B33"/>
                </a:solidFill>
              </a:rPr>
              <a:t>Churn is between about 21.5% and 24.5% for every gender and age group, so who the customer is does not explain who leaves. Contract, internet type and tenure matter instead. This helps the team avoid targeting by age or gender.</a:t>
            </a:r>
            <a:endParaRPr lang="en-US" sz="1300" dirty="0"/>
          </a:p>
        </p:txBody>
      </p:sp>
      <p:sp>
        <p:nvSpPr>
          <p:cNvPr id="18" name="Text 13"/>
          <p:cNvSpPr/>
          <p:nvPr/>
        </p:nvSpPr>
        <p:spPr>
          <a:xfrm>
            <a:off x="11338560" y="6556248"/>
            <a:ext cx="457200" cy="228600"/>
          </a:xfrm>
          <a:prstGeom prst="rect">
            <a:avLst/>
          </a:prstGeom>
          <a:noFill/>
          <a:ln/>
        </p:spPr>
        <p:txBody>
          <a:bodyPr wrap="square" rtlCol="0" anchor="ctr"/>
          <a:lstStyle/>
          <a:p>
            <a:pPr marL="0" indent="0" algn="r">
              <a:buNone/>
            </a:pPr>
            <a:r>
              <a:rPr lang="en-US" sz="900" dirty="0">
                <a:solidFill>
                  <a:srgbClr val="64748B"/>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2200" b="1" dirty="0">
                <a:solidFill>
                  <a:srgbClr val="0B1B33"/>
                </a:solidFill>
                <a:latin typeface="Cambria" pitchFamily="34" charset="0"/>
                <a:ea typeface="Cambria" pitchFamily="34" charset="-122"/>
                <a:cs typeface="Cambria" pitchFamily="34" charset="-120"/>
              </a:rPr>
              <a:t>Q8. Which contract + internet combinations lose the most revenue?</a:t>
            </a:r>
            <a:endParaRPr lang="en-US" sz="22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MONEY LEAKS</a:t>
            </a:r>
            <a:endParaRPr lang="en-US" sz="1100" dirty="0"/>
          </a:p>
        </p:txBody>
      </p:sp>
      <p:sp>
        <p:nvSpPr>
          <p:cNvPr id="8" name="Shape 6"/>
          <p:cNvSpPr/>
          <p:nvPr/>
        </p:nvSpPr>
        <p:spPr>
          <a:xfrm>
            <a:off x="457200" y="1234440"/>
            <a:ext cx="5943600" cy="4206240"/>
          </a:xfrm>
          <a:prstGeom prst="roundRect">
            <a:avLst>
              <a:gd name="adj" fmla="val 2609"/>
            </a:avLst>
          </a:prstGeom>
          <a:solidFill>
            <a:srgbClr val="0B1B33"/>
          </a:solidFill>
          <a:ln w="12700">
            <a:solidFill>
              <a:srgbClr val="0B1B33"/>
            </a:solidFill>
            <a:prstDash val="solid"/>
          </a:ln>
        </p:spPr>
      </p:sp>
      <p:sp>
        <p:nvSpPr>
          <p:cNvPr id="9" name="Text 7"/>
          <p:cNvSpPr/>
          <p:nvPr/>
        </p:nvSpPr>
        <p:spPr>
          <a:xfrm>
            <a:off x="685800" y="1371600"/>
            <a:ext cx="1097280" cy="292608"/>
          </a:xfrm>
          <a:prstGeom prst="roundRect">
            <a:avLst>
              <a:gd name="adj" fmla="val 50000"/>
            </a:avLst>
          </a:prstGeom>
          <a:solidFill>
            <a:srgbClr val="22D3EE"/>
          </a:solidFill>
          <a:ln/>
        </p:spPr>
        <p:txBody>
          <a:bodyPr wrap="square" rtlCol="0" anchor="ctr"/>
          <a:lstStyle/>
          <a:p>
            <a:pPr marL="0" indent="0" algn="ctr">
              <a:buNone/>
            </a:pPr>
            <a:r>
              <a:rPr lang="en-US" sz="1100" b="1" dirty="0">
                <a:solidFill>
                  <a:srgbClr val="0B1B33"/>
                </a:solidFill>
              </a:rPr>
              <a:t>QUERY</a:t>
            </a:r>
            <a:endParaRPr lang="en-US" sz="1100" dirty="0"/>
          </a:p>
        </p:txBody>
      </p:sp>
      <p:sp>
        <p:nvSpPr>
          <p:cNvPr id="10" name="Text 8"/>
          <p:cNvSpPr txBox="1"/>
          <p:nvPr/>
        </p:nvSpPr>
        <p:spPr>
          <a:xfrm>
            <a:off x="685800" y="1737360"/>
            <a:ext cx="5577840" cy="3611880"/>
          </a:xfrm>
          <a:prstGeom prst="rect">
            <a:avLst/>
          </a:prstGeom>
          <a:noFill/>
          <a:ln/>
        </p:spPr>
        <p:txBody>
          <a:bodyPr wrap="square" lIns="0" tIns="0" rIns="0" bIns="0"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SELECT k.ContractType,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s.InternetService,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COUNT(*) AS customers,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ROUND(100.0 * SUM(CASE WHEN k.Churn = 'Yes' THEN 1 ELSE 0 END)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 COUNT(*), 1) AS churn_rate_pct,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ROUND(SUM(CASE WHEN k.Churn = 'Yes' THEN b.MonthlyCharges ELSE 0 END), 0)</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AS monthly_revenue_lost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FROM contracts k</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services s ON s.CustomerID = k.CustomerID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billing b ON b.CustomerID = k.CustomerID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GROUP BY k.ContractType, s.InternetService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ORDER BY monthly_revenue_lost DESC;</a:t>
            </a:r>
            <a:endParaRPr lang="en-US" sz="1050" dirty="0"/>
          </a:p>
        </p:txBody>
      </p:sp>
      <p:sp>
        <p:nvSpPr>
          <p:cNvPr id="11" name="Shape 9"/>
          <p:cNvSpPr/>
          <p:nvPr/>
        </p:nvSpPr>
        <p:spPr>
          <a:xfrm>
            <a:off x="6583680" y="1234440"/>
            <a:ext cx="5120640" cy="4206240"/>
          </a:xfrm>
          <a:prstGeom prst="roundRect">
            <a:avLst>
              <a:gd name="adj" fmla="val 2609"/>
            </a:avLst>
          </a:prstGeom>
          <a:solidFill>
            <a:srgbClr val="FFFFFF"/>
          </a:solidFill>
          <a:ln w="12700">
            <a:solidFill>
              <a:srgbClr val="D5E1EE"/>
            </a:solidFill>
            <a:prstDash val="solid"/>
          </a:ln>
        </p:spPr>
      </p:sp>
      <p:sp>
        <p:nvSpPr>
          <p:cNvPr id="12" name="Text 10"/>
          <p:cNvSpPr/>
          <p:nvPr/>
        </p:nvSpPr>
        <p:spPr>
          <a:xfrm>
            <a:off x="6812280" y="1371600"/>
            <a:ext cx="1188720" cy="292608"/>
          </a:xfrm>
          <a:prstGeom prst="roundRect">
            <a:avLst>
              <a:gd name="adj" fmla="val 50000"/>
            </a:avLst>
          </a:prstGeom>
          <a:solidFill>
            <a:srgbClr val="F59E0B"/>
          </a:solidFill>
          <a:ln/>
        </p:spPr>
        <p:txBody>
          <a:bodyPr wrap="square" rtlCol="0" anchor="ctr"/>
          <a:lstStyle/>
          <a:p>
            <a:pPr marL="0" indent="0" algn="ctr">
              <a:buNone/>
            </a:pPr>
            <a:r>
              <a:rPr lang="en-US" sz="1100" b="1" dirty="0">
                <a:solidFill>
                  <a:srgbClr val="0B1B33"/>
                </a:solidFill>
              </a:rPr>
              <a:t>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754880" cy="1920240"/>
        </p:xfrm>
        <a:graphic>
          <a:graphicData uri="http://schemas.openxmlformats.org/drawingml/2006/table">
            <a:tbl>
              <a:tblPr/>
              <a:tblGrid>
                <a:gridCol w="1289449"/>
                <a:gridCol w="1013139"/>
                <a:gridCol w="513270"/>
                <a:gridCol w="798421"/>
                <a:gridCol w="1140601"/>
              </a:tblGrid>
              <a:tr h="301752">
                <a:tc>
                  <a:txBody>
                    <a:bodyPr/>
                    <a:lstStyle/>
                    <a:p>
                      <a:pPr marL="0" indent="0">
                        <a:buNone/>
                      </a:pPr>
                      <a:r>
                        <a:rPr lang="en-US" sz="1050" b="1" dirty="0">
                          <a:solidFill>
                            <a:srgbClr val="FFFFFF"/>
                          </a:solidFill>
                        </a:rPr>
                        <a:t>ContractType</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InternetService</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customers</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churn rate pct</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rPr>
                        <a:t>monthly revenue lost</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r>
              <a:tr h="301752">
                <a:tc>
                  <a:txBody>
                    <a:bodyPr/>
                    <a:lstStyle/>
                    <a:p>
                      <a:pPr marL="0" indent="0">
                        <a:buNone/>
                      </a:pPr>
                      <a:r>
                        <a:rPr lang="en-US" sz="1050" dirty="0">
                          <a:solidFill>
                            <a:srgbClr val="0B1B33"/>
                          </a:solidFill>
                        </a:rPr>
                        <a:t>Month-to-Month</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Fiber Optic</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1,413</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35.6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42,601</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050" dirty="0">
                          <a:solidFill>
                            <a:srgbClr val="0B1B33"/>
                          </a:solidFill>
                        </a:rPr>
                        <a:t>Month-to-Month</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DSL</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1,068</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21.6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13,703</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r h="301752">
                <a:tc>
                  <a:txBody>
                    <a:bodyPr/>
                    <a:lstStyle/>
                    <a:p>
                      <a:pPr marL="0" indent="0">
                        <a:buNone/>
                      </a:pPr>
                      <a:r>
                        <a:rPr lang="en-US" sz="1050" dirty="0">
                          <a:solidFill>
                            <a:srgbClr val="0B1B33"/>
                          </a:solidFill>
                        </a:rPr>
                        <a:t>One Year</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Fiber Optic</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597</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22.6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11,666</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1050" dirty="0">
                          <a:solidFill>
                            <a:srgbClr val="0B1B33"/>
                          </a:solidFill>
                        </a:rPr>
                        <a:t>Two Year</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Fiber Optic</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459</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19.8</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1050" dirty="0">
                          <a:solidFill>
                            <a:srgbClr val="0B1B33"/>
                          </a:solidFill>
                        </a:rPr>
                        <a:t>7,742</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r h="301752">
                <a:tc>
                  <a:txBody>
                    <a:bodyPr/>
                    <a:lstStyle/>
                    <a:p>
                      <a:pPr marL="0" indent="0">
                        <a:buNone/>
                      </a:pPr>
                      <a:r>
                        <a:rPr lang="en-US" sz="1050" dirty="0">
                          <a:solidFill>
                            <a:srgbClr val="0B1B33"/>
                          </a:solidFill>
                        </a:rPr>
                        <a:t>One Year</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DSL</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454</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14.1</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1050" dirty="0">
                          <a:solidFill>
                            <a:srgbClr val="0B1B33"/>
                          </a:solidFill>
                        </a:rPr>
                        <a:t>3,808</a:t>
                      </a:r>
                      <a:endParaRPr lang="en-US" sz="105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6812280" y="5166360"/>
            <a:ext cx="2743200" cy="228600"/>
          </a:xfrm>
          <a:prstGeom prst="rect">
            <a:avLst/>
          </a:prstGeom>
          <a:noFill/>
          <a:ln/>
        </p:spPr>
        <p:txBody>
          <a:bodyPr wrap="square" lIns="0" tIns="0" rIns="0" bIns="0" rtlCol="0" anchor="ctr"/>
          <a:lstStyle/>
          <a:p>
            <a:pPr marL="0" indent="0">
              <a:buNone/>
            </a:pPr>
            <a:r>
              <a:rPr lang="en-US" sz="1000" dirty="0">
                <a:solidFill>
                  <a:srgbClr val="64748B"/>
                </a:solidFill>
              </a:rPr>
              <a:t>First 5 of 9 rows</a:t>
            </a:r>
            <a:endParaRPr lang="en-US" sz="1000" dirty="0"/>
          </a:p>
        </p:txBody>
      </p:sp>
      <p:graphicFrame>
        <p:nvGraphicFramePr>
          <p:cNvPr id="15" name="Chart 0"/>
          <p:cNvGraphicFramePr/>
          <p:nvPr/>
        </p:nvGraphicFramePr>
        <p:xfrm>
          <a:off x="6720840" y="3611880"/>
          <a:ext cx="484632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6" name="Shape 12"/>
          <p:cNvSpPr/>
          <p:nvPr/>
        </p:nvSpPr>
        <p:spPr>
          <a:xfrm>
            <a:off x="457200" y="5532120"/>
            <a:ext cx="11247120" cy="960120"/>
          </a:xfrm>
          <a:prstGeom prst="roundRect">
            <a:avLst>
              <a:gd name="adj" fmla="val 9524"/>
            </a:avLst>
          </a:prstGeom>
          <a:solidFill>
            <a:srgbClr val="FFF4DC"/>
          </a:solidFill>
          <a:ln w="12700">
            <a:solidFill>
              <a:srgbClr val="F59E0B"/>
            </a:solidFill>
            <a:prstDash val="solid"/>
          </a:ln>
        </p:spPr>
      </p:sp>
      <p:sp>
        <p:nvSpPr>
          <p:cNvPr id="17" name="Text 13"/>
          <p:cNvSpPr txBox="1"/>
          <p:nvPr/>
        </p:nvSpPr>
        <p:spPr>
          <a:xfrm>
            <a:off x="685800" y="5559552"/>
            <a:ext cx="10789920" cy="905256"/>
          </a:xfrm>
          <a:prstGeom prst="rect">
            <a:avLst/>
          </a:prstGeom>
          <a:noFill/>
          <a:ln/>
        </p:spPr>
        <p:txBody>
          <a:bodyPr wrap="square" lIns="0" tIns="0" rIns="0" bIns="0" rtlCol="0" anchor="ctr"/>
          <a:lstStyle/>
          <a:p>
            <a:pPr marL="0" indent="0">
              <a:buNone/>
            </a:pPr>
            <a:r>
              <a:rPr lang="en-US" sz="1300" b="1" dirty="0">
                <a:solidFill>
                  <a:srgbClr val="B45309"/>
                </a:solidFill>
              </a:rPr>
              <a:t>INSIGHT  </a:t>
            </a:r>
            <a:r>
              <a:rPr lang="en-US" sz="1300" dirty="0">
                <a:solidFill>
                  <a:srgbClr val="0B1B33"/>
                </a:solidFill>
              </a:rPr>
              <a:t>Month-to-Month + Fiber loses $42,601 a month, about 49% of all lost revenue. The next segment, Month-to-Month + DSL, loses $13,703. The top three segments together account for roughly 79% of lost revenue, so retention work can be focused on a few groups.</a:t>
            </a:r>
            <a:endParaRPr lang="en-US" sz="1300" dirty="0"/>
          </a:p>
        </p:txBody>
      </p:sp>
      <p:sp>
        <p:nvSpPr>
          <p:cNvPr id="19" name="Text 14"/>
          <p:cNvSpPr/>
          <p:nvPr/>
        </p:nvSpPr>
        <p:spPr>
          <a:xfrm>
            <a:off x="11338560" y="6556248"/>
            <a:ext cx="457200" cy="228600"/>
          </a:xfrm>
          <a:prstGeom prst="rect">
            <a:avLst/>
          </a:prstGeom>
          <a:noFill/>
          <a:ln/>
        </p:spPr>
        <p:txBody>
          <a:bodyPr wrap="square" rtlCol="0" anchor="ctr"/>
          <a:lstStyle/>
          <a:p>
            <a:pPr marL="0" indent="0" algn="r">
              <a:buNone/>
            </a:pPr>
            <a:r>
              <a:rPr lang="en-US" sz="900" dirty="0">
                <a:solidFill>
                  <a:srgbClr val="64748B"/>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2200" b="1" dirty="0">
                <a:solidFill>
                  <a:srgbClr val="0B1B33"/>
                </a:solidFill>
                <a:latin typeface="Cambria" pitchFamily="34" charset="0"/>
                <a:ea typeface="Cambria" pitchFamily="34" charset="-122"/>
                <a:cs typeface="Cambria" pitchFamily="34" charset="-120"/>
              </a:rPr>
              <a:t>Q9. Does SQL find the Part 1 high-risk segment?</a:t>
            </a:r>
            <a:endParaRPr lang="en-US" sz="22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HIGH-RISK SEGMENT</a:t>
            </a:r>
            <a:endParaRPr lang="en-US" sz="1100" dirty="0"/>
          </a:p>
        </p:txBody>
      </p:sp>
      <p:sp>
        <p:nvSpPr>
          <p:cNvPr id="8" name="Shape 6"/>
          <p:cNvSpPr/>
          <p:nvPr/>
        </p:nvSpPr>
        <p:spPr>
          <a:xfrm>
            <a:off x="457200" y="1234440"/>
            <a:ext cx="5943600" cy="4206240"/>
          </a:xfrm>
          <a:prstGeom prst="roundRect">
            <a:avLst>
              <a:gd name="adj" fmla="val 2609"/>
            </a:avLst>
          </a:prstGeom>
          <a:solidFill>
            <a:srgbClr val="0B1B33"/>
          </a:solidFill>
          <a:ln w="12700">
            <a:solidFill>
              <a:srgbClr val="0B1B33"/>
            </a:solidFill>
            <a:prstDash val="solid"/>
          </a:ln>
        </p:spPr>
      </p:sp>
      <p:sp>
        <p:nvSpPr>
          <p:cNvPr id="9" name="Text 7"/>
          <p:cNvSpPr/>
          <p:nvPr/>
        </p:nvSpPr>
        <p:spPr>
          <a:xfrm>
            <a:off x="685800" y="1371600"/>
            <a:ext cx="1097280" cy="292608"/>
          </a:xfrm>
          <a:prstGeom prst="roundRect">
            <a:avLst>
              <a:gd name="adj" fmla="val 50000"/>
            </a:avLst>
          </a:prstGeom>
          <a:solidFill>
            <a:srgbClr val="22D3EE"/>
          </a:solidFill>
          <a:ln/>
        </p:spPr>
        <p:txBody>
          <a:bodyPr wrap="square" rtlCol="0" anchor="ctr"/>
          <a:lstStyle/>
          <a:p>
            <a:pPr marL="0" indent="0" algn="ctr">
              <a:buNone/>
            </a:pPr>
            <a:r>
              <a:rPr lang="en-US" sz="1100" b="1" dirty="0">
                <a:solidFill>
                  <a:srgbClr val="0B1B33"/>
                </a:solidFill>
              </a:rPr>
              <a:t>QUERY</a:t>
            </a:r>
            <a:endParaRPr lang="en-US" sz="1100" dirty="0"/>
          </a:p>
        </p:txBody>
      </p:sp>
      <p:sp>
        <p:nvSpPr>
          <p:cNvPr id="10" name="Text 8"/>
          <p:cNvSpPr txBox="1"/>
          <p:nvPr/>
        </p:nvSpPr>
        <p:spPr>
          <a:xfrm>
            <a:off x="685800" y="1737360"/>
            <a:ext cx="5577840" cy="3611880"/>
          </a:xfrm>
          <a:prstGeom prst="rect">
            <a:avLst/>
          </a:prstGeom>
          <a:noFill/>
          <a:ln/>
        </p:spPr>
        <p:txBody>
          <a:bodyPr wrap="square" lIns="0" tIns="0" rIns="0" bIns="0"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SELECT CASE WHEN k.ContractType = 'Month-to-Month'</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AND s.InternetService = 'Fiber Optic'</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AND k.PaymentMethod = 'Electronic Check'</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THEN 'High-risk segment' ELSE 'Everyone else'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END AS customer_group,</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COUNT(*) AS customers,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ROUND(100.0 * SUM(CASE WHEN k.Churn = 'Yes' THEN 1 ELSE 0 END)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 COUNT(*), 1) AS churn_rate_pct,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ROUND(SUM(b.MonthlyCharges), 0) AS monthly_revenue,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ROUND(SUM(CASE WHEN k.Churn = 'Yes' THEN b.MonthlyCharges ELSE 0 END), 0)</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AS monthly_revenue_lost,</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ROUND(SUM(CASE WHEN k.Churn = 'No' THEN b.MonthlyCharges ELSE 0 END), 0)</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AS monthly_revenue_still_active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FROM contracts k</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services s ON s.CustomerID = k.CustomerID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billing b ON b.CustomerID = k.CustomerID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GROUP BY customer_group</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ORDER BY customer_group DESC;</a:t>
            </a:r>
            <a:endParaRPr lang="en-US" sz="1050" dirty="0"/>
          </a:p>
        </p:txBody>
      </p:sp>
      <p:sp>
        <p:nvSpPr>
          <p:cNvPr id="11" name="Shape 9"/>
          <p:cNvSpPr/>
          <p:nvPr/>
        </p:nvSpPr>
        <p:spPr>
          <a:xfrm>
            <a:off x="6583680" y="1234440"/>
            <a:ext cx="5120640" cy="4206240"/>
          </a:xfrm>
          <a:prstGeom prst="roundRect">
            <a:avLst>
              <a:gd name="adj" fmla="val 2609"/>
            </a:avLst>
          </a:prstGeom>
          <a:solidFill>
            <a:srgbClr val="FFFFFF"/>
          </a:solidFill>
          <a:ln w="12700">
            <a:solidFill>
              <a:srgbClr val="D5E1EE"/>
            </a:solidFill>
            <a:prstDash val="solid"/>
          </a:ln>
        </p:spPr>
      </p:sp>
      <p:sp>
        <p:nvSpPr>
          <p:cNvPr id="12" name="Text 10"/>
          <p:cNvSpPr/>
          <p:nvPr/>
        </p:nvSpPr>
        <p:spPr>
          <a:xfrm>
            <a:off x="6812280" y="1371600"/>
            <a:ext cx="1188720" cy="292608"/>
          </a:xfrm>
          <a:prstGeom prst="roundRect">
            <a:avLst>
              <a:gd name="adj" fmla="val 50000"/>
            </a:avLst>
          </a:prstGeom>
          <a:solidFill>
            <a:srgbClr val="F59E0B"/>
          </a:solidFill>
          <a:ln/>
        </p:spPr>
        <p:txBody>
          <a:bodyPr wrap="square" rtlCol="0" anchor="ctr"/>
          <a:lstStyle/>
          <a:p>
            <a:pPr marL="0" indent="0" algn="ctr">
              <a:buNone/>
            </a:pPr>
            <a:r>
              <a:rPr lang="en-US" sz="1100" b="1" dirty="0">
                <a:solidFill>
                  <a:srgbClr val="0B1B33"/>
                </a:solidFill>
              </a:rPr>
              <a:t>OUTPUT</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754879" cy="1307592"/>
        </p:xfrm>
        <a:graphic>
          <a:graphicData uri="http://schemas.openxmlformats.org/drawingml/2006/table">
            <a:tbl>
              <a:tblPr/>
              <a:tblGrid>
                <a:gridCol w="1150634"/>
                <a:gridCol w="377188"/>
                <a:gridCol w="586738"/>
                <a:gridCol w="628647"/>
                <a:gridCol w="838197"/>
                <a:gridCol w="1173475"/>
              </a:tblGrid>
              <a:tr h="301752">
                <a:tc>
                  <a:txBody>
                    <a:bodyPr/>
                    <a:lstStyle/>
                    <a:p>
                      <a:pPr marL="0" indent="0">
                        <a:buNone/>
                      </a:pPr>
                      <a:r>
                        <a:rPr lang="en-US" sz="900" b="1" dirty="0">
                          <a:solidFill>
                            <a:srgbClr val="FFFFFF"/>
                          </a:solidFill>
                        </a:rPr>
                        <a:t>customer group</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customers</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churn rate pct</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monthly revenue</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monthly revenue lost</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monthly revenue still active</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r>
              <a:tr h="301752">
                <a:tc>
                  <a:txBody>
                    <a:bodyPr/>
                    <a:lstStyle/>
                    <a:p>
                      <a:pPr marL="0" indent="0">
                        <a:buNone/>
                      </a:pPr>
                      <a:r>
                        <a:rPr lang="en-US" sz="900" dirty="0">
                          <a:solidFill>
                            <a:srgbClr val="0B1B33"/>
                          </a:solidFill>
                        </a:rPr>
                        <a:t>High-risk segment</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335</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39.1</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27,974</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10,836</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17,138</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01752">
                <a:tc>
                  <a:txBody>
                    <a:bodyPr/>
                    <a:lstStyle/>
                    <a:p>
                      <a:pPr marL="0" indent="0">
                        <a:buNone/>
                      </a:pPr>
                      <a:r>
                        <a:rPr lang="en-US" sz="900" dirty="0">
                          <a:solidFill>
                            <a:srgbClr val="0B1B33"/>
                          </a:solidFill>
                        </a:rPr>
                        <a:t>Everyone else</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5,128</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21.6</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316,326</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75,448</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240,878</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bl>
          </a:graphicData>
        </a:graphic>
      </p:graphicFrame>
      <p:graphicFrame>
        <p:nvGraphicFramePr>
          <p:cNvPr id="13" name="Chart 0"/>
          <p:cNvGraphicFramePr/>
          <p:nvPr/>
        </p:nvGraphicFramePr>
        <p:xfrm>
          <a:off x="6720840" y="3611880"/>
          <a:ext cx="484632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1"/>
          <p:cNvSpPr/>
          <p:nvPr/>
        </p:nvSpPr>
        <p:spPr>
          <a:xfrm>
            <a:off x="457200" y="5532120"/>
            <a:ext cx="11247120" cy="960120"/>
          </a:xfrm>
          <a:prstGeom prst="roundRect">
            <a:avLst>
              <a:gd name="adj" fmla="val 9524"/>
            </a:avLst>
          </a:prstGeom>
          <a:solidFill>
            <a:srgbClr val="FFF4DC"/>
          </a:solidFill>
          <a:ln w="12700">
            <a:solidFill>
              <a:srgbClr val="F59E0B"/>
            </a:solidFill>
            <a:prstDash val="solid"/>
          </a:ln>
        </p:spPr>
      </p:sp>
      <p:sp>
        <p:nvSpPr>
          <p:cNvPr id="16" name="Text 12"/>
          <p:cNvSpPr txBox="1"/>
          <p:nvPr/>
        </p:nvSpPr>
        <p:spPr>
          <a:xfrm>
            <a:off x="685800" y="5559552"/>
            <a:ext cx="10789920" cy="905256"/>
          </a:xfrm>
          <a:prstGeom prst="rect">
            <a:avLst/>
          </a:prstGeom>
          <a:noFill/>
          <a:ln/>
        </p:spPr>
        <p:txBody>
          <a:bodyPr wrap="square" lIns="0" tIns="0" rIns="0" bIns="0" rtlCol="0" anchor="ctr"/>
          <a:lstStyle/>
          <a:p>
            <a:pPr marL="0" indent="0">
              <a:buNone/>
            </a:pPr>
            <a:r>
              <a:rPr lang="en-US" sz="1300" b="1" dirty="0">
                <a:solidFill>
                  <a:srgbClr val="B45309"/>
                </a:solidFill>
              </a:rPr>
              <a:t>INSIGHT  </a:t>
            </a:r>
            <a:r>
              <a:rPr lang="en-US" sz="1300" dirty="0">
                <a:solidFill>
                  <a:srgbClr val="0B1B33"/>
                </a:solidFill>
              </a:rPr>
              <a:t>SQL finds the same segment as Part 1: 335 customers (6.1% of the base) churn at 39.1%, versus 21.6% for everyone else. The segment bills $27,974 a month; $10,836 is already lost and $17,138 (about $206K a year) is still active and can be protected.</a:t>
            </a:r>
            <a:endParaRPr lang="en-US" sz="1300" dirty="0"/>
          </a:p>
        </p:txBody>
      </p:sp>
      <p:sp>
        <p:nvSpPr>
          <p:cNvPr id="18" name="Text 13"/>
          <p:cNvSpPr/>
          <p:nvPr/>
        </p:nvSpPr>
        <p:spPr>
          <a:xfrm>
            <a:off x="11338560" y="6556248"/>
            <a:ext cx="457200" cy="228600"/>
          </a:xfrm>
          <a:prstGeom prst="rect">
            <a:avLst/>
          </a:prstGeom>
          <a:noFill/>
          <a:ln/>
        </p:spPr>
        <p:txBody>
          <a:bodyPr wrap="square" rtlCol="0" anchor="ctr"/>
          <a:lstStyle/>
          <a:p>
            <a:pPr marL="0" indent="0" algn="r">
              <a:buNone/>
            </a:pPr>
            <a:r>
              <a:rPr lang="en-US" sz="900" dirty="0">
                <a:solidFill>
                  <a:srgbClr val="64748B"/>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2200" b="1" dirty="0">
                <a:solidFill>
                  <a:srgbClr val="0B1B33"/>
                </a:solidFill>
                <a:latin typeface="Cambria" pitchFamily="34" charset="0"/>
                <a:ea typeface="Cambria" pitchFamily="34" charset="-122"/>
                <a:cs typeface="Cambria" pitchFamily="34" charset="-120"/>
              </a:rPr>
              <a:t>Q10. Who should the retention team call first?</a:t>
            </a:r>
            <a:endParaRPr lang="en-US" sz="22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ACTION</a:t>
            </a:r>
            <a:endParaRPr lang="en-US" sz="1100" dirty="0"/>
          </a:p>
        </p:txBody>
      </p:sp>
      <p:sp>
        <p:nvSpPr>
          <p:cNvPr id="8" name="Shape 6"/>
          <p:cNvSpPr/>
          <p:nvPr/>
        </p:nvSpPr>
        <p:spPr>
          <a:xfrm>
            <a:off x="457200" y="1234440"/>
            <a:ext cx="5943600" cy="4206240"/>
          </a:xfrm>
          <a:prstGeom prst="roundRect">
            <a:avLst>
              <a:gd name="adj" fmla="val 2609"/>
            </a:avLst>
          </a:prstGeom>
          <a:solidFill>
            <a:srgbClr val="0B1B33"/>
          </a:solidFill>
          <a:ln w="12700">
            <a:solidFill>
              <a:srgbClr val="0B1B33"/>
            </a:solidFill>
            <a:prstDash val="solid"/>
          </a:ln>
        </p:spPr>
      </p:sp>
      <p:sp>
        <p:nvSpPr>
          <p:cNvPr id="9" name="Text 7"/>
          <p:cNvSpPr/>
          <p:nvPr/>
        </p:nvSpPr>
        <p:spPr>
          <a:xfrm>
            <a:off x="685800" y="1371600"/>
            <a:ext cx="1097280" cy="292608"/>
          </a:xfrm>
          <a:prstGeom prst="roundRect">
            <a:avLst>
              <a:gd name="adj" fmla="val 50000"/>
            </a:avLst>
          </a:prstGeom>
          <a:solidFill>
            <a:srgbClr val="22D3EE"/>
          </a:solidFill>
          <a:ln/>
        </p:spPr>
        <p:txBody>
          <a:bodyPr wrap="square" rtlCol="0" anchor="ctr"/>
          <a:lstStyle/>
          <a:p>
            <a:pPr marL="0" indent="0" algn="ctr">
              <a:buNone/>
            </a:pPr>
            <a:r>
              <a:rPr lang="en-US" sz="1100" b="1" dirty="0">
                <a:solidFill>
                  <a:srgbClr val="0B1B33"/>
                </a:solidFill>
              </a:rPr>
              <a:t>QUERY</a:t>
            </a:r>
            <a:endParaRPr lang="en-US" sz="1100" dirty="0"/>
          </a:p>
        </p:txBody>
      </p:sp>
      <p:sp>
        <p:nvSpPr>
          <p:cNvPr id="10" name="Text 8"/>
          <p:cNvSpPr txBox="1"/>
          <p:nvPr/>
        </p:nvSpPr>
        <p:spPr>
          <a:xfrm>
            <a:off x="685800" y="1737360"/>
            <a:ext cx="5577840" cy="3611880"/>
          </a:xfrm>
          <a:prstGeom prst="rect">
            <a:avLst/>
          </a:prstGeom>
          <a:noFill/>
          <a:ln/>
        </p:spPr>
        <p:txBody>
          <a:bodyPr wrap="square" lIns="0" tIns="0" rIns="0" bIns="0" rtlCol="0" anchor="t"/>
          <a:lstStyle/>
          <a:p>
            <a:pPr marL="0" indent="0">
              <a:buNone/>
            </a:pPr>
            <a:r>
              <a:rPr lang="en-US" sz="1050" dirty="0">
                <a:solidFill>
                  <a:srgbClr val="E2E8F0"/>
                </a:solidFill>
                <a:latin typeface="Courier New" pitchFamily="34" charset="0"/>
                <a:ea typeface="Courier New" pitchFamily="34" charset="-122"/>
                <a:cs typeface="Courier New" pitchFamily="34" charset="-120"/>
              </a:rPr>
              <a:t>SELECT k.CustomerID,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k.ContractType,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s.InternetService,</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k.PaymentMethod,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k.TenureMonths,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b.MonthlyCharges</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FROM contracts k</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services s ON s.CustomerID = k.CustomerID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JOIN billing b ON b.CustomerID = k.CustomerID</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WHERE k.Churn = 'No'</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AND k.ContractType = 'Month-to-Month'</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AND s.InternetService = 'Fiber Optic'</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AND k.PaymentMethod = 'Electronic Check'</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  AND b.MonthlyCharges &gt; (SELECT AVG(MonthlyCharges) FROM billing)</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ORDER BY b.MonthlyCharges DESC</a:t>
            </a:r>
            <a:endParaRPr lang="en-US" sz="1050" dirty="0"/>
          </a:p>
          <a:p>
            <a:pPr marL="0" indent="0">
              <a:buNone/>
            </a:pPr>
            <a:r>
              <a:rPr lang="en-US" sz="1050" dirty="0">
                <a:solidFill>
                  <a:srgbClr val="E2E8F0"/>
                </a:solidFill>
                <a:latin typeface="Courier New" pitchFamily="34" charset="0"/>
                <a:ea typeface="Courier New" pitchFamily="34" charset="-122"/>
                <a:cs typeface="Courier New" pitchFamily="34" charset="-120"/>
              </a:rPr>
              <a:t>LIMIT 20;</a:t>
            </a:r>
            <a:endParaRPr lang="en-US" sz="1050" dirty="0"/>
          </a:p>
        </p:txBody>
      </p:sp>
      <p:sp>
        <p:nvSpPr>
          <p:cNvPr id="11" name="Shape 9"/>
          <p:cNvSpPr/>
          <p:nvPr/>
        </p:nvSpPr>
        <p:spPr>
          <a:xfrm>
            <a:off x="6583680" y="1234440"/>
            <a:ext cx="5120640" cy="4206240"/>
          </a:xfrm>
          <a:prstGeom prst="roundRect">
            <a:avLst>
              <a:gd name="adj" fmla="val 2609"/>
            </a:avLst>
          </a:prstGeom>
          <a:solidFill>
            <a:srgbClr val="FFFFFF"/>
          </a:solidFill>
          <a:ln w="12700">
            <a:solidFill>
              <a:srgbClr val="D5E1EE"/>
            </a:solidFill>
            <a:prstDash val="solid"/>
          </a:ln>
        </p:spPr>
      </p:sp>
      <p:sp>
        <p:nvSpPr>
          <p:cNvPr id="12" name="Text 10"/>
          <p:cNvSpPr/>
          <p:nvPr/>
        </p:nvSpPr>
        <p:spPr>
          <a:xfrm>
            <a:off x="6812280" y="1371600"/>
            <a:ext cx="1188720" cy="292608"/>
          </a:xfrm>
          <a:prstGeom prst="roundRect">
            <a:avLst>
              <a:gd name="adj" fmla="val 50000"/>
            </a:avLst>
          </a:prstGeom>
          <a:solidFill>
            <a:srgbClr val="F59E0B"/>
          </a:solidFill>
          <a:ln/>
        </p:spPr>
        <p:txBody>
          <a:bodyPr wrap="square" rtlCol="0" anchor="ctr"/>
          <a:lstStyle/>
          <a:p>
            <a:pPr marL="0" indent="0" algn="ctr">
              <a:buNone/>
            </a:pPr>
            <a:r>
              <a:rPr lang="en-US" sz="1100" b="1" dirty="0">
                <a:solidFill>
                  <a:srgbClr val="0B1B33"/>
                </a:solidFill>
              </a:rPr>
              <a:t>OUTPUT</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766560" y="1783080"/>
          <a:ext cx="4754879" cy="2807208"/>
        </p:xfrm>
        <a:graphic>
          <a:graphicData uri="http://schemas.openxmlformats.org/drawingml/2006/table">
            <a:tbl>
              <a:tblPr/>
              <a:tblGrid>
                <a:gridCol w="708636"/>
                <a:gridCol w="992090"/>
                <a:gridCol w="779499"/>
                <a:gridCol w="1133817"/>
                <a:gridCol w="526540"/>
                <a:gridCol w="614297"/>
              </a:tblGrid>
              <a:tr h="384048">
                <a:tc>
                  <a:txBody>
                    <a:bodyPr/>
                    <a:lstStyle/>
                    <a:p>
                      <a:pPr marL="0" indent="0">
                        <a:buNone/>
                      </a:pPr>
                      <a:r>
                        <a:rPr lang="en-US" sz="900" b="1" dirty="0">
                          <a:solidFill>
                            <a:srgbClr val="FFFFFF"/>
                          </a:solidFill>
                        </a:rPr>
                        <a:t>CustomerID</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ContractType</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InternetService</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PaymentMethod</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TenureMonths</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c>
                  <a:txBody>
                    <a:bodyPr/>
                    <a:lstStyle/>
                    <a:p>
                      <a:pPr marL="0" indent="0">
                        <a:buNone/>
                      </a:pPr>
                      <a:r>
                        <a:rPr lang="en-US" sz="900" b="1" dirty="0">
                          <a:solidFill>
                            <a:srgbClr val="FFFFFF"/>
                          </a:solidFill>
                        </a:rPr>
                        <a:t>MonthlyCharges</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0B1B33"/>
                    </a:solidFill>
                  </a:tcPr>
                </a:tc>
              </a:tr>
              <a:tr h="384048">
                <a:tc>
                  <a:txBody>
                    <a:bodyPr/>
                    <a:lstStyle/>
                    <a:p>
                      <a:pPr marL="0" indent="0">
                        <a:buNone/>
                      </a:pPr>
                      <a:r>
                        <a:rPr lang="en-US" sz="900" dirty="0">
                          <a:solidFill>
                            <a:srgbClr val="0B1B33"/>
                          </a:solidFill>
                        </a:rPr>
                        <a:t>2449-GPXWM</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Month-to-Month</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Fiber Optic</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Electronic Check</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30</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139.11</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84048">
                <a:tc>
                  <a:txBody>
                    <a:bodyPr/>
                    <a:lstStyle/>
                    <a:p>
                      <a:pPr marL="0" indent="0">
                        <a:buNone/>
                      </a:pPr>
                      <a:r>
                        <a:rPr lang="en-US" sz="900" dirty="0">
                          <a:solidFill>
                            <a:srgbClr val="0B1B33"/>
                          </a:solidFill>
                        </a:rPr>
                        <a:t>4029-UUEJT</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Month-to-Month</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Fiber Optic</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Electronic Check</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31</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120</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r h="384048">
                <a:tc>
                  <a:txBody>
                    <a:bodyPr/>
                    <a:lstStyle/>
                    <a:p>
                      <a:pPr marL="0" indent="0">
                        <a:buNone/>
                      </a:pPr>
                      <a:r>
                        <a:rPr lang="en-US" sz="900" dirty="0">
                          <a:solidFill>
                            <a:srgbClr val="0B1B33"/>
                          </a:solidFill>
                        </a:rPr>
                        <a:t>9139-VYUMD</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Month-to-Month</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Fiber Optic</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Electronic Check</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70</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120</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84048">
                <a:tc>
                  <a:txBody>
                    <a:bodyPr/>
                    <a:lstStyle/>
                    <a:p>
                      <a:pPr marL="0" indent="0">
                        <a:buNone/>
                      </a:pPr>
                      <a:r>
                        <a:rPr lang="en-US" sz="900" dirty="0">
                          <a:solidFill>
                            <a:srgbClr val="0B1B33"/>
                          </a:solidFill>
                        </a:rPr>
                        <a:t>4755-EURVP</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Month-to-Month</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Fiber Optic</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Electronic Check</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21</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120</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r h="384048">
                <a:tc>
                  <a:txBody>
                    <a:bodyPr/>
                    <a:lstStyle/>
                    <a:p>
                      <a:pPr marL="0" indent="0">
                        <a:buNone/>
                      </a:pPr>
                      <a:r>
                        <a:rPr lang="en-US" sz="900" dirty="0">
                          <a:solidFill>
                            <a:srgbClr val="0B1B33"/>
                          </a:solidFill>
                        </a:rPr>
                        <a:t>8562-UGKFB</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Month-to-Month</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Fiber Optic</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Electronic Check</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51</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c>
                  <a:txBody>
                    <a:bodyPr/>
                    <a:lstStyle/>
                    <a:p>
                      <a:pPr marL="0" indent="0">
                        <a:buNone/>
                      </a:pPr>
                      <a:r>
                        <a:rPr lang="en-US" sz="900" dirty="0">
                          <a:solidFill>
                            <a:srgbClr val="0B1B33"/>
                          </a:solidFill>
                        </a:rPr>
                        <a:t>113.91</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FFFFF"/>
                    </a:solidFill>
                  </a:tcPr>
                </a:tc>
              </a:tr>
              <a:tr h="384048">
                <a:tc>
                  <a:txBody>
                    <a:bodyPr/>
                    <a:lstStyle/>
                    <a:p>
                      <a:pPr marL="0" indent="0">
                        <a:buNone/>
                      </a:pPr>
                      <a:r>
                        <a:rPr lang="en-US" sz="900" dirty="0">
                          <a:solidFill>
                            <a:srgbClr val="0B1B33"/>
                          </a:solidFill>
                        </a:rPr>
                        <a:t>8101-BBVQK</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Month-to-Month</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Fiber Optic</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Electronic Check</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30</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c>
                  <a:txBody>
                    <a:bodyPr/>
                    <a:lstStyle/>
                    <a:p>
                      <a:pPr marL="0" indent="0">
                        <a:buNone/>
                      </a:pPr>
                      <a:r>
                        <a:rPr lang="en-US" sz="900" dirty="0">
                          <a:solidFill>
                            <a:srgbClr val="0B1B33"/>
                          </a:solidFill>
                        </a:rPr>
                        <a:t>113.17</a:t>
                      </a:r>
                      <a:endParaRPr lang="en-US" sz="900" dirty="0"/>
                    </a:p>
                  </a:txBody>
                  <a:tcPr anchor="ctr">
                    <a:lnL w="12700" cap="flat" cmpd="sng" algn="ctr">
                      <a:solidFill>
                        <a:srgbClr val="D5E1EE"/>
                      </a:solidFill>
                      <a:prstDash val="solid"/>
                      <a:round/>
                      <a:headEnd type="none" w="med" len="med"/>
                      <a:tailEnd type="none" w="med" len="med"/>
                    </a:lnL>
                    <a:lnR w="12700" cap="flat" cmpd="sng" algn="ctr">
                      <a:solidFill>
                        <a:srgbClr val="D5E1EE"/>
                      </a:solidFill>
                      <a:prstDash val="solid"/>
                      <a:round/>
                      <a:headEnd type="none" w="med" len="med"/>
                      <a:tailEnd type="none" w="med" len="med"/>
                    </a:lnR>
                    <a:lnT w="12700" cap="flat" cmpd="sng" algn="ctr">
                      <a:solidFill>
                        <a:srgbClr val="D5E1EE"/>
                      </a:solidFill>
                      <a:prstDash val="solid"/>
                      <a:round/>
                      <a:headEnd type="none" w="med" len="med"/>
                      <a:tailEnd type="none" w="med" len="med"/>
                    </a:lnT>
                    <a:lnB w="12700" cap="flat" cmpd="sng" algn="ctr">
                      <a:solidFill>
                        <a:srgbClr val="D5E1EE"/>
                      </a:solidFill>
                      <a:prstDash val="solid"/>
                      <a:round/>
                      <a:headEnd type="none" w="med" len="med"/>
                      <a:tailEnd type="none" w="med" len="med"/>
                    </a:lnB>
                    <a:solidFill>
                      <a:srgbClr val="F2F7FC"/>
                    </a:solidFill>
                  </a:tcPr>
                </a:tc>
              </a:tr>
            </a:tbl>
          </a:graphicData>
        </a:graphic>
      </p:graphicFrame>
      <p:sp>
        <p:nvSpPr>
          <p:cNvPr id="14" name="Text 11"/>
          <p:cNvSpPr txBox="1"/>
          <p:nvPr/>
        </p:nvSpPr>
        <p:spPr>
          <a:xfrm>
            <a:off x="6812280" y="5166360"/>
            <a:ext cx="2743200" cy="228600"/>
          </a:xfrm>
          <a:prstGeom prst="rect">
            <a:avLst/>
          </a:prstGeom>
          <a:noFill/>
          <a:ln/>
        </p:spPr>
        <p:txBody>
          <a:bodyPr wrap="square" lIns="0" tIns="0" rIns="0" bIns="0" rtlCol="0" anchor="ctr"/>
          <a:lstStyle/>
          <a:p>
            <a:pPr marL="0" indent="0">
              <a:buNone/>
            </a:pPr>
            <a:r>
              <a:rPr lang="en-US" sz="1000" dirty="0">
                <a:solidFill>
                  <a:srgbClr val="64748B"/>
                </a:solidFill>
              </a:rPr>
              <a:t>First 6 of 20 rows</a:t>
            </a:r>
            <a:endParaRPr lang="en-US" sz="1000" dirty="0"/>
          </a:p>
        </p:txBody>
      </p:sp>
      <p:sp>
        <p:nvSpPr>
          <p:cNvPr id="13" name="Shape 12"/>
          <p:cNvSpPr/>
          <p:nvPr/>
        </p:nvSpPr>
        <p:spPr>
          <a:xfrm>
            <a:off x="457200" y="5532120"/>
            <a:ext cx="11247120" cy="960120"/>
          </a:xfrm>
          <a:prstGeom prst="roundRect">
            <a:avLst>
              <a:gd name="adj" fmla="val 9524"/>
            </a:avLst>
          </a:prstGeom>
          <a:solidFill>
            <a:srgbClr val="FFF4DC"/>
          </a:solidFill>
          <a:ln w="12700">
            <a:solidFill>
              <a:srgbClr val="F59E0B"/>
            </a:solidFill>
            <a:prstDash val="solid"/>
          </a:ln>
        </p:spPr>
      </p:sp>
      <p:sp>
        <p:nvSpPr>
          <p:cNvPr id="16" name="Text 13"/>
          <p:cNvSpPr txBox="1"/>
          <p:nvPr/>
        </p:nvSpPr>
        <p:spPr>
          <a:xfrm>
            <a:off x="685800" y="5559552"/>
            <a:ext cx="10789920" cy="905256"/>
          </a:xfrm>
          <a:prstGeom prst="rect">
            <a:avLst/>
          </a:prstGeom>
          <a:noFill/>
          <a:ln/>
        </p:spPr>
        <p:txBody>
          <a:bodyPr wrap="square" lIns="0" tIns="0" rIns="0" bIns="0" rtlCol="0" anchor="ctr"/>
          <a:lstStyle/>
          <a:p>
            <a:pPr marL="0" indent="0">
              <a:buNone/>
            </a:pPr>
            <a:r>
              <a:rPr lang="en-US" sz="1300" b="1" dirty="0">
                <a:solidFill>
                  <a:srgbClr val="B45309"/>
                </a:solidFill>
              </a:rPr>
              <a:t>INSIGHT  </a:t>
            </a:r>
            <a:r>
              <a:rPr lang="en-US" sz="1300" dirty="0">
                <a:solidFill>
                  <a:srgbClr val="0B1B33"/>
                </a:solidFill>
              </a:rPr>
              <a:t>These active customers sit in the high-risk segment and pay more than the $63 average bill, so the team reaches the biggest revenue at risk first. The top 20 are listed in SQL; raise the LIMIT for a longer list. Action: start retention calls here.</a:t>
            </a:r>
            <a:endParaRPr lang="en-US" sz="1300" dirty="0"/>
          </a:p>
        </p:txBody>
      </p:sp>
      <p:sp>
        <p:nvSpPr>
          <p:cNvPr id="18" name="Text 14"/>
          <p:cNvSpPr/>
          <p:nvPr/>
        </p:nvSpPr>
        <p:spPr>
          <a:xfrm>
            <a:off x="11338560" y="6556248"/>
            <a:ext cx="457200" cy="228600"/>
          </a:xfrm>
          <a:prstGeom prst="rect">
            <a:avLst/>
          </a:prstGeom>
          <a:noFill/>
          <a:ln/>
        </p:spPr>
        <p:txBody>
          <a:bodyPr wrap="square" rtlCol="0" anchor="ctr"/>
          <a:lstStyle/>
          <a:p>
            <a:pPr marL="0" indent="0" algn="r">
              <a:buNone/>
            </a:pPr>
            <a:r>
              <a:rPr lang="en-US" sz="900" dirty="0">
                <a:solidFill>
                  <a:srgbClr val="64748B"/>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7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601200" cy="640080"/>
          </a:xfrm>
          <a:prstGeom prst="rect">
            <a:avLst/>
          </a:prstGeom>
          <a:noFill/>
          <a:ln/>
        </p:spPr>
        <p:txBody>
          <a:bodyPr wrap="square" lIns="0" tIns="0" rIns="0" bIns="0" rtlCol="0" anchor="ctr"/>
          <a:lstStyle/>
          <a:p>
            <a:pPr marL="0" indent="0">
              <a:buNone/>
            </a:pPr>
            <a:r>
              <a:rPr lang="en-US" sz="3000" b="1" dirty="0">
                <a:solidFill>
                  <a:srgbClr val="0B1B33"/>
                </a:solidFill>
                <a:latin typeface="Cambria" pitchFamily="34" charset="0"/>
                <a:ea typeface="Cambria" pitchFamily="34" charset="-122"/>
                <a:cs typeface="Cambria" pitchFamily="34" charset="-120"/>
              </a:rPr>
              <a:t>Key Takeaways &amp; Actions</a:t>
            </a:r>
            <a:endParaRPr lang="en-US" sz="3000" dirty="0"/>
          </a:p>
        </p:txBody>
      </p:sp>
      <p:sp>
        <p:nvSpPr>
          <p:cNvPr id="3" name="Shape 1"/>
          <p:cNvSpPr/>
          <p:nvPr/>
        </p:nvSpPr>
        <p:spPr>
          <a:xfrm>
            <a:off x="11155680" y="731520"/>
            <a:ext cx="91440" cy="91440"/>
          </a:xfrm>
          <a:prstGeom prst="rect">
            <a:avLst/>
          </a:prstGeom>
          <a:solidFill>
            <a:srgbClr val="22D3EE"/>
          </a:solidFill>
          <a:ln w="12700">
            <a:solidFill>
              <a:srgbClr val="22D3EE"/>
            </a:solidFill>
            <a:prstDash val="solid"/>
          </a:ln>
        </p:spPr>
      </p:sp>
      <p:sp>
        <p:nvSpPr>
          <p:cNvPr id="4" name="Shape 2"/>
          <p:cNvSpPr/>
          <p:nvPr/>
        </p:nvSpPr>
        <p:spPr>
          <a:xfrm>
            <a:off x="11301984" y="603504"/>
            <a:ext cx="91440" cy="219456"/>
          </a:xfrm>
          <a:prstGeom prst="rect">
            <a:avLst/>
          </a:prstGeom>
          <a:solidFill>
            <a:srgbClr val="22D3EE"/>
          </a:solidFill>
          <a:ln w="12700">
            <a:solidFill>
              <a:srgbClr val="22D3EE"/>
            </a:solidFill>
            <a:prstDash val="solid"/>
          </a:ln>
        </p:spPr>
      </p:sp>
      <p:sp>
        <p:nvSpPr>
          <p:cNvPr id="5" name="Shape 3"/>
          <p:cNvSpPr/>
          <p:nvPr/>
        </p:nvSpPr>
        <p:spPr>
          <a:xfrm>
            <a:off x="11448288" y="475488"/>
            <a:ext cx="91440" cy="347472"/>
          </a:xfrm>
          <a:prstGeom prst="rect">
            <a:avLst/>
          </a:prstGeom>
          <a:solidFill>
            <a:srgbClr val="22D3EE"/>
          </a:solidFill>
          <a:ln w="12700">
            <a:solidFill>
              <a:srgbClr val="22D3EE"/>
            </a:solidFill>
            <a:prstDash val="solid"/>
          </a:ln>
        </p:spPr>
      </p:sp>
      <p:sp>
        <p:nvSpPr>
          <p:cNvPr id="6" name="Shape 4"/>
          <p:cNvSpPr/>
          <p:nvPr/>
        </p:nvSpPr>
        <p:spPr>
          <a:xfrm>
            <a:off x="11594592" y="347472"/>
            <a:ext cx="91440" cy="475488"/>
          </a:xfrm>
          <a:prstGeom prst="rect">
            <a:avLst/>
          </a:prstGeom>
          <a:solidFill>
            <a:srgbClr val="22D3EE"/>
          </a:solidFill>
          <a:ln w="12700">
            <a:solidFill>
              <a:srgbClr val="22D3EE"/>
            </a:solidFill>
            <a:prstDash val="solid"/>
          </a:ln>
        </p:spPr>
      </p:sp>
      <p:sp>
        <p:nvSpPr>
          <p:cNvPr id="7" name="Text 5"/>
          <p:cNvSpPr txBox="1"/>
          <p:nvPr/>
        </p:nvSpPr>
        <p:spPr>
          <a:xfrm>
            <a:off x="548640" y="45720"/>
            <a:ext cx="2743200" cy="274320"/>
          </a:xfrm>
          <a:prstGeom prst="rect">
            <a:avLst/>
          </a:prstGeom>
          <a:noFill/>
          <a:ln/>
        </p:spPr>
        <p:txBody>
          <a:bodyPr wrap="square" lIns="0" tIns="0" rIns="0" bIns="0" rtlCol="0" anchor="ctr"/>
          <a:lstStyle/>
          <a:p>
            <a:pPr marL="0" indent="0">
              <a:buNone/>
            </a:pPr>
            <a:r>
              <a:rPr lang="en-US" sz="1100" b="1" dirty="0">
                <a:solidFill>
                  <a:srgbClr val="64748B"/>
                </a:solidFill>
              </a:rPr>
              <a:t>SUMMARY</a:t>
            </a:r>
            <a:endParaRPr lang="en-US" sz="1100" dirty="0"/>
          </a:p>
        </p:txBody>
      </p:sp>
      <p:sp>
        <p:nvSpPr>
          <p:cNvPr id="8" name="Shape 6"/>
          <p:cNvSpPr/>
          <p:nvPr/>
        </p:nvSpPr>
        <p:spPr>
          <a:xfrm>
            <a:off x="548640" y="1280160"/>
            <a:ext cx="3520440" cy="2103120"/>
          </a:xfrm>
          <a:prstGeom prst="roundRect">
            <a:avLst>
              <a:gd name="adj" fmla="val 5217"/>
            </a:avLst>
          </a:prstGeom>
          <a:solidFill>
            <a:srgbClr val="FFFFFF"/>
          </a:solidFill>
          <a:ln w="12700">
            <a:solidFill>
              <a:srgbClr val="D5E1EE"/>
            </a:solidFill>
            <a:prstDash val="solid"/>
          </a:ln>
        </p:spPr>
      </p:sp>
      <p:sp>
        <p:nvSpPr>
          <p:cNvPr id="9" name="Text 7"/>
          <p:cNvSpPr/>
          <p:nvPr/>
        </p:nvSpPr>
        <p:spPr>
          <a:xfrm>
            <a:off x="777240" y="1508760"/>
            <a:ext cx="502920" cy="502920"/>
          </a:xfrm>
          <a:prstGeom prst="ellipse">
            <a:avLst/>
          </a:prstGeom>
          <a:solidFill>
            <a:srgbClr val="22D3EE"/>
          </a:solidFill>
          <a:ln/>
        </p:spPr>
        <p:txBody>
          <a:bodyPr wrap="square" rtlCol="0" anchor="ctr"/>
          <a:lstStyle/>
          <a:p>
            <a:pPr marL="0" indent="0" algn="ctr">
              <a:buNone/>
            </a:pPr>
            <a:r>
              <a:rPr lang="en-US" sz="1600" b="1" dirty="0">
                <a:solidFill>
                  <a:srgbClr val="0B1B33"/>
                </a:solidFill>
              </a:rPr>
              <a:t>1</a:t>
            </a:r>
            <a:endParaRPr lang="en-US" sz="1600" dirty="0"/>
          </a:p>
        </p:txBody>
      </p:sp>
      <p:sp>
        <p:nvSpPr>
          <p:cNvPr id="10" name="Text 8"/>
          <p:cNvSpPr txBox="1"/>
          <p:nvPr/>
        </p:nvSpPr>
        <p:spPr>
          <a:xfrm>
            <a:off x="1417320" y="1508760"/>
            <a:ext cx="2468880" cy="502920"/>
          </a:xfrm>
          <a:prstGeom prst="rect">
            <a:avLst/>
          </a:prstGeom>
          <a:noFill/>
          <a:ln/>
        </p:spPr>
        <p:txBody>
          <a:bodyPr wrap="square" lIns="0" tIns="0" rIns="0" bIns="0" rtlCol="0" anchor="ctr"/>
          <a:lstStyle/>
          <a:p>
            <a:pPr marL="0" indent="0">
              <a:buNone/>
            </a:pPr>
            <a:r>
              <a:rPr lang="en-US" sz="1800" b="1" dirty="0">
                <a:solidFill>
                  <a:srgbClr val="0B1B33"/>
                </a:solidFill>
                <a:latin typeface="Cambria" pitchFamily="34" charset="0"/>
                <a:ea typeface="Cambria" pitchFamily="34" charset="-122"/>
                <a:cs typeface="Cambria" pitchFamily="34" charset="-120"/>
              </a:rPr>
              <a:t>Contract</a:t>
            </a:r>
            <a:endParaRPr lang="en-US" sz="1800" dirty="0"/>
          </a:p>
        </p:txBody>
      </p:sp>
      <p:sp>
        <p:nvSpPr>
          <p:cNvPr id="11" name="Text 9"/>
          <p:cNvSpPr txBox="1"/>
          <p:nvPr/>
        </p:nvSpPr>
        <p:spPr>
          <a:xfrm>
            <a:off x="777240" y="2194560"/>
            <a:ext cx="3108960" cy="1051560"/>
          </a:xfrm>
          <a:prstGeom prst="rect">
            <a:avLst/>
          </a:prstGeom>
          <a:noFill/>
          <a:ln/>
        </p:spPr>
        <p:txBody>
          <a:bodyPr wrap="square" lIns="0" tIns="0" rIns="0" bIns="0" rtlCol="0" anchor="t"/>
          <a:lstStyle/>
          <a:p>
            <a:pPr marL="0" indent="0">
              <a:buNone/>
            </a:pPr>
            <a:r>
              <a:rPr lang="en-US" sz="1400" dirty="0">
                <a:solidFill>
                  <a:srgbClr val="64748B"/>
                </a:solidFill>
              </a:rPr>
              <a:t>Move Month-to-Month Fiber customers to One-Year plans with a small incentive</a:t>
            </a:r>
            <a:endParaRPr lang="en-US" sz="1400" dirty="0"/>
          </a:p>
        </p:txBody>
      </p:sp>
      <p:sp>
        <p:nvSpPr>
          <p:cNvPr id="12" name="Shape 10"/>
          <p:cNvSpPr/>
          <p:nvPr/>
        </p:nvSpPr>
        <p:spPr>
          <a:xfrm>
            <a:off x="4297680" y="1280160"/>
            <a:ext cx="3520440" cy="2103120"/>
          </a:xfrm>
          <a:prstGeom prst="roundRect">
            <a:avLst>
              <a:gd name="adj" fmla="val 5217"/>
            </a:avLst>
          </a:prstGeom>
          <a:solidFill>
            <a:srgbClr val="FFFFFF"/>
          </a:solidFill>
          <a:ln w="12700">
            <a:solidFill>
              <a:srgbClr val="D5E1EE"/>
            </a:solidFill>
            <a:prstDash val="solid"/>
          </a:ln>
        </p:spPr>
      </p:sp>
      <p:sp>
        <p:nvSpPr>
          <p:cNvPr id="13" name="Text 11"/>
          <p:cNvSpPr/>
          <p:nvPr/>
        </p:nvSpPr>
        <p:spPr>
          <a:xfrm>
            <a:off x="4526280" y="1508760"/>
            <a:ext cx="502920" cy="502920"/>
          </a:xfrm>
          <a:prstGeom prst="ellipse">
            <a:avLst/>
          </a:prstGeom>
          <a:solidFill>
            <a:srgbClr val="F59E0B"/>
          </a:solidFill>
          <a:ln/>
        </p:spPr>
        <p:txBody>
          <a:bodyPr wrap="square" rtlCol="0" anchor="ctr"/>
          <a:lstStyle/>
          <a:p>
            <a:pPr marL="0" indent="0" algn="ctr">
              <a:buNone/>
            </a:pPr>
            <a:r>
              <a:rPr lang="en-US" sz="1600" b="1" dirty="0">
                <a:solidFill>
                  <a:srgbClr val="0B1B33"/>
                </a:solidFill>
              </a:rPr>
              <a:t>2</a:t>
            </a:r>
            <a:endParaRPr lang="en-US" sz="1600" dirty="0"/>
          </a:p>
        </p:txBody>
      </p:sp>
      <p:sp>
        <p:nvSpPr>
          <p:cNvPr id="14" name="Text 12"/>
          <p:cNvSpPr txBox="1"/>
          <p:nvPr/>
        </p:nvSpPr>
        <p:spPr>
          <a:xfrm>
            <a:off x="5166360" y="1508760"/>
            <a:ext cx="2468880" cy="502920"/>
          </a:xfrm>
          <a:prstGeom prst="rect">
            <a:avLst/>
          </a:prstGeom>
          <a:noFill/>
          <a:ln/>
        </p:spPr>
        <p:txBody>
          <a:bodyPr wrap="square" lIns="0" tIns="0" rIns="0" bIns="0" rtlCol="0" anchor="ctr"/>
          <a:lstStyle/>
          <a:p>
            <a:pPr marL="0" indent="0">
              <a:buNone/>
            </a:pPr>
            <a:r>
              <a:rPr lang="en-US" sz="1800" b="1" dirty="0">
                <a:solidFill>
                  <a:srgbClr val="0B1B33"/>
                </a:solidFill>
                <a:latin typeface="Cambria" pitchFamily="34" charset="0"/>
                <a:ea typeface="Cambria" pitchFamily="34" charset="-122"/>
                <a:cs typeface="Cambria" pitchFamily="34" charset="-120"/>
              </a:rPr>
              <a:t>First year</a:t>
            </a:r>
            <a:endParaRPr lang="en-US" sz="1800" dirty="0"/>
          </a:p>
        </p:txBody>
      </p:sp>
      <p:sp>
        <p:nvSpPr>
          <p:cNvPr id="15" name="Text 13"/>
          <p:cNvSpPr txBox="1"/>
          <p:nvPr/>
        </p:nvSpPr>
        <p:spPr>
          <a:xfrm>
            <a:off x="4526280" y="2194560"/>
            <a:ext cx="3108960" cy="1051560"/>
          </a:xfrm>
          <a:prstGeom prst="rect">
            <a:avLst/>
          </a:prstGeom>
          <a:noFill/>
          <a:ln/>
        </p:spPr>
        <p:txBody>
          <a:bodyPr wrap="square" lIns="0" tIns="0" rIns="0" bIns="0" rtlCol="0" anchor="t"/>
          <a:lstStyle/>
          <a:p>
            <a:pPr marL="0" indent="0">
              <a:buNone/>
            </a:pPr>
            <a:r>
              <a:rPr lang="en-US" sz="1400" dirty="0">
                <a:solidFill>
                  <a:srgbClr val="64748B"/>
                </a:solidFill>
              </a:rPr>
              <a:t>One in three new customers leaves, so build an onboarding programme</a:t>
            </a:r>
            <a:endParaRPr lang="en-US" sz="1400" dirty="0"/>
          </a:p>
        </p:txBody>
      </p:sp>
      <p:sp>
        <p:nvSpPr>
          <p:cNvPr id="16" name="Shape 14"/>
          <p:cNvSpPr/>
          <p:nvPr/>
        </p:nvSpPr>
        <p:spPr>
          <a:xfrm>
            <a:off x="8046720" y="1280160"/>
            <a:ext cx="3520440" cy="2103120"/>
          </a:xfrm>
          <a:prstGeom prst="roundRect">
            <a:avLst>
              <a:gd name="adj" fmla="val 5217"/>
            </a:avLst>
          </a:prstGeom>
          <a:solidFill>
            <a:srgbClr val="FFFFFF"/>
          </a:solidFill>
          <a:ln w="12700">
            <a:solidFill>
              <a:srgbClr val="D5E1EE"/>
            </a:solidFill>
            <a:prstDash val="solid"/>
          </a:ln>
        </p:spPr>
      </p:sp>
      <p:sp>
        <p:nvSpPr>
          <p:cNvPr id="17" name="Text 15"/>
          <p:cNvSpPr/>
          <p:nvPr/>
        </p:nvSpPr>
        <p:spPr>
          <a:xfrm>
            <a:off x="8275320" y="1508760"/>
            <a:ext cx="502920" cy="502920"/>
          </a:xfrm>
          <a:prstGeom prst="ellipse">
            <a:avLst/>
          </a:prstGeom>
          <a:solidFill>
            <a:srgbClr val="F43F5E"/>
          </a:solidFill>
          <a:ln/>
        </p:spPr>
        <p:txBody>
          <a:bodyPr wrap="square" rtlCol="0" anchor="ctr"/>
          <a:lstStyle/>
          <a:p>
            <a:pPr marL="0" indent="0" algn="ctr">
              <a:buNone/>
            </a:pPr>
            <a:r>
              <a:rPr lang="en-US" sz="1600" b="1" dirty="0">
                <a:solidFill>
                  <a:srgbClr val="0B1B33"/>
                </a:solidFill>
              </a:rPr>
              <a:t>3</a:t>
            </a:r>
            <a:endParaRPr lang="en-US" sz="1600" dirty="0"/>
          </a:p>
        </p:txBody>
      </p:sp>
      <p:sp>
        <p:nvSpPr>
          <p:cNvPr id="18" name="Text 16"/>
          <p:cNvSpPr txBox="1"/>
          <p:nvPr/>
        </p:nvSpPr>
        <p:spPr>
          <a:xfrm>
            <a:off x="8915400" y="1508760"/>
            <a:ext cx="2468880" cy="502920"/>
          </a:xfrm>
          <a:prstGeom prst="rect">
            <a:avLst/>
          </a:prstGeom>
          <a:noFill/>
          <a:ln/>
        </p:spPr>
        <p:txBody>
          <a:bodyPr wrap="square" lIns="0" tIns="0" rIns="0" bIns="0" rtlCol="0" anchor="ctr"/>
          <a:lstStyle/>
          <a:p>
            <a:pPr marL="0" indent="0">
              <a:buNone/>
            </a:pPr>
            <a:r>
              <a:rPr lang="en-US" sz="1800" b="1" dirty="0">
                <a:solidFill>
                  <a:srgbClr val="0B1B33"/>
                </a:solidFill>
                <a:latin typeface="Cambria" pitchFamily="34" charset="0"/>
                <a:ea typeface="Cambria" pitchFamily="34" charset="-122"/>
                <a:cs typeface="Cambria" pitchFamily="34" charset="-120"/>
              </a:rPr>
              <a:t>Pricing</a:t>
            </a:r>
            <a:endParaRPr lang="en-US" sz="1800" dirty="0"/>
          </a:p>
        </p:txBody>
      </p:sp>
      <p:sp>
        <p:nvSpPr>
          <p:cNvPr id="19" name="Text 17"/>
          <p:cNvSpPr txBox="1"/>
          <p:nvPr/>
        </p:nvSpPr>
        <p:spPr>
          <a:xfrm>
            <a:off x="8275320" y="2194560"/>
            <a:ext cx="3108960" cy="1051560"/>
          </a:xfrm>
          <a:prstGeom prst="rect">
            <a:avLst/>
          </a:prstGeom>
          <a:noFill/>
          <a:ln/>
        </p:spPr>
        <p:txBody>
          <a:bodyPr wrap="square" lIns="0" tIns="0" rIns="0" bIns="0" rtlCol="0" anchor="t"/>
          <a:lstStyle/>
          <a:p>
            <a:pPr marL="0" indent="0">
              <a:buNone/>
            </a:pPr>
            <a:r>
              <a:rPr lang="en-US" sz="1400" dirty="0">
                <a:solidFill>
                  <a:srgbClr val="64748B"/>
                </a:solidFill>
              </a:rPr>
              <a:t>Fiber has the highest churn and the highest bill: review its value</a:t>
            </a:r>
            <a:endParaRPr lang="en-US" sz="1400" dirty="0"/>
          </a:p>
        </p:txBody>
      </p:sp>
      <p:sp>
        <p:nvSpPr>
          <p:cNvPr id="20" name="Shape 18"/>
          <p:cNvSpPr/>
          <p:nvPr/>
        </p:nvSpPr>
        <p:spPr>
          <a:xfrm>
            <a:off x="548640" y="3611880"/>
            <a:ext cx="3520440" cy="2103120"/>
          </a:xfrm>
          <a:prstGeom prst="roundRect">
            <a:avLst>
              <a:gd name="adj" fmla="val 5217"/>
            </a:avLst>
          </a:prstGeom>
          <a:solidFill>
            <a:srgbClr val="FFFFFF"/>
          </a:solidFill>
          <a:ln w="12700">
            <a:solidFill>
              <a:srgbClr val="D5E1EE"/>
            </a:solidFill>
            <a:prstDash val="solid"/>
          </a:ln>
        </p:spPr>
      </p:sp>
      <p:sp>
        <p:nvSpPr>
          <p:cNvPr id="21" name="Text 19"/>
          <p:cNvSpPr/>
          <p:nvPr/>
        </p:nvSpPr>
        <p:spPr>
          <a:xfrm>
            <a:off x="777240" y="3840480"/>
            <a:ext cx="502920" cy="502920"/>
          </a:xfrm>
          <a:prstGeom prst="ellipse">
            <a:avLst/>
          </a:prstGeom>
          <a:solidFill>
            <a:srgbClr val="22D3EE"/>
          </a:solidFill>
          <a:ln/>
        </p:spPr>
        <p:txBody>
          <a:bodyPr wrap="square" rtlCol="0" anchor="ctr"/>
          <a:lstStyle/>
          <a:p>
            <a:pPr marL="0" indent="0" algn="ctr">
              <a:buNone/>
            </a:pPr>
            <a:r>
              <a:rPr lang="en-US" sz="1600" b="1" dirty="0">
                <a:solidFill>
                  <a:srgbClr val="0B1B33"/>
                </a:solidFill>
              </a:rPr>
              <a:t>4</a:t>
            </a:r>
            <a:endParaRPr lang="en-US" sz="1600" dirty="0"/>
          </a:p>
        </p:txBody>
      </p:sp>
      <p:sp>
        <p:nvSpPr>
          <p:cNvPr id="22" name="Text 20"/>
          <p:cNvSpPr txBox="1"/>
          <p:nvPr/>
        </p:nvSpPr>
        <p:spPr>
          <a:xfrm>
            <a:off x="1417320" y="3840480"/>
            <a:ext cx="2468880" cy="502920"/>
          </a:xfrm>
          <a:prstGeom prst="rect">
            <a:avLst/>
          </a:prstGeom>
          <a:noFill/>
          <a:ln/>
        </p:spPr>
        <p:txBody>
          <a:bodyPr wrap="square" lIns="0" tIns="0" rIns="0" bIns="0" rtlCol="0" anchor="ctr"/>
          <a:lstStyle/>
          <a:p>
            <a:pPr marL="0" indent="0">
              <a:buNone/>
            </a:pPr>
            <a:r>
              <a:rPr lang="en-US" sz="1800" b="1" dirty="0">
                <a:solidFill>
                  <a:srgbClr val="0B1B33"/>
                </a:solidFill>
                <a:latin typeface="Cambria" pitchFamily="34" charset="0"/>
                <a:ea typeface="Cambria" pitchFamily="34" charset="-122"/>
                <a:cs typeface="Cambria" pitchFamily="34" charset="-120"/>
              </a:rPr>
              <a:t>Payments</a:t>
            </a:r>
            <a:endParaRPr lang="en-US" sz="1800" dirty="0"/>
          </a:p>
        </p:txBody>
      </p:sp>
      <p:sp>
        <p:nvSpPr>
          <p:cNvPr id="23" name="Text 21"/>
          <p:cNvSpPr txBox="1"/>
          <p:nvPr/>
        </p:nvSpPr>
        <p:spPr>
          <a:xfrm>
            <a:off x="777240" y="4526280"/>
            <a:ext cx="3108960" cy="1051560"/>
          </a:xfrm>
          <a:prstGeom prst="rect">
            <a:avLst/>
          </a:prstGeom>
          <a:noFill/>
          <a:ln/>
        </p:spPr>
        <p:txBody>
          <a:bodyPr wrap="square" lIns="0" tIns="0" rIns="0" bIns="0" rtlCol="0" anchor="t"/>
          <a:lstStyle/>
          <a:p>
            <a:pPr marL="0" indent="0">
              <a:buNone/>
            </a:pPr>
            <a:r>
              <a:rPr lang="en-US" sz="1400" dirty="0">
                <a:solidFill>
                  <a:srgbClr val="64748B"/>
                </a:solidFill>
              </a:rPr>
              <a:t>Nudge Electronic Check payers to auto-pay</a:t>
            </a:r>
            <a:endParaRPr lang="en-US" sz="1400" dirty="0"/>
          </a:p>
        </p:txBody>
      </p:sp>
      <p:sp>
        <p:nvSpPr>
          <p:cNvPr id="24" name="Shape 22"/>
          <p:cNvSpPr/>
          <p:nvPr/>
        </p:nvSpPr>
        <p:spPr>
          <a:xfrm>
            <a:off x="4297680" y="3611880"/>
            <a:ext cx="3520440" cy="2103120"/>
          </a:xfrm>
          <a:prstGeom prst="roundRect">
            <a:avLst>
              <a:gd name="adj" fmla="val 5217"/>
            </a:avLst>
          </a:prstGeom>
          <a:solidFill>
            <a:srgbClr val="FFFFFF"/>
          </a:solidFill>
          <a:ln w="12700">
            <a:solidFill>
              <a:srgbClr val="D5E1EE"/>
            </a:solidFill>
            <a:prstDash val="solid"/>
          </a:ln>
        </p:spPr>
      </p:sp>
      <p:sp>
        <p:nvSpPr>
          <p:cNvPr id="25" name="Text 23"/>
          <p:cNvSpPr/>
          <p:nvPr/>
        </p:nvSpPr>
        <p:spPr>
          <a:xfrm>
            <a:off x="4526280" y="3840480"/>
            <a:ext cx="502920" cy="502920"/>
          </a:xfrm>
          <a:prstGeom prst="ellipse">
            <a:avLst/>
          </a:prstGeom>
          <a:solidFill>
            <a:srgbClr val="F59E0B"/>
          </a:solidFill>
          <a:ln/>
        </p:spPr>
        <p:txBody>
          <a:bodyPr wrap="square" rtlCol="0" anchor="ctr"/>
          <a:lstStyle/>
          <a:p>
            <a:pPr marL="0" indent="0" algn="ctr">
              <a:buNone/>
            </a:pPr>
            <a:r>
              <a:rPr lang="en-US" sz="1600" b="1" dirty="0">
                <a:solidFill>
                  <a:srgbClr val="0B1B33"/>
                </a:solidFill>
              </a:rPr>
              <a:t>5</a:t>
            </a:r>
            <a:endParaRPr lang="en-US" sz="1600" dirty="0"/>
          </a:p>
        </p:txBody>
      </p:sp>
      <p:sp>
        <p:nvSpPr>
          <p:cNvPr id="26" name="Text 24"/>
          <p:cNvSpPr txBox="1"/>
          <p:nvPr/>
        </p:nvSpPr>
        <p:spPr>
          <a:xfrm>
            <a:off x="5166360" y="3840480"/>
            <a:ext cx="2468880" cy="502920"/>
          </a:xfrm>
          <a:prstGeom prst="rect">
            <a:avLst/>
          </a:prstGeom>
          <a:noFill/>
          <a:ln/>
        </p:spPr>
        <p:txBody>
          <a:bodyPr wrap="square" lIns="0" tIns="0" rIns="0" bIns="0" rtlCol="0" anchor="ctr"/>
          <a:lstStyle/>
          <a:p>
            <a:pPr marL="0" indent="0">
              <a:buNone/>
            </a:pPr>
            <a:r>
              <a:rPr lang="en-US" sz="1800" b="1" dirty="0">
                <a:solidFill>
                  <a:srgbClr val="0B1B33"/>
                </a:solidFill>
                <a:latin typeface="Cambria" pitchFamily="34" charset="0"/>
                <a:ea typeface="Cambria" pitchFamily="34" charset="-122"/>
                <a:cs typeface="Cambria" pitchFamily="34" charset="-120"/>
              </a:rPr>
              <a:t>Myth</a:t>
            </a:r>
            <a:endParaRPr lang="en-US" sz="1800" dirty="0"/>
          </a:p>
        </p:txBody>
      </p:sp>
      <p:sp>
        <p:nvSpPr>
          <p:cNvPr id="27" name="Text 25"/>
          <p:cNvSpPr txBox="1"/>
          <p:nvPr/>
        </p:nvSpPr>
        <p:spPr>
          <a:xfrm>
            <a:off x="4526280" y="4526280"/>
            <a:ext cx="3108960" cy="1051560"/>
          </a:xfrm>
          <a:prstGeom prst="rect">
            <a:avLst/>
          </a:prstGeom>
          <a:noFill/>
          <a:ln/>
        </p:spPr>
        <p:txBody>
          <a:bodyPr wrap="square" lIns="0" tIns="0" rIns="0" bIns="0" rtlCol="0" anchor="t"/>
          <a:lstStyle/>
          <a:p>
            <a:pPr marL="0" indent="0">
              <a:buNone/>
            </a:pPr>
            <a:r>
              <a:rPr lang="en-US" sz="1400" dirty="0">
                <a:solidFill>
                  <a:srgbClr val="64748B"/>
                </a:solidFill>
              </a:rPr>
              <a:t>Tech Support, age and gender do not change churn: do not spend there</a:t>
            </a:r>
            <a:endParaRPr lang="en-US" sz="1400" dirty="0"/>
          </a:p>
        </p:txBody>
      </p:sp>
      <p:sp>
        <p:nvSpPr>
          <p:cNvPr id="28" name="Shape 26"/>
          <p:cNvSpPr/>
          <p:nvPr/>
        </p:nvSpPr>
        <p:spPr>
          <a:xfrm>
            <a:off x="8046720" y="3611880"/>
            <a:ext cx="3520440" cy="2103120"/>
          </a:xfrm>
          <a:prstGeom prst="roundRect">
            <a:avLst>
              <a:gd name="adj" fmla="val 5217"/>
            </a:avLst>
          </a:prstGeom>
          <a:solidFill>
            <a:srgbClr val="FFFFFF"/>
          </a:solidFill>
          <a:ln w="12700">
            <a:solidFill>
              <a:srgbClr val="D5E1EE"/>
            </a:solidFill>
            <a:prstDash val="solid"/>
          </a:ln>
        </p:spPr>
      </p:sp>
      <p:sp>
        <p:nvSpPr>
          <p:cNvPr id="29" name="Text 27"/>
          <p:cNvSpPr/>
          <p:nvPr/>
        </p:nvSpPr>
        <p:spPr>
          <a:xfrm>
            <a:off x="8275320" y="3840480"/>
            <a:ext cx="502920" cy="502920"/>
          </a:xfrm>
          <a:prstGeom prst="ellipse">
            <a:avLst/>
          </a:prstGeom>
          <a:solidFill>
            <a:srgbClr val="F43F5E"/>
          </a:solidFill>
          <a:ln/>
        </p:spPr>
        <p:txBody>
          <a:bodyPr wrap="square" rtlCol="0" anchor="ctr"/>
          <a:lstStyle/>
          <a:p>
            <a:pPr marL="0" indent="0" algn="ctr">
              <a:buNone/>
            </a:pPr>
            <a:r>
              <a:rPr lang="en-US" sz="1600" b="1" dirty="0">
                <a:solidFill>
                  <a:srgbClr val="0B1B33"/>
                </a:solidFill>
              </a:rPr>
              <a:t>6</a:t>
            </a:r>
            <a:endParaRPr lang="en-US" sz="1600" dirty="0"/>
          </a:p>
        </p:txBody>
      </p:sp>
      <p:sp>
        <p:nvSpPr>
          <p:cNvPr id="30" name="Text 28"/>
          <p:cNvSpPr txBox="1"/>
          <p:nvPr/>
        </p:nvSpPr>
        <p:spPr>
          <a:xfrm>
            <a:off x="8915400" y="3840480"/>
            <a:ext cx="2468880" cy="502920"/>
          </a:xfrm>
          <a:prstGeom prst="rect">
            <a:avLst/>
          </a:prstGeom>
          <a:noFill/>
          <a:ln/>
        </p:spPr>
        <p:txBody>
          <a:bodyPr wrap="square" lIns="0" tIns="0" rIns="0" bIns="0" rtlCol="0" anchor="ctr"/>
          <a:lstStyle/>
          <a:p>
            <a:pPr marL="0" indent="0">
              <a:buNone/>
            </a:pPr>
            <a:r>
              <a:rPr lang="en-US" sz="1800" b="1" dirty="0">
                <a:solidFill>
                  <a:srgbClr val="0B1B33"/>
                </a:solidFill>
                <a:latin typeface="Cambria" pitchFamily="34" charset="0"/>
                <a:ea typeface="Cambria" pitchFamily="34" charset="-122"/>
                <a:cs typeface="Cambria" pitchFamily="34" charset="-120"/>
              </a:rPr>
              <a:t>Call list</a:t>
            </a:r>
            <a:endParaRPr lang="en-US" sz="1800" dirty="0"/>
          </a:p>
        </p:txBody>
      </p:sp>
      <p:sp>
        <p:nvSpPr>
          <p:cNvPr id="31" name="Text 29"/>
          <p:cNvSpPr txBox="1"/>
          <p:nvPr/>
        </p:nvSpPr>
        <p:spPr>
          <a:xfrm>
            <a:off x="8275320" y="4526280"/>
            <a:ext cx="3108960" cy="1051560"/>
          </a:xfrm>
          <a:prstGeom prst="rect">
            <a:avLst/>
          </a:prstGeom>
          <a:noFill/>
          <a:ln/>
        </p:spPr>
        <p:txBody>
          <a:bodyPr wrap="square" lIns="0" tIns="0" rIns="0" bIns="0" rtlCol="0" anchor="t"/>
          <a:lstStyle/>
          <a:p>
            <a:pPr marL="0" indent="0">
              <a:buNone/>
            </a:pPr>
            <a:r>
              <a:rPr lang="en-US" sz="1400" dirty="0">
                <a:solidFill>
                  <a:srgbClr val="64748B"/>
                </a:solidFill>
              </a:rPr>
              <a:t>Start retention calls with the high-risk list from Q10</a:t>
            </a:r>
            <a:endParaRPr lang="en-US" sz="1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B33"/>
        </a:solidFill>
        <a:effectLst/>
      </p:bgPr>
    </p:bg>
    <p:spTree>
      <p:nvGrpSpPr>
        <p:cNvPr id="1" name=""/>
        <p:cNvGrpSpPr/>
        <p:nvPr/>
      </p:nvGrpSpPr>
      <p:grpSpPr>
        <a:xfrm>
          <a:off x="0" y="0"/>
          <a:ext cx="0" cy="0"/>
          <a:chOff x="0" y="0"/>
          <a:chExt cx="0" cy="0"/>
        </a:xfrm>
      </p:grpSpPr>
      <p:sp>
        <p:nvSpPr>
          <p:cNvPr id="2" name="Shape 0"/>
          <p:cNvSpPr/>
          <p:nvPr/>
        </p:nvSpPr>
        <p:spPr>
          <a:xfrm>
            <a:off x="6400800" y="1188720"/>
            <a:ext cx="4754880" cy="4754880"/>
          </a:xfrm>
          <a:prstGeom prst="ellipse">
            <a:avLst/>
          </a:prstGeom>
          <a:solidFill>
            <a:srgbClr val="13294B"/>
          </a:solidFill>
          <a:ln w="19050">
            <a:solidFill>
              <a:srgbClr val="22D3EE"/>
            </a:solidFill>
            <a:prstDash val="solid"/>
          </a:ln>
        </p:spPr>
      </p:sp>
      <p:sp>
        <p:nvSpPr>
          <p:cNvPr id="3" name="Shape 1"/>
          <p:cNvSpPr/>
          <p:nvPr/>
        </p:nvSpPr>
        <p:spPr>
          <a:xfrm>
            <a:off x="7680960" y="1828800"/>
            <a:ext cx="3474720" cy="3474720"/>
          </a:xfrm>
          <a:prstGeom prst="ellipse">
            <a:avLst/>
          </a:prstGeom>
          <a:solidFill>
            <a:srgbClr val="13294B">
              <a:alpha val="80000"/>
            </a:srgbClr>
          </a:solidFill>
          <a:ln w="19050">
            <a:solidFill>
              <a:srgbClr val="22D3EE">
                <a:alpha val="80000"/>
              </a:srgbClr>
            </a:solidFill>
            <a:prstDash val="solid"/>
          </a:ln>
        </p:spPr>
      </p:sp>
      <p:sp>
        <p:nvSpPr>
          <p:cNvPr id="4" name="Shape 2"/>
          <p:cNvSpPr/>
          <p:nvPr/>
        </p:nvSpPr>
        <p:spPr>
          <a:xfrm>
            <a:off x="8961120" y="2468880"/>
            <a:ext cx="2194560" cy="2194560"/>
          </a:xfrm>
          <a:prstGeom prst="ellipse">
            <a:avLst/>
          </a:prstGeom>
          <a:solidFill>
            <a:srgbClr val="13294B">
              <a:alpha val="60000"/>
            </a:srgbClr>
          </a:solidFill>
          <a:ln w="19050">
            <a:solidFill>
              <a:srgbClr val="22D3EE">
                <a:alpha val="60000"/>
              </a:srgbClr>
            </a:solidFill>
            <a:prstDash val="solid"/>
          </a:ln>
        </p:spPr>
      </p:sp>
      <p:sp>
        <p:nvSpPr>
          <p:cNvPr id="5" name="Text 3"/>
          <p:cNvSpPr txBox="1"/>
          <p:nvPr/>
        </p:nvSpPr>
        <p:spPr>
          <a:xfrm>
            <a:off x="822960" y="2103120"/>
            <a:ext cx="731520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7" name="Text 5"/>
          <p:cNvSpPr/>
          <p:nvPr/>
        </p:nvSpPr>
        <p:spPr>
          <a:xfrm>
            <a:off x="731520" y="3840480"/>
            <a:ext cx="3108960" cy="457200"/>
          </a:xfrm>
          <a:prstGeom prst="roundRect">
            <a:avLst>
              <a:gd name="adj" fmla="val 50000"/>
            </a:avLst>
          </a:prstGeom>
          <a:solidFill>
            <a:srgbClr val="22D3EE"/>
          </a:solidFill>
          <a:ln/>
        </p:spPr>
        <p:txBody>
          <a:bodyPr wrap="square" rtlCol="0" anchor="ctr"/>
          <a:lstStyle/>
          <a:p>
            <a:pPr marL="0" indent="0" algn="ctr">
              <a:buNone/>
            </a:pPr>
            <a:r>
              <a:rPr lang="en-US" sz="1500" b="1" dirty="0">
                <a:solidFill>
                  <a:srgbClr val="0B1B33"/>
                </a:solidFill>
              </a:rPr>
              <a:t>SHAILESH PAWAR</a:t>
            </a:r>
            <a:endParaRPr lang="en-US" sz="1500" dirty="0"/>
          </a:p>
        </p:txBody>
      </p:sp>
      <p:sp>
        <p:nvSpPr>
          <p:cNvPr id="8" name="Shape 6"/>
          <p:cNvSpPr/>
          <p:nvPr/>
        </p:nvSpPr>
        <p:spPr>
          <a:xfrm>
            <a:off x="731520" y="4572000"/>
            <a:ext cx="1828800" cy="457200"/>
          </a:xfrm>
          <a:prstGeom prst="roundRect">
            <a:avLst>
              <a:gd name="adj" fmla="val 50000"/>
            </a:avLst>
          </a:prstGeom>
          <a:solidFill>
            <a:srgbClr val="FFFFFF"/>
          </a:solidFill>
          <a:ln w="12700">
            <a:solidFill>
              <a:srgbClr val="FFFFFF"/>
            </a:solidFill>
            <a:prstDash val="solid"/>
          </a:ln>
        </p:spPr>
      </p:sp>
      <p:pic>
        <p:nvPicPr>
          <p:cNvPr id="9" name="Image 0" descr="preencoded.png">
            <a:hlinkClick r:id="rId3" tooltip="https://linkedin.com/in/shaileshpawar-cse"/>
          </p:cNvPr>
          <p:cNvPicPr>
            <a:picLocks noChangeAspect="1"/>
          </p:cNvPicPr>
          <p:nvPr/>
        </p:nvPicPr>
        <p:blipFill>
          <a:blip r:embed="rId4"/>
          <a:stretch>
            <a:fillRect/>
          </a:stretch>
        </p:blipFill>
        <p:spPr>
          <a:xfrm>
            <a:off x="886968" y="4663440"/>
            <a:ext cx="274320" cy="274320"/>
          </a:xfrm>
          <a:prstGeom prst="rect">
            <a:avLst/>
          </a:prstGeom>
        </p:spPr>
      </p:pic>
      <p:sp>
        <p:nvSpPr>
          <p:cNvPr id="10" name="Text 7">
            <a:hlinkClick r:id="rId3" tooltip="https://linkedin.com/in/shaileshpawar-cse"/>
          </p:cNvPr>
          <p:cNvSpPr txBox="1"/>
          <p:nvPr/>
        </p:nvSpPr>
        <p:spPr>
          <a:xfrm>
            <a:off x="1261872" y="4572000"/>
            <a:ext cx="1234440" cy="457200"/>
          </a:xfrm>
          <a:prstGeom prst="rect">
            <a:avLst/>
          </a:prstGeom>
          <a:noFill/>
          <a:ln/>
        </p:spPr>
        <p:txBody>
          <a:bodyPr wrap="square" lIns="0" tIns="0" rIns="0" bIns="0" rtlCol="0" anchor="ctr"/>
          <a:lstStyle/>
          <a:p>
            <a:pPr marL="0" indent="0" algn="l">
              <a:buNone/>
            </a:pPr>
            <a:r>
              <a:rPr lang="en-US" sz="1400" b="1" u="sng" dirty="0">
                <a:solidFill>
                  <a:srgbClr val="0B1B33"/>
                </a:solidFill>
                <a:latin typeface="Calibri" pitchFamily="34" charset="0"/>
                <a:ea typeface="Calibri" pitchFamily="34" charset="-122"/>
                <a:cs typeface="Calibri" pitchFamily="34" charset="-120"/>
                <a:hlinkClick r:id="rId3" tooltip="https://linkedin.com/in/shaileshpawar-cse">
                  <a:extLst>
                    <a:ext uri="{A12FA001-AC4F-418D-AE19-62706E023703}">
                      <ahyp:hlinkClr xmlns:ahyp="http://schemas.microsoft.com/office/drawing/2018/hyperlinkcolor" xmlns="" val="tx"/>
                    </a:ext>
                  </a:extLst>
                </a:hlinkClick>
              </a:rPr>
              <a:t>LinkedIn</a:t>
            </a:r>
            <a:endParaRPr lang="en-US" sz="1400" dirty="0"/>
          </a:p>
        </p:txBody>
      </p:sp>
      <p:sp>
        <p:nvSpPr>
          <p:cNvPr id="11" name="Shape 8"/>
          <p:cNvSpPr/>
          <p:nvPr/>
        </p:nvSpPr>
        <p:spPr>
          <a:xfrm>
            <a:off x="2697480" y="4572000"/>
            <a:ext cx="1828800" cy="457200"/>
          </a:xfrm>
          <a:prstGeom prst="roundRect">
            <a:avLst>
              <a:gd name="adj" fmla="val 50000"/>
            </a:avLst>
          </a:prstGeom>
          <a:solidFill>
            <a:srgbClr val="FFFFFF"/>
          </a:solidFill>
          <a:ln w="12700">
            <a:solidFill>
              <a:srgbClr val="FFFFFF"/>
            </a:solidFill>
            <a:prstDash val="solid"/>
          </a:ln>
        </p:spPr>
      </p:sp>
      <p:pic>
        <p:nvPicPr>
          <p:cNvPr id="12" name="Image 1" descr="preencoded.png">
            <a:hlinkClick r:id="rId5" tooltip="https://github.com/Shailesh-Pawar-18"/>
          </p:cNvPr>
          <p:cNvPicPr>
            <a:picLocks noChangeAspect="1"/>
          </p:cNvPicPr>
          <p:nvPr/>
        </p:nvPicPr>
        <p:blipFill>
          <a:blip r:embed="rId6"/>
          <a:stretch>
            <a:fillRect/>
          </a:stretch>
        </p:blipFill>
        <p:spPr>
          <a:xfrm>
            <a:off x="2852928" y="4663440"/>
            <a:ext cx="274320" cy="274320"/>
          </a:xfrm>
          <a:prstGeom prst="rect">
            <a:avLst/>
          </a:prstGeom>
        </p:spPr>
      </p:pic>
      <p:sp>
        <p:nvSpPr>
          <p:cNvPr id="13" name="Text 9">
            <a:hlinkClick r:id="rId5" tooltip="https://github.com/Shailesh-Pawar-18"/>
          </p:cNvPr>
          <p:cNvSpPr txBox="1"/>
          <p:nvPr/>
        </p:nvSpPr>
        <p:spPr>
          <a:xfrm>
            <a:off x="3227832" y="4572000"/>
            <a:ext cx="1234440" cy="457200"/>
          </a:xfrm>
          <a:prstGeom prst="rect">
            <a:avLst/>
          </a:prstGeom>
          <a:noFill/>
          <a:ln/>
        </p:spPr>
        <p:txBody>
          <a:bodyPr wrap="square" lIns="0" tIns="0" rIns="0" bIns="0" rtlCol="0" anchor="ctr"/>
          <a:lstStyle/>
          <a:p>
            <a:pPr marL="0" indent="0" algn="l">
              <a:buNone/>
            </a:pPr>
            <a:r>
              <a:rPr lang="en-US" sz="1400" b="1" u="sng" dirty="0">
                <a:solidFill>
                  <a:srgbClr val="0B1B33"/>
                </a:solidFill>
                <a:latin typeface="Calibri" pitchFamily="34" charset="0"/>
                <a:ea typeface="Calibri" pitchFamily="34" charset="-122"/>
                <a:cs typeface="Calibri" pitchFamily="34" charset="-120"/>
                <a:hlinkClick r:id="rId5" tooltip="https://github.com/Shailesh-Pawar-18">
                  <a:extLst>
                    <a:ext uri="{A12FA001-AC4F-418D-AE19-62706E023703}">
                      <ahyp:hlinkClr xmlns:ahyp="http://schemas.microsoft.com/office/drawing/2018/hyperlinkcolor" xmlns="" val="tx"/>
                    </a:ext>
                  </a:extLst>
                </a:hlinkClick>
              </a:rPr>
              <a:t>GitHub</a:t>
            </a:r>
            <a:endParaRPr lang="en-US" sz="1400" dirty="0"/>
          </a:p>
        </p:txBody>
      </p:sp>
      <p:sp>
        <p:nvSpPr>
          <p:cNvPr id="14" name="Shape 10"/>
          <p:cNvSpPr/>
          <p:nvPr/>
        </p:nvSpPr>
        <p:spPr>
          <a:xfrm>
            <a:off x="4663440" y="4572000"/>
            <a:ext cx="2194560" cy="457200"/>
          </a:xfrm>
          <a:prstGeom prst="roundRect">
            <a:avLst>
              <a:gd name="adj" fmla="val 50000"/>
            </a:avLst>
          </a:prstGeom>
          <a:solidFill>
            <a:srgbClr val="F59E0B"/>
          </a:solidFill>
          <a:ln w="12700">
            <a:solidFill>
              <a:srgbClr val="F59E0B"/>
            </a:solidFill>
            <a:prstDash val="solid"/>
          </a:ln>
        </p:spPr>
      </p:sp>
      <p:pic>
        <p:nvPicPr>
          <p:cNvPr id="15" name="Image 2" descr="preencoded.png">
            <a:hlinkClick r:id="rId7" tooltip="https://github.com/Shailesh-Pawar-18/Telecom-Customer-Churn-Analysis"/>
          </p:cNvPr>
          <p:cNvPicPr>
            <a:picLocks noChangeAspect="1"/>
          </p:cNvPicPr>
          <p:nvPr/>
        </p:nvPicPr>
        <p:blipFill>
          <a:blip r:embed="rId6"/>
          <a:stretch>
            <a:fillRect/>
          </a:stretch>
        </p:blipFill>
        <p:spPr>
          <a:xfrm>
            <a:off x="4818888" y="4663440"/>
            <a:ext cx="274320" cy="274320"/>
          </a:xfrm>
          <a:prstGeom prst="rect">
            <a:avLst/>
          </a:prstGeom>
        </p:spPr>
      </p:pic>
      <p:sp>
        <p:nvSpPr>
          <p:cNvPr id="16" name="Text 11">
            <a:hlinkClick r:id="rId7" tooltip="https://github.com/Shailesh-Pawar-18/Telecom-Customer-Churn-Analysis"/>
          </p:cNvPr>
          <p:cNvSpPr txBox="1"/>
          <p:nvPr/>
        </p:nvSpPr>
        <p:spPr>
          <a:xfrm>
            <a:off x="5193792" y="4572000"/>
            <a:ext cx="1600200" cy="457200"/>
          </a:xfrm>
          <a:prstGeom prst="rect">
            <a:avLst/>
          </a:prstGeom>
          <a:noFill/>
          <a:ln/>
        </p:spPr>
        <p:txBody>
          <a:bodyPr wrap="square" lIns="0" tIns="0" rIns="0" bIns="0" rtlCol="0" anchor="ctr"/>
          <a:lstStyle/>
          <a:p>
            <a:pPr marL="0" indent="0" algn="l">
              <a:buNone/>
            </a:pPr>
            <a:r>
              <a:rPr lang="en-US" sz="1400" b="1" u="sng" dirty="0">
                <a:solidFill>
                  <a:srgbClr val="0B1B33"/>
                </a:solidFill>
                <a:latin typeface="Calibri" pitchFamily="34" charset="0"/>
                <a:ea typeface="Calibri" pitchFamily="34" charset="-122"/>
                <a:cs typeface="Calibri" pitchFamily="34" charset="-120"/>
                <a:hlinkClick r:id="rId7" tooltip="https://github.com/Shailesh-Pawar-18/Telecom-Customer-Churn-Analysis">
                  <a:extLst>
                    <a:ext uri="{A12FA001-AC4F-418D-AE19-62706E023703}">
                      <ahyp:hlinkClr xmlns:ahyp="http://schemas.microsoft.com/office/drawing/2018/hyperlinkcolor" xmlns="" val="tx"/>
                    </a:ext>
                  </a:extLst>
                </a:hlinkClick>
              </a:rPr>
              <a:t>Project Repo</a:t>
            </a:r>
            <a:endParaRPr lang="en-US" sz="1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1174</TotalTime>
  <Words>2308</Words>
  <Application>Microsoft Office PowerPoint</Application>
  <PresentationFormat>Widescreen</PresentationFormat>
  <Paragraphs>509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Telecom Customer Churn - SQL Project</dc:title>
  <dc:subject>PptxGenJS Presentation</dc:subject>
  <dc:creator>Shailesh Pawar</dc:creator>
  <cp:lastModifiedBy>Microsoft account</cp:lastModifiedBy>
  <cp:revision>3</cp:revision>
  <dcterms:created xsi:type="dcterms:W3CDTF">2026-10-11T16:14:06Z</dcterms:created>
  <dcterms:modified xsi:type="dcterms:W3CDTF">2026-10-13T05:29:20Z</dcterms:modified>
</cp:coreProperties>
</file>